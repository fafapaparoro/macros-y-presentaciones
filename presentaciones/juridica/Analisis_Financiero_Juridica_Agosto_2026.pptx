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4c935de0-6842-b710-408e-a8a6e9b8638e}">
          <p14:sldIdLst>
            <p14:sldId id="256"/>
            <p14:sldId id="257"/>
          </p14:sldIdLst>
        </p14:section>
        <p14:section name="1. Resumen ejecutivo" id="{10e38c37-da0b-8c0a-9a63-f6ea0bb0d2c7}">
          <p14:sldIdLst>
            <p14:sldId id="258"/>
          </p14:sldIdLst>
        </p14:section>
        <p14:section name="2. Estado de resultados" id="{9ce27edf-75a2-b8d2-a094-f7e74d400283}">
          <p14:sldIdLst>
            <p14:sldId id="259"/>
            <p14:sldId id="260"/>
            <p14:sldId id="261"/>
            <p14:sldId id="262"/>
            <p14:sldId id="263"/>
          </p14:sldIdLst>
        </p14:section>
        <p14:section name="3. Ingresos y gastos" id="{ec24b380-13ba-fb02-ded8-8c487600bb52}">
          <p14:sldIdLst>
            <p14:sldId id="264"/>
            <p14:sldId id="265"/>
            <p14:sldId id="266"/>
          </p14:sldIdLst>
        </p14:section>
        <p14:section name="4. Análisis de causas" id="{b8a5a307-6f96-9b4f-9c99-970b330962ab}">
          <p14:sldIdLst>
            <p14:sldId id="267"/>
          </p14:sldIdLst>
        </p14:section>
        <p14:section name="5. Situación financiera" id="{034e84f6-88d2-4692-4d8b-b0d74467a322}">
          <p14:sldIdLst>
            <p14:sldId id="268"/>
            <p14:sldId id="269"/>
            <p14:sldId id="270"/>
          </p14:sldIdLst>
        </p14:section>
        <p14:section name="6. Conclusiones" id="{50278fd8-c818-b80a-0910-921e35922bef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11E6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11E66"/>
                </a:solidFill>
                <a:latin typeface="+mn-lt"/>
              </a:rPr>
              <a:t>Julio vs agosto, en millones de pesos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Agosto 2026</c:v>
                </c:pt>
              </c:strCache>
            </c:strRef>
          </c:tx>
          <c:spPr>
            <a:solidFill>
              <a:srgbClr val="011E66"/>
            </a:solidFill>
            <a:effectLst/>
          </c:spPr>
          <c:invertIfNegative val="0"/>
          <c:dLbls>
            <c:numFmt formatCode="&quot;$&quot;#,##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A22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Ingresos netos</c:v>
                  </c:pt>
                  <c:pt idx="1">
                    <c:v>Utilidad bruta</c:v>
                  </c:pt>
                  <c:pt idx="2">
                    <c:v>Gastos admon. y ventas</c:v>
                  </c:pt>
                  <c:pt idx="3">
                    <c:v>Utilidad neta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68.6</c:v>
                </c:pt>
                <c:pt idx="1">
                  <c:v>45.3</c:v>
                </c:pt>
                <c:pt idx="2">
                  <c:v>40.8</c:v>
                </c:pt>
                <c:pt idx="3">
                  <c:v>6.2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Julio 2026</c:v>
                </c:pt>
              </c:strCache>
            </c:strRef>
          </c:tx>
          <c:spPr>
            <a:solidFill>
              <a:srgbClr val="00AFBC"/>
            </a:solidFill>
            <a:effectLst/>
          </c:spPr>
          <c:invertIfNegative val="0"/>
          <c:dLbls>
            <c:numFmt formatCode="&quot;$&quot;#,##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A22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Ingresos netos</c:v>
                  </c:pt>
                  <c:pt idx="1">
                    <c:v>Utilidad bruta</c:v>
                  </c:pt>
                  <c:pt idx="2">
                    <c:v>Gastos admon. y ventas</c:v>
                  </c:pt>
                  <c:pt idx="3">
                    <c:v>Utilidad neta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75</c:v>
                </c:pt>
                <c:pt idx="1">
                  <c:v>53.7</c:v>
                </c:pt>
                <c:pt idx="2">
                  <c:v>37.7</c:v>
                </c:pt>
                <c:pt idx="3">
                  <c:v>27.2</c:v>
                </c:pt>
              </c:numCache>
            </c:numRef>
          </c:val>
        </c:ser>
        <c:dLbls>
          <c:numFmt formatCode="&quot;$&quot;#,##0.0" sourceLinked="0"/>
          <c:txPr>
            <a:bodyPr/>
            <a:lstStyle/>
            <a:p>
              <a:pPr>
                <a:defRPr b="1" i="0" strike="noStrike" sz="1000" u="none">
                  <a:solidFill>
                    <a:srgbClr val="1A22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6E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5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5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2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11E6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11E66"/>
                </a:solidFill>
                <a:latin typeface="+mn-lt"/>
              </a:rPr>
              <a:t>Utilidad neta julio → agosto, en millones de pesos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delete val="1"/>
          </c:dLbls>
          <c:cat>
            <c:multiLvlStrRef>
              <c:f>Sheet1!$A$2:$A$9</c:f>
              <c:multiLvlStrCache>
                <c:ptCount val="8"/>
                <c:lvl>
                  <c:pt idx="0">
                    <c:v>Utilidad julio</c:v>
                  </c:pt>
                  <c:pt idx="1">
                    <c:v>Ingresos netos</c:v>
                  </c:pt>
                  <c:pt idx="2">
                    <c:v>Costo de operación</c:v>
                  </c:pt>
                  <c:pt idx="3">
                    <c:v>Gastos admon. y ventas</c:v>
                  </c:pt>
                  <c:pt idx="4">
                    <c:v>Ingresos no operacionales</c:v>
                  </c:pt>
                  <c:pt idx="5">
                    <c:v>Gastos no operacionales</c:v>
                  </c:pt>
                  <c:pt idx="6">
                    <c:v>Impuesto SIMPLE</c:v>
                  </c:pt>
                  <c:pt idx="7">
                    <c:v>Utilidad agosto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20.8</c:v>
                </c:pt>
                <c:pt idx="2">
                  <c:v>18.9</c:v>
                </c:pt>
                <c:pt idx="3">
                  <c:v>15.8</c:v>
                </c:pt>
                <c:pt idx="4">
                  <c:v>15.8</c:v>
                </c:pt>
                <c:pt idx="5">
                  <c:v>18.9</c:v>
                </c:pt>
                <c:pt idx="6">
                  <c:v>6.2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Utilidad</c:v>
                </c:pt>
              </c:strCache>
            </c:strRef>
          </c:tx>
          <c:spPr>
            <a:solidFill>
              <a:srgbClr val="011E66"/>
            </a:solidFill>
            <a:effectLst/>
          </c:spPr>
          <c:invertIfNegative val="0"/>
          <c:dLbls>
            <c:numFmt formatCode="&quot;$&quot;#,##0.0&quot; M&quot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Utilidad julio</c:v>
                  </c:pt>
                  <c:pt idx="1">
                    <c:v>Ingresos netos</c:v>
                  </c:pt>
                  <c:pt idx="2">
                    <c:v>Costo de operación</c:v>
                  </c:pt>
                  <c:pt idx="3">
                    <c:v>Gastos admon. y ventas</c:v>
                  </c:pt>
                  <c:pt idx="4">
                    <c:v>Ingresos no operacionales</c:v>
                  </c:pt>
                  <c:pt idx="5">
                    <c:v>Gastos no operacionales</c:v>
                  </c:pt>
                  <c:pt idx="6">
                    <c:v>Impuesto SIMPLE</c:v>
                  </c:pt>
                  <c:pt idx="7">
                    <c:v>Utilidad agosto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27.2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6.2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Aumenta</c:v>
                </c:pt>
              </c:strCache>
            </c:strRef>
          </c:tx>
          <c:spPr>
            <a:solidFill>
              <a:srgbClr val="00AFBC"/>
            </a:solidFill>
            <a:effectLst/>
          </c:spPr>
          <c:invertIfNegative val="0"/>
          <c:dLbls>
            <c:numFmt formatCode="&quot;+$&quot;#,##0.0&quot; M&quot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11E66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Utilidad julio</c:v>
                  </c:pt>
                  <c:pt idx="1">
                    <c:v>Ingresos netos</c:v>
                  </c:pt>
                  <c:pt idx="2">
                    <c:v>Costo de operación</c:v>
                  </c:pt>
                  <c:pt idx="3">
                    <c:v>Gastos admon. y ventas</c:v>
                  </c:pt>
                  <c:pt idx="4">
                    <c:v>Ingresos no operacionales</c:v>
                  </c:pt>
                  <c:pt idx="5">
                    <c:v>Gastos no operacionales</c:v>
                  </c:pt>
                  <c:pt idx="6">
                    <c:v>Impuesto SIMPLE</c:v>
                  </c:pt>
                  <c:pt idx="7">
                    <c:v>Utilidad agosto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3.1</c:v>
                </c:pt>
                <c:pt idx="5">
                  <c:v>10.2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Disminuye</c:v>
                </c:pt>
              </c:strCache>
            </c:strRef>
          </c:tx>
          <c:spPr>
            <a:solidFill>
              <a:srgbClr val="C4453B"/>
            </a:solidFill>
            <a:effectLst/>
          </c:spPr>
          <c:invertIfNegative val="0"/>
          <c:dLbls>
            <c:numFmt formatCode="&quot;−$&quot;#,##0.0&quot; M&quot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Utilidad julio</c:v>
                  </c:pt>
                  <c:pt idx="1">
                    <c:v>Ingresos netos</c:v>
                  </c:pt>
                  <c:pt idx="2">
                    <c:v>Costo de operación</c:v>
                  </c:pt>
                  <c:pt idx="3">
                    <c:v>Gastos admon. y ventas</c:v>
                  </c:pt>
                  <c:pt idx="4">
                    <c:v>Ingresos no operacionales</c:v>
                  </c:pt>
                  <c:pt idx="5">
                    <c:v>Gastos no operacionales</c:v>
                  </c:pt>
                  <c:pt idx="6">
                    <c:v>Impuesto SIMPLE</c:v>
                  </c:pt>
                  <c:pt idx="7">
                    <c:v>Utilidad agosto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</c:v>
                </c:pt>
                <c:pt idx="1">
                  <c:v>6.4</c:v>
                </c:pt>
                <c:pt idx="2">
                  <c:v>2</c:v>
                </c:pt>
                <c:pt idx="3">
                  <c:v>3.1</c:v>
                </c:pt>
                <c:pt idx="4">
                  <c:v>0</c:v>
                </c:pt>
                <c:pt idx="5">
                  <c:v>0</c:v>
                </c:pt>
                <c:pt idx="6">
                  <c:v>22.9</c:v>
                </c:pt>
                <c:pt idx="7">
                  <c:v>0</c:v>
                </c:pt>
              </c:numCache>
            </c:numRef>
          </c:val>
        </c:ser>
        <c:dLbls>
          <c:numFmt formatCode="&quot;$&quot;#,##0.0;;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6E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5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5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11E6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11E66"/>
                </a:solidFill>
                <a:latin typeface="+mn-lt"/>
              </a:rPr>
              <a:t>Ingresos y utilidad neta mensual (millones de pesos)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Ingresos netos</c:v>
                </c:pt>
              </c:strCache>
            </c:strRef>
          </c:tx>
          <c:spPr>
            <a:solidFill>
              <a:srgbClr val="011E66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A22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63.2</c:v>
                </c:pt>
                <c:pt idx="1">
                  <c:v>70.9</c:v>
                </c:pt>
                <c:pt idx="2">
                  <c:v>74.4</c:v>
                </c:pt>
                <c:pt idx="3">
                  <c:v>73.5</c:v>
                </c:pt>
                <c:pt idx="4">
                  <c:v>91.1</c:v>
                </c:pt>
                <c:pt idx="5">
                  <c:v>102.2</c:v>
                </c:pt>
                <c:pt idx="6">
                  <c:v>75</c:v>
                </c:pt>
                <c:pt idx="7">
                  <c:v>68.6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Utilidad neta</c:v>
                </c:pt>
              </c:strCache>
            </c:strRef>
          </c:tx>
          <c:spPr>
            <a:solidFill>
              <a:srgbClr val="00AFBC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A22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14.4</c:v>
                </c:pt>
                <c:pt idx="1">
                  <c:v>1.7</c:v>
                </c:pt>
                <c:pt idx="2">
                  <c:v>34.4</c:v>
                </c:pt>
                <c:pt idx="3">
                  <c:v>18.4</c:v>
                </c:pt>
                <c:pt idx="4">
                  <c:v>70.6</c:v>
                </c:pt>
                <c:pt idx="5">
                  <c:v>24.5</c:v>
                </c:pt>
                <c:pt idx="6">
                  <c:v>27.2</c:v>
                </c:pt>
                <c:pt idx="7">
                  <c:v>6.2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1" i="0" strike="noStrike" sz="900" u="none">
                  <a:solidFill>
                    <a:srgbClr val="1A22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6E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5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6ECF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5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2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11E6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11E66"/>
                </a:solidFill>
                <a:latin typeface="+mn-lt"/>
              </a:rPr>
              <a:t>% sobre ingresos netos · enero a agosto 2026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Margen bruto</c:v>
                </c:pt>
              </c:strCache>
            </c:strRef>
          </c:tx>
          <c:spPr>
            <a:solidFill>
              <a:srgbClr val="011E66"/>
            </a:solidFill>
            <a:ln w="31750" cap="flat">
              <a:solidFill>
                <a:srgbClr val="011E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11E66"/>
              </a:solidFill>
              <a:ln w="9525" cap="flat">
                <a:solidFill>
                  <a:srgbClr val="011E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69.2</c:v>
                </c:pt>
                <c:pt idx="1">
                  <c:v>72.8</c:v>
                </c:pt>
                <c:pt idx="2">
                  <c:v>73.6</c:v>
                </c:pt>
                <c:pt idx="3">
                  <c:v>72.4</c:v>
                </c:pt>
                <c:pt idx="4">
                  <c:v>75.7</c:v>
                </c:pt>
                <c:pt idx="5">
                  <c:v>82.2</c:v>
                </c:pt>
                <c:pt idx="6">
                  <c:v>71.5</c:v>
                </c:pt>
                <c:pt idx="7">
                  <c:v>66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Margen operacional</c:v>
                </c:pt>
              </c:strCache>
            </c:strRef>
          </c:tx>
          <c:spPr>
            <a:solidFill>
              <a:srgbClr val="00AFBC"/>
            </a:solidFill>
            <a:ln w="31750" cap="flat">
              <a:solidFill>
                <a:srgbClr val="00AFB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0AFBC"/>
              </a:solidFill>
              <a:ln w="9525" cap="flat">
                <a:solidFill>
                  <a:srgbClr val="00AFB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23.9</c:v>
                </c:pt>
                <c:pt idx="1">
                  <c:v>21.7</c:v>
                </c:pt>
                <c:pt idx="2">
                  <c:v>47.1</c:v>
                </c:pt>
                <c:pt idx="3">
                  <c:v>-0.4</c:v>
                </c:pt>
                <c:pt idx="4">
                  <c:v>49.4</c:v>
                </c:pt>
                <c:pt idx="5">
                  <c:v>-13.7</c:v>
                </c:pt>
                <c:pt idx="6">
                  <c:v>21.3</c:v>
                </c:pt>
                <c:pt idx="7">
                  <c:v>6.6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Margen neto</c:v>
                </c:pt>
              </c:strCache>
            </c:strRef>
          </c:tx>
          <c:spPr>
            <a:solidFill>
              <a:srgbClr val="E8A13D"/>
            </a:solidFill>
            <a:ln w="31750" cap="flat">
              <a:solidFill>
                <a:srgbClr val="E8A1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8A13D"/>
              </a:solidFill>
              <a:ln w="9525" cap="flat">
                <a:solidFill>
                  <a:srgbClr val="E8A1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22.7</c:v>
                </c:pt>
                <c:pt idx="1">
                  <c:v>2.3</c:v>
                </c:pt>
                <c:pt idx="2">
                  <c:v>46.2</c:v>
                </c:pt>
                <c:pt idx="3">
                  <c:v>25.1</c:v>
                </c:pt>
                <c:pt idx="4">
                  <c:v>77.5</c:v>
                </c:pt>
                <c:pt idx="5">
                  <c:v>24</c:v>
                </c:pt>
                <c:pt idx="6">
                  <c:v>36.3</c:v>
                </c:pt>
                <c:pt idx="7">
                  <c:v>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6E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5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-20"/>
        </c:scaling>
        <c:delete val="0"/>
        <c:axPos val="l"/>
        <c:majorGridlines>
          <c:spPr>
            <a:ln w="9525" cap="flat">
              <a:solidFill>
                <a:srgbClr val="E6EC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5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2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11E6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11E66"/>
                </a:solidFill>
                <a:latin typeface="+mn-lt"/>
              </a:rPr>
              <a:t>Julio vs agosto, en millones de pesos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Agosto 2026</c:v>
                </c:pt>
              </c:strCache>
            </c:strRef>
          </c:tx>
          <c:spPr>
            <a:solidFill>
              <a:srgbClr val="011E66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A22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Gastos Unión Temporal</c:v>
                  </c:pt>
                  <c:pt idx="1">
                    <c:v>Gastos de personal</c:v>
                  </c:pt>
                  <c:pt idx="2">
                    <c:v>Honorarios</c:v>
                  </c:pt>
                  <c:pt idx="3">
                    <c:v>Contribuciones y afiliaciones</c:v>
                  </c:pt>
                  <c:pt idx="4">
                    <c:v>Otros gastos diversos</c:v>
                  </c:pt>
                  <c:pt idx="5">
                    <c:v>Depreciaciones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16.8</c:v>
                </c:pt>
                <c:pt idx="1">
                  <c:v>5.8</c:v>
                </c:pt>
                <c:pt idx="2">
                  <c:v>3.3</c:v>
                </c:pt>
                <c:pt idx="3">
                  <c:v>2.6</c:v>
                </c:pt>
                <c:pt idx="4">
                  <c:v>2.5</c:v>
                </c:pt>
                <c:pt idx="5">
                  <c:v>2.2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Julio 2026</c:v>
                </c:pt>
              </c:strCache>
            </c:strRef>
          </c:tx>
          <c:spPr>
            <a:solidFill>
              <a:srgbClr val="00AFBC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A22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Gastos Unión Temporal</c:v>
                  </c:pt>
                  <c:pt idx="1">
                    <c:v>Gastos de personal</c:v>
                  </c:pt>
                  <c:pt idx="2">
                    <c:v>Honorarios</c:v>
                  </c:pt>
                  <c:pt idx="3">
                    <c:v>Contribuciones y afiliaciones</c:v>
                  </c:pt>
                  <c:pt idx="4">
                    <c:v>Otros gastos diversos</c:v>
                  </c:pt>
                  <c:pt idx="5">
                    <c:v>Depreciaciones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13.3</c:v>
                </c:pt>
                <c:pt idx="1">
                  <c:v>8.5</c:v>
                </c:pt>
                <c:pt idx="2">
                  <c:v>3.3</c:v>
                </c:pt>
                <c:pt idx="3">
                  <c:v>2.6</c:v>
                </c:pt>
                <c:pt idx="4">
                  <c:v>0.6</c:v>
                </c:pt>
                <c:pt idx="5">
                  <c:v>2.2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1" i="0" strike="noStrike" sz="1000" u="none">
                  <a:solidFill>
                    <a:srgbClr val="1A22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DE6E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5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5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2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11E66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11E66"/>
                </a:solidFill>
                <a:latin typeface="+mn-lt"/>
              </a:rPr>
              <a:t>En qué está invertido el activo · agosto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 qué está invertido el activo · agosto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11E66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00AFBC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Activo corriente</c:v>
                </c:pt>
                <c:pt idx="1">
                  <c:v>Activo no corriente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1075</c:v>
                </c:pt>
                <c:pt idx="1">
                  <c:v>939.1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A22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11E66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11E66"/>
                </a:solidFill>
                <a:latin typeface="+mn-lt"/>
              </a:rPr>
              <a:t>Con qué se financia la compañía · agosto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 qué se financia la compañía · agosto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A13D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50C1E4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00AFBC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Pasivo corriente</c:v>
                </c:pt>
                <c:pt idx="1">
                  <c:v>Pasivo no corriente</c:v>
                </c:pt>
                <c:pt idx="2">
                  <c:v>Patrimonio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188.9</c:v>
                </c:pt>
                <c:pt idx="1">
                  <c:v>6</c:v>
                </c:pt>
                <c:pt idx="2">
                  <c:v>1819.3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A22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11E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CROS-Y-PRESENTACIONES/assets/acontis/fondo_oficina.jp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MACROS-Y-PRESENTACIONES/assets/acontis/logo_acontis_fondo_oscu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5669280"/>
            <a:ext cx="2487168" cy="85953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">
    <p:bg>
      <p:bgPr>
        <a:solidFill>
          <a:srgbClr val="011E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CROS-Y-PRESENTACIONES/assets/acontis/fondo_oficina.jp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MACROS-Y-PRESENTACIONES/assets/acontis/logo_acontis_fondo_oscu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5669280"/>
            <a:ext cx="2487168" cy="859536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1463040"/>
            <a:ext cx="2743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8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22960" y="2697480"/>
            <a:ext cx="91440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6" name="Text 0"/>
          <p:cNvSpPr/>
          <p:nvPr>
            <p:ph idx="104" type="title" hasCustomPrompt="1"/>
          </p:nvPr>
        </p:nvSpPr>
        <p:spPr>
          <a:xfrm>
            <a:off x="822960" y="3246120"/>
            <a:ext cx="100584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2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822960" y="4206240"/>
            <a:ext cx="91440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b="1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44652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32688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pic>
        <p:nvPicPr>
          <p:cNvPr id="4" name="Image 0" descr="/home/user/MACROS-Y-PRESENTACIONES/assets/acontis/logo_acontis_fondo_cla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272784"/>
            <a:ext cx="1188720" cy="4114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9966960" y="64282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2"/>
                </a:solidFill>
              </a:rPr>
              <a:t>Página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44652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 1"/>
          <p:cNvSpPr txBox="1"/>
          <p:nvPr/>
        </p:nvSpPr>
        <p:spPr>
          <a:xfrm>
            <a:off x="822960" y="1143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Análisis</a:t>
            </a:r>
            <a:endParaRPr lang="en-US" sz="8000" dirty="0"/>
          </a:p>
        </p:txBody>
      </p:sp>
      <p:sp>
        <p:nvSpPr>
          <p:cNvPr id="3" name="Título 2 2"/>
          <p:cNvSpPr txBox="1"/>
          <p:nvPr/>
        </p:nvSpPr>
        <p:spPr>
          <a:xfrm>
            <a:off x="822960" y="20574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7DD1EB"/>
                </a:solidFill>
              </a:rPr>
              <a:t>Financiero</a:t>
            </a:r>
            <a:endParaRPr lang="en-US" sz="8000" dirty="0"/>
          </a:p>
        </p:txBody>
      </p:sp>
      <p:sp>
        <p:nvSpPr>
          <p:cNvPr id="4" name="Empresa 3"/>
          <p:cNvSpPr txBox="1"/>
          <p:nvPr/>
        </p:nvSpPr>
        <p:spPr>
          <a:xfrm>
            <a:off x="82296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Juridica Abogados y Consultores S.A.S.</a:t>
            </a:r>
            <a:endParaRPr lang="en-US" sz="3200" dirty="0"/>
          </a:p>
        </p:txBody>
      </p:sp>
      <p:sp>
        <p:nvSpPr>
          <p:cNvPr id="5" name="NIT 4"/>
          <p:cNvSpPr txBox="1"/>
          <p:nvPr/>
        </p:nvSpPr>
        <p:spPr>
          <a:xfrm>
            <a:off x="822960" y="38221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DD1EB"/>
                </a:solidFill>
              </a:rPr>
              <a:t>NIT 900.944.440-3  -  Cifras en pesos colombianos</a:t>
            </a:r>
            <a:endParaRPr lang="en-US" sz="1800" dirty="0"/>
          </a:p>
        </p:txBody>
      </p:sp>
      <p:sp>
        <p:nvSpPr>
          <p:cNvPr id="6" name="Corte 5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bg1"/>
                </a:solidFill>
              </a:rPr>
              <a:t>Corte a 31 de agosto de 2026 · Comparativo mensual julio – agosto 2026</a:t>
            </a:r>
            <a:endParaRPr lang="en-US" sz="2800" dirty="0"/>
          </a:p>
        </p:txBody>
      </p:sp>
      <p:sp>
        <p:nvSpPr>
          <p:cNvPr id="7" name="Preparado por 6"/>
          <p:cNvSpPr txBox="1"/>
          <p:nvPr/>
        </p:nvSpPr>
        <p:spPr>
          <a:xfrm>
            <a:off x="822960" y="5989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1EB"/>
                </a:solidFill>
              </a:rPr>
              <a:t>Preparado por Asesorías Contables del Caribe S.A.S. (ACONTIS)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ÍNDICE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CONTENIDO</a:t>
            </a:r>
            <a:endParaRPr lang="en-US" sz="3000" dirty="0"/>
          </a:p>
        </p:txBody>
      </p:sp>
      <p:sp>
        <p:nvSpPr>
          <p:cNvPr id="4" name="Corte 7"/>
          <p:cNvSpPr/>
          <p:nvPr/>
        </p:nvSpPr>
        <p:spPr>
          <a:xfrm>
            <a:off x="9921240" y="411480"/>
            <a:ext cx="17099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Corte: agosto 2026</a:t>
            </a:r>
            <a:endParaRPr lang="en-US" sz="1200" dirty="0"/>
          </a:p>
        </p:txBody>
      </p:sp>
      <p:sp>
        <p:nvSpPr>
          <p:cNvPr id="5" name="Índice 1 8"/>
          <p:cNvSpPr/>
          <p:nvPr/>
        </p:nvSpPr>
        <p:spPr>
          <a:xfrm>
            <a:off x="548640" y="1463040"/>
            <a:ext cx="5449824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6" name="Número 9"/>
          <p:cNvSpPr/>
          <p:nvPr/>
        </p:nvSpPr>
        <p:spPr>
          <a:xfrm>
            <a:off x="822960" y="1819656"/>
            <a:ext cx="566928" cy="56692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Índice título 10"/>
          <p:cNvSpPr txBox="1"/>
          <p:nvPr/>
        </p:nvSpPr>
        <p:spPr>
          <a:xfrm>
            <a:off x="1600200" y="1737360"/>
            <a:ext cx="4215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Resumen ejecutivo</a:t>
            </a:r>
            <a:endParaRPr lang="en-US" sz="2400" dirty="0"/>
          </a:p>
        </p:txBody>
      </p:sp>
      <p:sp>
        <p:nvSpPr>
          <p:cNvPr id="8" name="Índice detalle 11"/>
          <p:cNvSpPr txBox="1"/>
          <p:nvPr/>
        </p:nvSpPr>
        <p:spPr>
          <a:xfrm>
            <a:off x="1600200" y="2176272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2"/>
                </a:solidFill>
              </a:rPr>
              <a:t>Cifras clave y la historia del mes</a:t>
            </a:r>
            <a:endParaRPr lang="en-US" sz="1400" dirty="0"/>
          </a:p>
        </p:txBody>
      </p:sp>
      <p:sp>
        <p:nvSpPr>
          <p:cNvPr id="9" name="Índice 2 12"/>
          <p:cNvSpPr/>
          <p:nvPr/>
        </p:nvSpPr>
        <p:spPr>
          <a:xfrm>
            <a:off x="6190488" y="1463040"/>
            <a:ext cx="5449824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0" name="Número 13"/>
          <p:cNvSpPr/>
          <p:nvPr/>
        </p:nvSpPr>
        <p:spPr>
          <a:xfrm>
            <a:off x="6464808" y="1819656"/>
            <a:ext cx="566928" cy="56692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Índice título 14"/>
          <p:cNvSpPr txBox="1"/>
          <p:nvPr/>
        </p:nvSpPr>
        <p:spPr>
          <a:xfrm>
            <a:off x="7242048" y="1737360"/>
            <a:ext cx="4215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Estado de resultados</a:t>
            </a:r>
            <a:endParaRPr lang="en-US" sz="2400" dirty="0"/>
          </a:p>
        </p:txBody>
      </p:sp>
      <p:sp>
        <p:nvSpPr>
          <p:cNvPr id="12" name="Índice detalle 15"/>
          <p:cNvSpPr txBox="1"/>
          <p:nvPr/>
        </p:nvSpPr>
        <p:spPr>
          <a:xfrm>
            <a:off x="7242048" y="2176272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2"/>
                </a:solidFill>
              </a:rPr>
              <a:t>Cuadro de mando, puente de utilidad y márgenes</a:t>
            </a:r>
            <a:endParaRPr lang="en-US" sz="1400" dirty="0"/>
          </a:p>
        </p:txBody>
      </p:sp>
      <p:sp>
        <p:nvSpPr>
          <p:cNvPr id="13" name="Índice 3 16"/>
          <p:cNvSpPr/>
          <p:nvPr/>
        </p:nvSpPr>
        <p:spPr>
          <a:xfrm>
            <a:off x="548640" y="3017520"/>
            <a:ext cx="5449824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4" name="Número 17"/>
          <p:cNvSpPr/>
          <p:nvPr/>
        </p:nvSpPr>
        <p:spPr>
          <a:xfrm>
            <a:off x="822960" y="3374136"/>
            <a:ext cx="566928" cy="56692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Índice título 18"/>
          <p:cNvSpPr txBox="1"/>
          <p:nvPr/>
        </p:nvSpPr>
        <p:spPr>
          <a:xfrm>
            <a:off x="1600200" y="3291840"/>
            <a:ext cx="4215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Ingresos y gastos</a:t>
            </a:r>
            <a:endParaRPr lang="en-US" sz="2400" dirty="0"/>
          </a:p>
        </p:txBody>
      </p:sp>
      <p:sp>
        <p:nvSpPr>
          <p:cNvPr id="16" name="Índice detalle 19"/>
          <p:cNvSpPr txBox="1"/>
          <p:nvPr/>
        </p:nvSpPr>
        <p:spPr>
          <a:xfrm>
            <a:off x="1600200" y="3730752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2"/>
                </a:solidFill>
              </a:rPr>
              <a:t>De ingreso bruto a neto y estructura del gasto</a:t>
            </a:r>
            <a:endParaRPr lang="en-US" sz="1400" dirty="0"/>
          </a:p>
        </p:txBody>
      </p:sp>
      <p:sp>
        <p:nvSpPr>
          <p:cNvPr id="17" name="Índice 4 20"/>
          <p:cNvSpPr/>
          <p:nvPr/>
        </p:nvSpPr>
        <p:spPr>
          <a:xfrm>
            <a:off x="6190488" y="3017520"/>
            <a:ext cx="5449824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8" name="Número 21"/>
          <p:cNvSpPr/>
          <p:nvPr/>
        </p:nvSpPr>
        <p:spPr>
          <a:xfrm>
            <a:off x="6464808" y="3374136"/>
            <a:ext cx="566928" cy="56692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9" name="Índice título 22"/>
          <p:cNvSpPr txBox="1"/>
          <p:nvPr/>
        </p:nvSpPr>
        <p:spPr>
          <a:xfrm>
            <a:off x="7242048" y="3291840"/>
            <a:ext cx="4215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Análisis de causas</a:t>
            </a:r>
            <a:endParaRPr lang="en-US" sz="2400" dirty="0"/>
          </a:p>
        </p:txBody>
      </p:sp>
      <p:sp>
        <p:nvSpPr>
          <p:cNvPr id="20" name="Índice detalle 23"/>
          <p:cNvSpPr txBox="1"/>
          <p:nvPr/>
        </p:nvSpPr>
        <p:spPr>
          <a:xfrm>
            <a:off x="7242048" y="3730752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2"/>
                </a:solidFill>
              </a:rPr>
              <a:t>Tres factores detrás del resultado de agosto</a:t>
            </a:r>
            <a:endParaRPr lang="en-US" sz="1400" dirty="0"/>
          </a:p>
        </p:txBody>
      </p:sp>
      <p:sp>
        <p:nvSpPr>
          <p:cNvPr id="21" name="Índice 5 24"/>
          <p:cNvSpPr/>
          <p:nvPr/>
        </p:nvSpPr>
        <p:spPr>
          <a:xfrm>
            <a:off x="548640" y="4572000"/>
            <a:ext cx="5449824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2" name="Número 25"/>
          <p:cNvSpPr/>
          <p:nvPr/>
        </p:nvSpPr>
        <p:spPr>
          <a:xfrm>
            <a:off x="822960" y="4928616"/>
            <a:ext cx="566928" cy="56692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23" name="Índice título 26"/>
          <p:cNvSpPr txBox="1"/>
          <p:nvPr/>
        </p:nvSpPr>
        <p:spPr>
          <a:xfrm>
            <a:off x="1600200" y="4846320"/>
            <a:ext cx="4215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Situación financiera</a:t>
            </a:r>
            <a:endParaRPr lang="en-US" sz="2400" dirty="0"/>
          </a:p>
        </p:txBody>
      </p:sp>
      <p:sp>
        <p:nvSpPr>
          <p:cNvPr id="24" name="Índice detalle 27"/>
          <p:cNvSpPr txBox="1"/>
          <p:nvPr/>
        </p:nvSpPr>
        <p:spPr>
          <a:xfrm>
            <a:off x="1600200" y="5285232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2"/>
                </a:solidFill>
              </a:rPr>
              <a:t>Balance comparativo e indicadores clave</a:t>
            </a:r>
            <a:endParaRPr lang="en-US" sz="1400" dirty="0"/>
          </a:p>
        </p:txBody>
      </p:sp>
      <p:sp>
        <p:nvSpPr>
          <p:cNvPr id="25" name="Índice 6 28"/>
          <p:cNvSpPr/>
          <p:nvPr/>
        </p:nvSpPr>
        <p:spPr>
          <a:xfrm>
            <a:off x="6190488" y="4572000"/>
            <a:ext cx="5449824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6" name="Número 29"/>
          <p:cNvSpPr/>
          <p:nvPr/>
        </p:nvSpPr>
        <p:spPr>
          <a:xfrm>
            <a:off x="6464808" y="4928616"/>
            <a:ext cx="566928" cy="56692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6</a:t>
            </a:r>
            <a:endParaRPr lang="en-US" sz="2200" dirty="0"/>
          </a:p>
        </p:txBody>
      </p:sp>
      <p:sp>
        <p:nvSpPr>
          <p:cNvPr id="27" name="Índice título 30"/>
          <p:cNvSpPr txBox="1"/>
          <p:nvPr/>
        </p:nvSpPr>
        <p:spPr>
          <a:xfrm>
            <a:off x="7242048" y="4846320"/>
            <a:ext cx="4215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Conclusiones</a:t>
            </a:r>
            <a:endParaRPr lang="en-US" sz="2400" dirty="0"/>
          </a:p>
        </p:txBody>
      </p:sp>
      <p:sp>
        <p:nvSpPr>
          <p:cNvPr id="28" name="Índice detalle 31"/>
          <p:cNvSpPr txBox="1"/>
          <p:nvPr/>
        </p:nvSpPr>
        <p:spPr>
          <a:xfrm>
            <a:off x="7242048" y="5285232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2"/>
                </a:solidFill>
              </a:rPr>
              <a:t>Hallazgos del mes y prioridades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1 · RESUMEN EJECUTIVO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RESUMEN EJECUTIVO - JULIO VS AGOSTO 2026</a:t>
            </a:r>
            <a:endParaRPr lang="en-US" sz="3000" dirty="0"/>
          </a:p>
        </p:txBody>
      </p:sp>
      <p:sp>
        <p:nvSpPr>
          <p:cNvPr id="4" name="Corte 32"/>
          <p:cNvSpPr/>
          <p:nvPr/>
        </p:nvSpPr>
        <p:spPr>
          <a:xfrm>
            <a:off x="9921240" y="411480"/>
            <a:ext cx="17099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Corte: agosto 2026</a:t>
            </a:r>
            <a:endParaRPr lang="en-US" sz="1200" dirty="0"/>
          </a:p>
        </p:txBody>
      </p:sp>
      <p:sp>
        <p:nvSpPr>
          <p:cNvPr id="5" name="KPI INGRESOS NETOS 33"/>
          <p:cNvSpPr/>
          <p:nvPr/>
        </p:nvSpPr>
        <p:spPr>
          <a:xfrm>
            <a:off x="548640" y="1325880"/>
            <a:ext cx="2633472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6" name="KPI etiqueta 34"/>
          <p:cNvSpPr txBox="1"/>
          <p:nvPr/>
        </p:nvSpPr>
        <p:spPr>
          <a:xfrm>
            <a:off x="777240" y="150876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A6572"/>
                </a:solidFill>
              </a:rPr>
              <a:t>INGRESOS NETOS</a:t>
            </a:r>
            <a:endParaRPr lang="en-US" sz="1300" dirty="0"/>
          </a:p>
        </p:txBody>
      </p:sp>
      <p:sp>
        <p:nvSpPr>
          <p:cNvPr id="7" name="KPI valor 35"/>
          <p:cNvSpPr txBox="1"/>
          <p:nvPr/>
        </p:nvSpPr>
        <p:spPr>
          <a:xfrm>
            <a:off x="777240" y="178308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$68,6 M</a:t>
            </a:r>
            <a:endParaRPr lang="en-US" sz="3200" dirty="0"/>
          </a:p>
        </p:txBody>
      </p:sp>
      <p:sp>
        <p:nvSpPr>
          <p:cNvPr id="8" name="KPI valor completo 36"/>
          <p:cNvSpPr txBox="1"/>
          <p:nvPr/>
        </p:nvSpPr>
        <p:spPr>
          <a:xfrm>
            <a:off x="777240" y="2395728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$68.648.289</a:t>
            </a:r>
            <a:endParaRPr lang="en-US" sz="1200" dirty="0"/>
          </a:p>
        </p:txBody>
      </p:sp>
      <p:sp>
        <p:nvSpPr>
          <p:cNvPr id="9" name="KPI mes anterior 37"/>
          <p:cNvSpPr txBox="1"/>
          <p:nvPr/>
        </p:nvSpPr>
        <p:spPr>
          <a:xfrm>
            <a:off x="777240" y="2660904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Julio: $75.012.054</a:t>
            </a:r>
            <a:endParaRPr lang="en-US" sz="1200" dirty="0"/>
          </a:p>
        </p:txBody>
      </p:sp>
      <p:sp>
        <p:nvSpPr>
          <p:cNvPr id="10" name="KPI variación 38"/>
          <p:cNvSpPr txBox="1"/>
          <p:nvPr/>
        </p:nvSpPr>
        <p:spPr>
          <a:xfrm>
            <a:off x="777240" y="292608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▼ −8,5% vs. julio</a:t>
            </a:r>
            <a:endParaRPr lang="en-US" sz="1200" dirty="0"/>
          </a:p>
        </p:txBody>
      </p:sp>
      <p:sp>
        <p:nvSpPr>
          <p:cNvPr id="11" name="KPI ACTIVO TOTAL 39"/>
          <p:cNvSpPr/>
          <p:nvPr/>
        </p:nvSpPr>
        <p:spPr>
          <a:xfrm>
            <a:off x="3364992" y="1325880"/>
            <a:ext cx="2633472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2" name="KPI etiqueta 40"/>
          <p:cNvSpPr txBox="1"/>
          <p:nvPr/>
        </p:nvSpPr>
        <p:spPr>
          <a:xfrm>
            <a:off x="3593592" y="150876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A6572"/>
                </a:solidFill>
              </a:rPr>
              <a:t>ACTIVO TOTAL</a:t>
            </a:r>
            <a:endParaRPr lang="en-US" sz="1300" dirty="0"/>
          </a:p>
        </p:txBody>
      </p:sp>
      <p:sp>
        <p:nvSpPr>
          <p:cNvPr id="13" name="KPI valor 41"/>
          <p:cNvSpPr txBox="1"/>
          <p:nvPr/>
        </p:nvSpPr>
        <p:spPr>
          <a:xfrm>
            <a:off x="3593592" y="178308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$2.014,1 M</a:t>
            </a:r>
            <a:endParaRPr lang="en-US" sz="3200" dirty="0"/>
          </a:p>
        </p:txBody>
      </p:sp>
      <p:sp>
        <p:nvSpPr>
          <p:cNvPr id="14" name="KPI valor completo 42"/>
          <p:cNvSpPr txBox="1"/>
          <p:nvPr/>
        </p:nvSpPr>
        <p:spPr>
          <a:xfrm>
            <a:off x="3593592" y="2395728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$2.014.089.448</a:t>
            </a:r>
            <a:endParaRPr lang="en-US" sz="1200" dirty="0"/>
          </a:p>
        </p:txBody>
      </p:sp>
      <p:sp>
        <p:nvSpPr>
          <p:cNvPr id="15" name="KPI mes anterior 43"/>
          <p:cNvSpPr txBox="1"/>
          <p:nvPr/>
        </p:nvSpPr>
        <p:spPr>
          <a:xfrm>
            <a:off x="3593592" y="2660904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Julio: $1.973.169.245</a:t>
            </a:r>
            <a:endParaRPr lang="en-US" sz="1200" dirty="0"/>
          </a:p>
        </p:txBody>
      </p:sp>
      <p:sp>
        <p:nvSpPr>
          <p:cNvPr id="16" name="KPI variación 44"/>
          <p:cNvSpPr txBox="1"/>
          <p:nvPr/>
        </p:nvSpPr>
        <p:spPr>
          <a:xfrm>
            <a:off x="3593592" y="292608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▲ +2,1% vs. julio</a:t>
            </a:r>
            <a:endParaRPr lang="en-US" sz="1200" dirty="0"/>
          </a:p>
        </p:txBody>
      </p:sp>
      <p:sp>
        <p:nvSpPr>
          <p:cNvPr id="17" name="KPI PATRIMONIO 45"/>
          <p:cNvSpPr/>
          <p:nvPr/>
        </p:nvSpPr>
        <p:spPr>
          <a:xfrm>
            <a:off x="6181344" y="1325880"/>
            <a:ext cx="2633472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8" name="KPI etiqueta 46"/>
          <p:cNvSpPr txBox="1"/>
          <p:nvPr/>
        </p:nvSpPr>
        <p:spPr>
          <a:xfrm>
            <a:off x="6409944" y="150876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A6572"/>
                </a:solidFill>
              </a:rPr>
              <a:t>PATRIMONIO</a:t>
            </a:r>
            <a:endParaRPr lang="en-US" sz="1300" dirty="0"/>
          </a:p>
        </p:txBody>
      </p:sp>
      <p:sp>
        <p:nvSpPr>
          <p:cNvPr id="19" name="KPI valor 47"/>
          <p:cNvSpPr txBox="1"/>
          <p:nvPr/>
        </p:nvSpPr>
        <p:spPr>
          <a:xfrm>
            <a:off x="6409944" y="178308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$1.819,3 M</a:t>
            </a:r>
            <a:endParaRPr lang="en-US" sz="3200" dirty="0"/>
          </a:p>
        </p:txBody>
      </p:sp>
      <p:sp>
        <p:nvSpPr>
          <p:cNvPr id="20" name="KPI valor completo 48"/>
          <p:cNvSpPr txBox="1"/>
          <p:nvPr/>
        </p:nvSpPr>
        <p:spPr>
          <a:xfrm>
            <a:off x="6409944" y="2395728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$1.819.253.399</a:t>
            </a:r>
            <a:endParaRPr lang="en-US" sz="1200" dirty="0"/>
          </a:p>
        </p:txBody>
      </p:sp>
      <p:sp>
        <p:nvSpPr>
          <p:cNvPr id="21" name="KPI mes anterior 49"/>
          <p:cNvSpPr txBox="1"/>
          <p:nvPr/>
        </p:nvSpPr>
        <p:spPr>
          <a:xfrm>
            <a:off x="6409944" y="2660904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Julio: $1.813.066.565</a:t>
            </a:r>
            <a:endParaRPr lang="en-US" sz="1200" dirty="0"/>
          </a:p>
        </p:txBody>
      </p:sp>
      <p:sp>
        <p:nvSpPr>
          <p:cNvPr id="22" name="KPI variación 50"/>
          <p:cNvSpPr txBox="1"/>
          <p:nvPr/>
        </p:nvSpPr>
        <p:spPr>
          <a:xfrm>
            <a:off x="6409944" y="292608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▲ +0,3% vs. julio</a:t>
            </a:r>
            <a:endParaRPr lang="en-US" sz="1200" dirty="0"/>
          </a:p>
        </p:txBody>
      </p:sp>
      <p:sp>
        <p:nvSpPr>
          <p:cNvPr id="23" name="KPI UTILIDAD NETA 51"/>
          <p:cNvSpPr/>
          <p:nvPr/>
        </p:nvSpPr>
        <p:spPr>
          <a:xfrm>
            <a:off x="8997696" y="1325880"/>
            <a:ext cx="2633472" cy="1965960"/>
          </a:xfrm>
          <a:prstGeom prst="roundRect">
            <a:avLst>
              <a:gd name="adj" fmla="val 558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KPI etiqueta 52"/>
          <p:cNvSpPr txBox="1"/>
          <p:nvPr/>
        </p:nvSpPr>
        <p:spPr>
          <a:xfrm>
            <a:off x="9226296" y="150876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UTILIDAD NETA</a:t>
            </a:r>
            <a:endParaRPr lang="en-US" sz="1300" dirty="0"/>
          </a:p>
        </p:txBody>
      </p:sp>
      <p:sp>
        <p:nvSpPr>
          <p:cNvPr id="25" name="KPI valor 53"/>
          <p:cNvSpPr txBox="1"/>
          <p:nvPr/>
        </p:nvSpPr>
        <p:spPr>
          <a:xfrm>
            <a:off x="9226296" y="178308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$6,2 M</a:t>
            </a:r>
            <a:endParaRPr lang="en-US" sz="3200" dirty="0"/>
          </a:p>
        </p:txBody>
      </p:sp>
      <p:sp>
        <p:nvSpPr>
          <p:cNvPr id="26" name="KPI valor completo 54"/>
          <p:cNvSpPr txBox="1"/>
          <p:nvPr/>
        </p:nvSpPr>
        <p:spPr>
          <a:xfrm>
            <a:off x="9226296" y="2395728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$6.186.833 · margen 9,0%</a:t>
            </a:r>
            <a:endParaRPr lang="en-US" sz="1200" dirty="0"/>
          </a:p>
        </p:txBody>
      </p:sp>
      <p:sp>
        <p:nvSpPr>
          <p:cNvPr id="27" name="KPI mes anterior 55"/>
          <p:cNvSpPr txBox="1"/>
          <p:nvPr/>
        </p:nvSpPr>
        <p:spPr>
          <a:xfrm>
            <a:off x="9226296" y="2660904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Julio: $27.205.730</a:t>
            </a:r>
            <a:endParaRPr lang="en-US" sz="1200" dirty="0"/>
          </a:p>
        </p:txBody>
      </p:sp>
      <p:sp>
        <p:nvSpPr>
          <p:cNvPr id="28" name="KPI variación 56"/>
          <p:cNvSpPr txBox="1"/>
          <p:nvPr/>
        </p:nvSpPr>
        <p:spPr>
          <a:xfrm>
            <a:off x="9226296" y="292608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▼ −77,3% vs. julio</a:t>
            </a:r>
            <a:endParaRPr lang="en-US" sz="1200" dirty="0"/>
          </a:p>
        </p:txBody>
      </p:sp>
      <p:graphicFrame>
        <p:nvGraphicFramePr>
          <p:cNvPr id="29" name="Gráfico comparativo" descr=""/>
          <p:cNvGraphicFramePr/>
          <p:nvPr/>
        </p:nvGraphicFramePr>
        <p:xfrm>
          <a:off x="548640" y="3520440"/>
          <a:ext cx="69494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Lectura del mes 57"/>
          <p:cNvSpPr/>
          <p:nvPr/>
        </p:nvSpPr>
        <p:spPr>
          <a:xfrm>
            <a:off x="7726680" y="3520440"/>
            <a:ext cx="3904488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31" name="Lectura título 58"/>
          <p:cNvSpPr txBox="1"/>
          <p:nvPr/>
        </p:nvSpPr>
        <p:spPr>
          <a:xfrm>
            <a:off x="8001000" y="36758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La historia del mes</a:t>
            </a:r>
            <a:endParaRPr lang="en-US" sz="1800" dirty="0"/>
          </a:p>
        </p:txBody>
      </p:sp>
      <p:sp>
        <p:nvSpPr>
          <p:cNvPr id="32" name="Lectura texto 59"/>
          <p:cNvSpPr txBox="1"/>
          <p:nvPr/>
        </p:nvSpPr>
        <p:spPr>
          <a:xfrm>
            <a:off x="8001000" y="4087368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Los ingresos netos bajaron 8,5% en agosto ($68.648.289 frente a $75.012.054 en julio) y la utilidad neta cayó 77,3%, hasta $6.186.833.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La causa principal es el pago bimestral del impuesto SIMPLE ($22.869.000), que julio no tuvo: antes de impuestos agosto ganó $29.055.833, 6,8% más que julio, gracias a un mejor resultado neto de la Unión Temporal.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822960" y="14630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2</a:t>
            </a:r>
            <a:endParaRPr lang="en-US" sz="8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822960" y="26974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dirty="0">
                <a:solidFill>
                  <a:schemeClr val="accent3"/>
                </a:solidFill>
              </a:rPr>
              <a:t>Análisis comparativo</a:t>
            </a:r>
            <a:endParaRPr lang="en-US" sz="3000" dirty="0"/>
          </a:p>
        </p:txBody>
      </p:sp>
      <p:sp>
        <p:nvSpPr>
          <p:cNvPr id="4" name="Text 0"/>
          <p:cNvSpPr/>
          <p:nvPr>
            <p:ph idx="104" type="title" hasCustomPrompt="1"/>
          </p:nvPr>
        </p:nvSpPr>
        <p:spPr>
          <a:xfrm>
            <a:off x="822960" y="32461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Estado de Resultados</a:t>
            </a:r>
            <a:endParaRPr lang="en-US" sz="5200" dirty="0"/>
          </a:p>
        </p:txBody>
      </p:sp>
      <p:sp>
        <p:nvSpPr>
          <p:cNvPr id="5" name="Text 0"/>
          <p:cNvSpPr/>
          <p:nvPr>
            <p:ph idx="105" type="body" hasCustomPrompt="1"/>
          </p:nvPr>
        </p:nvSpPr>
        <p:spPr>
          <a:xfrm>
            <a:off x="822960" y="42062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JULIO VS AGOSTO 2026 · EVOLUCIÓN DEL AÑO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44652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 · ESTADO DE RESULTADOS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CUADRO DE MANDO - COMPARATIVO INTEGRAL</a:t>
            </a:r>
            <a:endParaRPr lang="en-US" sz="3000" dirty="0"/>
          </a:p>
        </p:txBody>
      </p:sp>
      <p:sp>
        <p:nvSpPr>
          <p:cNvPr id="4" name="Corte 60"/>
          <p:cNvSpPr/>
          <p:nvPr/>
        </p:nvSpPr>
        <p:spPr>
          <a:xfrm>
            <a:off x="9921240" y="411480"/>
            <a:ext cx="17099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Corte: agosto 2026</a:t>
            </a:r>
            <a:endParaRPr lang="en-US" sz="1200" dirty="0"/>
          </a:p>
        </p:txBody>
      </p:sp>
      <p:graphicFrame>
        <p:nvGraphicFramePr>
          <p:cNvPr id="6" name="Tabla cuadro de mand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4142232"/>
                <a:gridCol w="1737360"/>
                <a:gridCol w="1737360"/>
                <a:gridCol w="1737360"/>
                <a:gridCol w="17373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CONCEPTO</a:t>
                      </a:r>
                      <a:endParaRPr lang="en-US" sz="11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AGOSTO 2026</a:t>
                      </a:r>
                      <a:endParaRPr lang="en-US" sz="11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JULIO 2026</a:t>
                      </a:r>
                      <a:endParaRPr lang="en-US" sz="11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VAR. $</a:t>
                      </a:r>
                      <a:endParaRPr lang="en-US" sz="11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VAR. %</a:t>
                      </a:r>
                      <a:endParaRPr lang="en-US" sz="11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47472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ESTADO DE RESULTADO INTEGRAL</a:t>
                      </a:r>
                      <a:endParaRPr lang="en-US" sz="11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INGRESOS NETOS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68.648.289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75.012.054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−6.363.765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−8,5%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UTILIDAD BRUTA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45.317.363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53.666.351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−8.348.988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−15,6%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Gastos de administración y ventas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40.769.091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37.671.013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+3.098.078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+8,2%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RESULTADO OPERACIONAL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4.548.272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15.995.338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−11.447.066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−71,6%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Resultado antes de impuesto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29.055.833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27.205.730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+1.850.103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+6,8%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UTILIDAD NETA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6.186.833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27.205.730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−21.018.897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−77,3%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347472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ESTADO DE SITUACIÓN FINANCIERA</a:t>
                      </a:r>
                      <a:endParaRPr lang="en-US" sz="11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ACTIVO TOTAL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2.014.089.448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1.973.169.245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+40.920.203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+2,1%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PASIVO TOTAL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194.836.049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160.102.680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+34.733.369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+21,7%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PATRIMONIO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1.819.253.399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1.813.066.565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+6.186.834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+0,3%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Nota de color 61"/>
          <p:cNvSpPr txBox="1"/>
          <p:nvPr/>
        </p:nvSpPr>
        <p:spPr>
          <a:xfrm>
            <a:off x="548640" y="58064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2"/>
                </a:solidFill>
              </a:rPr>
              <a:t>Cifras en pesos colombianos.   Código de color:  turquesa = favorable  ·  rojo = desfavorable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 · ESTADO DE RESULTADOS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PUENTE DE UTILIDAD - DE JULIO A AGOSTO</a:t>
            </a:r>
            <a:endParaRPr lang="en-US" sz="3000" dirty="0"/>
          </a:p>
        </p:txBody>
      </p:sp>
      <p:sp>
        <p:nvSpPr>
          <p:cNvPr id="4" name="Corte 62"/>
          <p:cNvSpPr/>
          <p:nvPr/>
        </p:nvSpPr>
        <p:spPr>
          <a:xfrm>
            <a:off x="9921240" y="411480"/>
            <a:ext cx="17099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Corte: agosto 2026</a:t>
            </a:r>
            <a:endParaRPr lang="en-US" sz="1200" dirty="0"/>
          </a:p>
        </p:txBody>
      </p:sp>
      <p:graphicFrame>
        <p:nvGraphicFramePr>
          <p:cNvPr id="5" name="Gráfico puente de utilidad" descr=""/>
          <p:cNvGraphicFramePr/>
          <p:nvPr/>
        </p:nvGraphicFramePr>
        <p:xfrm>
          <a:off x="548640" y="1325880"/>
          <a:ext cx="754380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Lectura del puente 63"/>
          <p:cNvSpPr/>
          <p:nvPr/>
        </p:nvSpPr>
        <p:spPr>
          <a:xfrm>
            <a:off x="8321040" y="1325880"/>
            <a:ext cx="3310128" cy="4800600"/>
          </a:xfrm>
          <a:prstGeom prst="roundRect">
            <a:avLst>
              <a:gd name="adj" fmla="val 3315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7" name="Puente título 64"/>
          <p:cNvSpPr txBox="1"/>
          <p:nvPr/>
        </p:nvSpPr>
        <p:spPr>
          <a:xfrm>
            <a:off x="8549640" y="155448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Lectura del puente</a:t>
            </a:r>
            <a:endParaRPr lang="en-US" sz="1800" dirty="0"/>
          </a:p>
        </p:txBody>
      </p:sp>
      <p:sp>
        <p:nvSpPr>
          <p:cNvPr id="8" name="Puente texto 65"/>
          <p:cNvSpPr txBox="1"/>
          <p:nvPr/>
        </p:nvSpPr>
        <p:spPr>
          <a:xfrm>
            <a:off x="8549640" y="2011680"/>
            <a:ext cx="2926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Operación: −$8.348.988.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Caen los ingresos netos ($6.363.765) y sube el costo de operación ($1.985.223).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Gastos admon.: −$3.098.078.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Sube la Unión Temporal ($3.508.334) y bajan los gastos de personal ($2.657.243).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No operacional: +$13.297.168.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Suben los ingresos ($3.106.500) y bajan los gastos no operacionales ($10.190.668).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Impuesto SIMPLE: −$22.869.000.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Pago bimestral que julio no tuvo.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 · ESTADO DE RESULTADOS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EVOLUCIÓN MENSUAL - ENERO A AGOSTO 2026</a:t>
            </a:r>
            <a:endParaRPr lang="en-US" sz="3000" dirty="0"/>
          </a:p>
        </p:txBody>
      </p:sp>
      <p:sp>
        <p:nvSpPr>
          <p:cNvPr id="4" name="Corte 66"/>
          <p:cNvSpPr/>
          <p:nvPr/>
        </p:nvSpPr>
        <p:spPr>
          <a:xfrm>
            <a:off x="9921240" y="411480"/>
            <a:ext cx="17099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Corte: agosto 2026</a:t>
            </a:r>
            <a:endParaRPr lang="en-US" sz="1200" dirty="0"/>
          </a:p>
        </p:txBody>
      </p:sp>
      <p:graphicFrame>
        <p:nvGraphicFramePr>
          <p:cNvPr id="5" name="Gráfico evolución mensual" descr=""/>
          <p:cNvGraphicFramePr/>
          <p:nvPr/>
        </p:nvGraphicFramePr>
        <p:xfrm>
          <a:off x="548640" y="1325880"/>
          <a:ext cx="694944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a evolució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1371600"/>
          <a:ext cx="3904488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161288"/>
                <a:gridCol w="1161288"/>
                <a:gridCol w="94183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MES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INGRESOS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UTILIDAD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MARGEN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Ene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63.161.460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14.367.398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22,7%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Feb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70.894.572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1.660.746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2,3%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Mar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74.422.717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34.373.836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46,2%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Abr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73.518.795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18.444.744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25,1%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May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91.144.572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70.624.102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77,5%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Jun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102.167.217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24.484.035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24,0%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Jul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75.012.054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27.205.730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36,3%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Ago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68.648.289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6.186.833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9,0%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618.969.676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197.347.425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31,9%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7" name="Tendencia 67"/>
          <p:cNvSpPr/>
          <p:nvPr/>
        </p:nvSpPr>
        <p:spPr>
          <a:xfrm>
            <a:off x="7726680" y="4572000"/>
            <a:ext cx="3904488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8" name="Tendencia valor 68"/>
          <p:cNvSpPr txBox="1"/>
          <p:nvPr/>
        </p:nvSpPr>
        <p:spPr>
          <a:xfrm>
            <a:off x="7955280" y="47091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$618.969.676</a:t>
            </a:r>
            <a:endParaRPr lang="en-US" sz="3000" dirty="0"/>
          </a:p>
        </p:txBody>
      </p:sp>
      <p:sp>
        <p:nvSpPr>
          <p:cNvPr id="9" name="Tendencia texto 69"/>
          <p:cNvSpPr txBox="1"/>
          <p:nvPr/>
        </p:nvSpPr>
        <p:spPr>
          <a:xfrm>
            <a:off x="7955280" y="5257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Ingresos netos acumulados de enero a agosto. Tras el pico de junio ($102.167.217), los ingresos bajaron en julio (−26,6%) y agosto (−8,5%).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 · ESTADO DE RESULTADOS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RENTABILIDAD - MÁRGENES DEL AÑO</a:t>
            </a:r>
            <a:endParaRPr lang="en-US" sz="3000" dirty="0"/>
          </a:p>
        </p:txBody>
      </p:sp>
      <p:sp>
        <p:nvSpPr>
          <p:cNvPr id="4" name="Corte 70"/>
          <p:cNvSpPr/>
          <p:nvPr/>
        </p:nvSpPr>
        <p:spPr>
          <a:xfrm>
            <a:off x="9921240" y="411480"/>
            <a:ext cx="17099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Corte: agosto 2026</a:t>
            </a:r>
            <a:endParaRPr lang="en-US" sz="1200" dirty="0"/>
          </a:p>
        </p:txBody>
      </p:sp>
      <p:graphicFrame>
        <p:nvGraphicFramePr>
          <p:cNvPr id="5" name="Gráfico márgenes" descr=""/>
          <p:cNvGraphicFramePr/>
          <p:nvPr/>
        </p:nvGraphicFramePr>
        <p:xfrm>
          <a:off x="548640" y="1325880"/>
          <a:ext cx="786384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KPI MARGEN BRUTO 71"/>
          <p:cNvSpPr/>
          <p:nvPr/>
        </p:nvSpPr>
        <p:spPr>
          <a:xfrm>
            <a:off x="8641080" y="1325880"/>
            <a:ext cx="2990088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7" name="KPI etiqueta 72"/>
          <p:cNvSpPr txBox="1"/>
          <p:nvPr/>
        </p:nvSpPr>
        <p:spPr>
          <a:xfrm>
            <a:off x="8641080" y="149047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572"/>
                </a:solidFill>
              </a:rPr>
              <a:t>MARGEN BRUTO</a:t>
            </a:r>
            <a:endParaRPr lang="en-US" sz="1300" dirty="0"/>
          </a:p>
        </p:txBody>
      </p:sp>
      <p:sp>
        <p:nvSpPr>
          <p:cNvPr id="8" name="KPI valor 73"/>
          <p:cNvSpPr txBox="1"/>
          <p:nvPr/>
        </p:nvSpPr>
        <p:spPr>
          <a:xfrm>
            <a:off x="8641080" y="1783080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5"/>
                </a:solidFill>
              </a:rPr>
              <a:t>66,0%</a:t>
            </a:r>
            <a:endParaRPr lang="en-US" sz="3600" dirty="0"/>
          </a:p>
        </p:txBody>
      </p:sp>
      <p:sp>
        <p:nvSpPr>
          <p:cNvPr id="9" name="KPI detalle 74"/>
          <p:cNvSpPr txBox="1"/>
          <p:nvPr/>
        </p:nvSpPr>
        <p:spPr>
          <a:xfrm>
            <a:off x="8641080" y="2386584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▼ −5,5 pp  ·  julio 71,5%</a:t>
            </a:r>
            <a:endParaRPr lang="en-US" sz="1200" dirty="0"/>
          </a:p>
        </p:txBody>
      </p:sp>
      <p:sp>
        <p:nvSpPr>
          <p:cNvPr id="10" name="KPI MARGEN OPERACIONAL 75"/>
          <p:cNvSpPr/>
          <p:nvPr/>
        </p:nvSpPr>
        <p:spPr>
          <a:xfrm>
            <a:off x="8641080" y="2990088"/>
            <a:ext cx="2990088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1" name="KPI etiqueta 76"/>
          <p:cNvSpPr txBox="1"/>
          <p:nvPr/>
        </p:nvSpPr>
        <p:spPr>
          <a:xfrm>
            <a:off x="8641080" y="315468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572"/>
                </a:solidFill>
              </a:rPr>
              <a:t>MARGEN OPERACIONAL</a:t>
            </a:r>
            <a:endParaRPr lang="en-US" sz="1300" dirty="0"/>
          </a:p>
        </p:txBody>
      </p:sp>
      <p:sp>
        <p:nvSpPr>
          <p:cNvPr id="12" name="KPI valor 77"/>
          <p:cNvSpPr txBox="1"/>
          <p:nvPr/>
        </p:nvSpPr>
        <p:spPr>
          <a:xfrm>
            <a:off x="8641080" y="3447288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5"/>
                </a:solidFill>
              </a:rPr>
              <a:t>6,6%</a:t>
            </a:r>
            <a:endParaRPr lang="en-US" sz="3600" dirty="0"/>
          </a:p>
        </p:txBody>
      </p:sp>
      <p:sp>
        <p:nvSpPr>
          <p:cNvPr id="13" name="KPI detalle 78"/>
          <p:cNvSpPr txBox="1"/>
          <p:nvPr/>
        </p:nvSpPr>
        <p:spPr>
          <a:xfrm>
            <a:off x="8641080" y="4050792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▼ −14,7 pp  ·  julio 21,3%</a:t>
            </a:r>
            <a:endParaRPr lang="en-US" sz="1200" dirty="0"/>
          </a:p>
        </p:txBody>
      </p:sp>
      <p:sp>
        <p:nvSpPr>
          <p:cNvPr id="14" name="KPI MARGEN NETO 79"/>
          <p:cNvSpPr/>
          <p:nvPr/>
        </p:nvSpPr>
        <p:spPr>
          <a:xfrm>
            <a:off x="8641080" y="4654296"/>
            <a:ext cx="2990088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5" name="KPI etiqueta 80"/>
          <p:cNvSpPr txBox="1"/>
          <p:nvPr/>
        </p:nvSpPr>
        <p:spPr>
          <a:xfrm>
            <a:off x="8641080" y="481888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572"/>
                </a:solidFill>
              </a:rPr>
              <a:t>MARGEN NETO</a:t>
            </a:r>
            <a:endParaRPr lang="en-US" sz="1300" dirty="0"/>
          </a:p>
        </p:txBody>
      </p:sp>
      <p:sp>
        <p:nvSpPr>
          <p:cNvPr id="16" name="KPI valor 81"/>
          <p:cNvSpPr txBox="1"/>
          <p:nvPr/>
        </p:nvSpPr>
        <p:spPr>
          <a:xfrm>
            <a:off x="8641080" y="5111496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5"/>
                </a:solidFill>
              </a:rPr>
              <a:t>9,0%</a:t>
            </a:r>
            <a:endParaRPr lang="en-US" sz="3600" dirty="0"/>
          </a:p>
        </p:txBody>
      </p:sp>
      <p:sp>
        <p:nvSpPr>
          <p:cNvPr id="17" name="KPI detalle 82"/>
          <p:cNvSpPr txBox="1"/>
          <p:nvPr/>
        </p:nvSpPr>
        <p:spPr>
          <a:xfrm>
            <a:off x="8641080" y="5715000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▼ −27,3 pp  ·  julio 36,3%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822960" y="14630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3</a:t>
            </a:r>
            <a:endParaRPr lang="en-US" sz="8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822960" y="26974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dirty="0">
                <a:solidFill>
                  <a:schemeClr val="accent3"/>
                </a:solidFill>
              </a:rPr>
              <a:t>Composición y estructura</a:t>
            </a:r>
            <a:endParaRPr lang="en-US" sz="3000" dirty="0"/>
          </a:p>
        </p:txBody>
      </p:sp>
      <p:sp>
        <p:nvSpPr>
          <p:cNvPr id="4" name="Text 0"/>
          <p:cNvSpPr/>
          <p:nvPr>
            <p:ph idx="104" type="title" hasCustomPrompt="1"/>
          </p:nvPr>
        </p:nvSpPr>
        <p:spPr>
          <a:xfrm>
            <a:off x="822960" y="32461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Ingresos y Gastos</a:t>
            </a:r>
            <a:endParaRPr lang="en-US" sz="5200" dirty="0"/>
          </a:p>
        </p:txBody>
      </p:sp>
      <p:sp>
        <p:nvSpPr>
          <p:cNvPr id="5" name="Text 0"/>
          <p:cNvSpPr/>
          <p:nvPr>
            <p:ph idx="105" type="body" hasCustomPrompt="1"/>
          </p:nvPr>
        </p:nvSpPr>
        <p:spPr>
          <a:xfrm>
            <a:off x="822960" y="42062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DE INGRESO BRUTO A NETO · GASTOS DE ADMINISTRACIÓN Y VENTAS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44652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3 · INGRESOS Y GASTOS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DE INGRESO BRUTO A INGRESO NETO</a:t>
            </a:r>
            <a:endParaRPr lang="en-US" sz="3000" dirty="0"/>
          </a:p>
        </p:txBody>
      </p:sp>
      <p:sp>
        <p:nvSpPr>
          <p:cNvPr id="4" name="Corte 83"/>
          <p:cNvSpPr/>
          <p:nvPr/>
        </p:nvSpPr>
        <p:spPr>
          <a:xfrm>
            <a:off x="9921240" y="411480"/>
            <a:ext cx="17099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Corte: agosto 2026</a:t>
            </a:r>
            <a:endParaRPr lang="en-US" sz="1200" dirty="0"/>
          </a:p>
        </p:txBody>
      </p:sp>
      <p:sp>
        <p:nvSpPr>
          <p:cNvPr id="5" name="Mes 84"/>
          <p:cNvSpPr txBox="1"/>
          <p:nvPr/>
        </p:nvSpPr>
        <p:spPr>
          <a:xfrm>
            <a:off x="548640" y="15819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JULIO</a:t>
            </a:r>
            <a:endParaRPr lang="en-US" sz="2800" dirty="0"/>
          </a:p>
        </p:txBody>
      </p:sp>
      <p:sp>
        <p:nvSpPr>
          <p:cNvPr id="6" name="Año 85"/>
          <p:cNvSpPr txBox="1"/>
          <p:nvPr/>
        </p:nvSpPr>
        <p:spPr>
          <a:xfrm>
            <a:off x="548640" y="20391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572"/>
                </a:solidFill>
              </a:rPr>
              <a:t>2026</a:t>
            </a:r>
            <a:endParaRPr lang="en-US" sz="1800" dirty="0"/>
          </a:p>
        </p:txBody>
      </p:sp>
      <p:sp>
        <p:nvSpPr>
          <p:cNvPr id="7" name="INGRESOS BRUTOS JULIO 86"/>
          <p:cNvSpPr/>
          <p:nvPr/>
        </p:nvSpPr>
        <p:spPr>
          <a:xfrm>
            <a:off x="2148840" y="1417320"/>
            <a:ext cx="269748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8" name="Etiqueta 87"/>
          <p:cNvSpPr txBox="1"/>
          <p:nvPr/>
        </p:nvSpPr>
        <p:spPr>
          <a:xfrm>
            <a:off x="2377440" y="16002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572"/>
                </a:solidFill>
              </a:rPr>
              <a:t>INGRESOS BRUTOS</a:t>
            </a:r>
            <a:endParaRPr lang="en-US" sz="1200" dirty="0"/>
          </a:p>
        </p:txBody>
      </p:sp>
      <p:sp>
        <p:nvSpPr>
          <p:cNvPr id="9" name="Valor 88"/>
          <p:cNvSpPr txBox="1"/>
          <p:nvPr/>
        </p:nvSpPr>
        <p:spPr>
          <a:xfrm>
            <a:off x="2377440" y="18928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$91.410.054</a:t>
            </a:r>
            <a:endParaRPr lang="en-US" sz="2600" dirty="0"/>
          </a:p>
        </p:txBody>
      </p:sp>
      <p:sp>
        <p:nvSpPr>
          <p:cNvPr id="10" name="Flecha 89"/>
          <p:cNvSpPr/>
          <p:nvPr/>
        </p:nvSpPr>
        <p:spPr>
          <a:xfrm>
            <a:off x="5001768" y="1828800"/>
            <a:ext cx="347472" cy="32004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(−) DEVOLUCIONES JULIO 90"/>
          <p:cNvSpPr/>
          <p:nvPr/>
        </p:nvSpPr>
        <p:spPr>
          <a:xfrm>
            <a:off x="5486400" y="1417320"/>
            <a:ext cx="269748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2" name="Etiqueta 91"/>
          <p:cNvSpPr txBox="1"/>
          <p:nvPr/>
        </p:nvSpPr>
        <p:spPr>
          <a:xfrm>
            <a:off x="5715000" y="16002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572"/>
                </a:solidFill>
              </a:rPr>
              <a:t>(−) DEVOLUCIONES</a:t>
            </a:r>
            <a:endParaRPr lang="en-US" sz="1200" dirty="0"/>
          </a:p>
        </p:txBody>
      </p:sp>
      <p:sp>
        <p:nvSpPr>
          <p:cNvPr id="13" name="Valor 92"/>
          <p:cNvSpPr txBox="1"/>
          <p:nvPr/>
        </p:nvSpPr>
        <p:spPr>
          <a:xfrm>
            <a:off x="5715000" y="18928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-$16.398.000</a:t>
            </a:r>
            <a:endParaRPr lang="en-US" sz="2600" dirty="0"/>
          </a:p>
        </p:txBody>
      </p:sp>
      <p:sp>
        <p:nvSpPr>
          <p:cNvPr id="14" name="Flecha 93"/>
          <p:cNvSpPr/>
          <p:nvPr/>
        </p:nvSpPr>
        <p:spPr>
          <a:xfrm>
            <a:off x="8339328" y="1828800"/>
            <a:ext cx="347472" cy="32004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INGRESOS NETOS JULIO 94"/>
          <p:cNvSpPr/>
          <p:nvPr/>
        </p:nvSpPr>
        <p:spPr>
          <a:xfrm>
            <a:off x="8823960" y="1417320"/>
            <a:ext cx="2807208" cy="1143000"/>
          </a:xfrm>
          <a:prstGeom prst="roundRect">
            <a:avLst>
              <a:gd name="adj" fmla="val 96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Etiqueta 95"/>
          <p:cNvSpPr txBox="1"/>
          <p:nvPr/>
        </p:nvSpPr>
        <p:spPr>
          <a:xfrm>
            <a:off x="9052560" y="1600200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INGRESOS NETOS</a:t>
            </a:r>
            <a:endParaRPr lang="en-US" sz="1200" dirty="0"/>
          </a:p>
        </p:txBody>
      </p:sp>
      <p:sp>
        <p:nvSpPr>
          <p:cNvPr id="17" name="Valor 96"/>
          <p:cNvSpPr txBox="1"/>
          <p:nvPr/>
        </p:nvSpPr>
        <p:spPr>
          <a:xfrm>
            <a:off x="9052560" y="1892808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$75.012.054</a:t>
            </a:r>
            <a:endParaRPr lang="en-US" sz="2600" dirty="0"/>
          </a:p>
        </p:txBody>
      </p:sp>
      <p:sp>
        <p:nvSpPr>
          <p:cNvPr id="18" name="Mes 97"/>
          <p:cNvSpPr txBox="1"/>
          <p:nvPr/>
        </p:nvSpPr>
        <p:spPr>
          <a:xfrm>
            <a:off x="548640" y="29535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AGOSTO</a:t>
            </a:r>
            <a:endParaRPr lang="en-US" sz="2800" dirty="0"/>
          </a:p>
        </p:txBody>
      </p:sp>
      <p:sp>
        <p:nvSpPr>
          <p:cNvPr id="19" name="Año 98"/>
          <p:cNvSpPr txBox="1"/>
          <p:nvPr/>
        </p:nvSpPr>
        <p:spPr>
          <a:xfrm>
            <a:off x="548640" y="34107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572"/>
                </a:solidFill>
              </a:rPr>
              <a:t>2026</a:t>
            </a:r>
            <a:endParaRPr lang="en-US" sz="1800" dirty="0"/>
          </a:p>
        </p:txBody>
      </p:sp>
      <p:sp>
        <p:nvSpPr>
          <p:cNvPr id="20" name="INGRESOS BRUTOS AGOSTO 99"/>
          <p:cNvSpPr/>
          <p:nvPr/>
        </p:nvSpPr>
        <p:spPr>
          <a:xfrm>
            <a:off x="2148840" y="2788920"/>
            <a:ext cx="269748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1" name="Etiqueta 100"/>
          <p:cNvSpPr txBox="1"/>
          <p:nvPr/>
        </p:nvSpPr>
        <p:spPr>
          <a:xfrm>
            <a:off x="2377440" y="29718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572"/>
                </a:solidFill>
              </a:rPr>
              <a:t>INGRESOS BRUTOS</a:t>
            </a:r>
            <a:endParaRPr lang="en-US" sz="1200" dirty="0"/>
          </a:p>
        </p:txBody>
      </p:sp>
      <p:sp>
        <p:nvSpPr>
          <p:cNvPr id="22" name="Valor 101"/>
          <p:cNvSpPr txBox="1"/>
          <p:nvPr/>
        </p:nvSpPr>
        <p:spPr>
          <a:xfrm>
            <a:off x="2377440" y="32644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$68.648.289</a:t>
            </a:r>
            <a:endParaRPr lang="en-US" sz="2600" dirty="0"/>
          </a:p>
        </p:txBody>
      </p:sp>
      <p:sp>
        <p:nvSpPr>
          <p:cNvPr id="23" name="Flecha 102"/>
          <p:cNvSpPr/>
          <p:nvPr/>
        </p:nvSpPr>
        <p:spPr>
          <a:xfrm>
            <a:off x="5001768" y="3200400"/>
            <a:ext cx="347472" cy="32004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(−) DEVOLUCIONES AGOSTO 103"/>
          <p:cNvSpPr/>
          <p:nvPr/>
        </p:nvSpPr>
        <p:spPr>
          <a:xfrm>
            <a:off x="5486400" y="2788920"/>
            <a:ext cx="269748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5" name="Etiqueta 104"/>
          <p:cNvSpPr txBox="1"/>
          <p:nvPr/>
        </p:nvSpPr>
        <p:spPr>
          <a:xfrm>
            <a:off x="5715000" y="29718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572"/>
                </a:solidFill>
              </a:rPr>
              <a:t>(−) DEVOLUCIONES</a:t>
            </a:r>
            <a:endParaRPr lang="en-US" sz="1200" dirty="0"/>
          </a:p>
        </p:txBody>
      </p:sp>
      <p:sp>
        <p:nvSpPr>
          <p:cNvPr id="26" name="Valor 105"/>
          <p:cNvSpPr txBox="1"/>
          <p:nvPr/>
        </p:nvSpPr>
        <p:spPr>
          <a:xfrm>
            <a:off x="5715000" y="32644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$0</a:t>
            </a:r>
            <a:endParaRPr lang="en-US" sz="2600" dirty="0"/>
          </a:p>
        </p:txBody>
      </p:sp>
      <p:sp>
        <p:nvSpPr>
          <p:cNvPr id="27" name="Flecha 106"/>
          <p:cNvSpPr/>
          <p:nvPr/>
        </p:nvSpPr>
        <p:spPr>
          <a:xfrm>
            <a:off x="8339328" y="3200400"/>
            <a:ext cx="347472" cy="32004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INGRESOS NETOS AGOSTO 107"/>
          <p:cNvSpPr/>
          <p:nvPr/>
        </p:nvSpPr>
        <p:spPr>
          <a:xfrm>
            <a:off x="8823960" y="2788920"/>
            <a:ext cx="2807208" cy="1143000"/>
          </a:xfrm>
          <a:prstGeom prst="roundRect">
            <a:avLst>
              <a:gd name="adj" fmla="val 96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Etiqueta 108"/>
          <p:cNvSpPr txBox="1"/>
          <p:nvPr/>
        </p:nvSpPr>
        <p:spPr>
          <a:xfrm>
            <a:off x="9052560" y="2971800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INGRESOS NETOS</a:t>
            </a:r>
            <a:endParaRPr lang="en-US" sz="1200" dirty="0"/>
          </a:p>
        </p:txBody>
      </p:sp>
      <p:sp>
        <p:nvSpPr>
          <p:cNvPr id="30" name="Valor 109"/>
          <p:cNvSpPr txBox="1"/>
          <p:nvPr/>
        </p:nvSpPr>
        <p:spPr>
          <a:xfrm>
            <a:off x="9052560" y="3264408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$68.648.289</a:t>
            </a:r>
            <a:endParaRPr lang="en-US" sz="2600" dirty="0"/>
          </a:p>
        </p:txBody>
      </p:sp>
      <p:sp>
        <p:nvSpPr>
          <p:cNvPr id="31" name="VAR. INGRESOS BRUTOS 110"/>
          <p:cNvSpPr/>
          <p:nvPr/>
        </p:nvSpPr>
        <p:spPr>
          <a:xfrm>
            <a:off x="2148840" y="4251960"/>
            <a:ext cx="26974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32" name="Etiqueta 111"/>
          <p:cNvSpPr txBox="1"/>
          <p:nvPr/>
        </p:nvSpPr>
        <p:spPr>
          <a:xfrm>
            <a:off x="2377440" y="44165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572"/>
                </a:solidFill>
              </a:rPr>
              <a:t>VAR. INGRESOS BRUTOS</a:t>
            </a:r>
            <a:endParaRPr lang="en-US" sz="1200" dirty="0"/>
          </a:p>
        </p:txBody>
      </p:sp>
      <p:sp>
        <p:nvSpPr>
          <p:cNvPr id="33" name="Valor 112"/>
          <p:cNvSpPr txBox="1"/>
          <p:nvPr/>
        </p:nvSpPr>
        <p:spPr>
          <a:xfrm>
            <a:off x="2377440" y="46908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▼ −$22.761.765</a:t>
            </a:r>
            <a:endParaRPr lang="en-US" sz="2200" dirty="0"/>
          </a:p>
        </p:txBody>
      </p:sp>
      <p:sp>
        <p:nvSpPr>
          <p:cNvPr id="34" name="Detalle 113"/>
          <p:cNvSpPr txBox="1"/>
          <p:nvPr/>
        </p:nvSpPr>
        <p:spPr>
          <a:xfrm>
            <a:off x="2377440" y="51846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−24,9% vs. julio</a:t>
            </a:r>
            <a:endParaRPr lang="en-US" sz="1200" dirty="0"/>
          </a:p>
        </p:txBody>
      </p:sp>
      <p:sp>
        <p:nvSpPr>
          <p:cNvPr id="35" name="VAR. DEVOLUCIONES 114"/>
          <p:cNvSpPr/>
          <p:nvPr/>
        </p:nvSpPr>
        <p:spPr>
          <a:xfrm>
            <a:off x="5486400" y="4251960"/>
            <a:ext cx="26974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36" name="Etiqueta 115"/>
          <p:cNvSpPr txBox="1"/>
          <p:nvPr/>
        </p:nvSpPr>
        <p:spPr>
          <a:xfrm>
            <a:off x="5715000" y="44165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572"/>
                </a:solidFill>
              </a:rPr>
              <a:t>VAR. DEVOLUCIONES</a:t>
            </a:r>
            <a:endParaRPr lang="en-US" sz="1200" dirty="0"/>
          </a:p>
        </p:txBody>
      </p:sp>
      <p:sp>
        <p:nvSpPr>
          <p:cNvPr id="37" name="Valor 116"/>
          <p:cNvSpPr txBox="1"/>
          <p:nvPr/>
        </p:nvSpPr>
        <p:spPr>
          <a:xfrm>
            <a:off x="5715000" y="46908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▼ −$16.398.000</a:t>
            </a:r>
            <a:endParaRPr lang="en-US" sz="2200" dirty="0"/>
          </a:p>
        </p:txBody>
      </p:sp>
      <p:sp>
        <p:nvSpPr>
          <p:cNvPr id="38" name="Detalle 117"/>
          <p:cNvSpPr txBox="1"/>
          <p:nvPr/>
        </p:nvSpPr>
        <p:spPr>
          <a:xfrm>
            <a:off x="5715000" y="51846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−100,0% vs. julio</a:t>
            </a:r>
            <a:endParaRPr lang="en-US" sz="1200" dirty="0"/>
          </a:p>
        </p:txBody>
      </p:sp>
      <p:sp>
        <p:nvSpPr>
          <p:cNvPr id="39" name="VAR. INGRESOS NETOS 118"/>
          <p:cNvSpPr/>
          <p:nvPr/>
        </p:nvSpPr>
        <p:spPr>
          <a:xfrm>
            <a:off x="8823960" y="4251960"/>
            <a:ext cx="2807208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40" name="Etiqueta 119"/>
          <p:cNvSpPr txBox="1"/>
          <p:nvPr/>
        </p:nvSpPr>
        <p:spPr>
          <a:xfrm>
            <a:off x="9052560" y="4416552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572"/>
                </a:solidFill>
              </a:rPr>
              <a:t>VAR. INGRESOS NETOS</a:t>
            </a:r>
            <a:endParaRPr lang="en-US" sz="1200" dirty="0"/>
          </a:p>
        </p:txBody>
      </p:sp>
      <p:sp>
        <p:nvSpPr>
          <p:cNvPr id="41" name="Valor 120"/>
          <p:cNvSpPr txBox="1"/>
          <p:nvPr/>
        </p:nvSpPr>
        <p:spPr>
          <a:xfrm>
            <a:off x="9052560" y="4690872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▼ −$6.363.765</a:t>
            </a:r>
            <a:endParaRPr lang="en-US" sz="2200" dirty="0"/>
          </a:p>
        </p:txBody>
      </p:sp>
      <p:sp>
        <p:nvSpPr>
          <p:cNvPr id="42" name="Detalle 121"/>
          <p:cNvSpPr txBox="1"/>
          <p:nvPr/>
        </p:nvSpPr>
        <p:spPr>
          <a:xfrm>
            <a:off x="9052560" y="5184648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−8,5% vs. julio</a:t>
            </a:r>
            <a:endParaRPr lang="en-US" sz="1200" dirty="0"/>
          </a:p>
        </p:txBody>
      </p:sp>
      <p:sp>
        <p:nvSpPr>
          <p:cNvPr id="43" name="Var etiqueta 122"/>
          <p:cNvSpPr txBox="1"/>
          <p:nvPr/>
        </p:nvSpPr>
        <p:spPr>
          <a:xfrm>
            <a:off x="548640" y="4663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VARIACIÓN</a:t>
            </a:r>
            <a:endParaRPr lang="en-US" sz="2000" dirty="0"/>
          </a:p>
        </p:txBody>
      </p:sp>
      <p:sp>
        <p:nvSpPr>
          <p:cNvPr id="44" name="Nota 123"/>
          <p:cNvSpPr txBox="1"/>
          <p:nvPr/>
        </p:nvSpPr>
        <p:spPr>
          <a:xfrm>
            <a:off x="548640" y="57607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572"/>
                </a:solidFill>
              </a:rPr>
              <a:t>En agosto no hubo devoluciones (julio: $16.398.000, el mayor nivel del año), lo que amortiguó la caída del ingreso bruto. Actividades de consultoría · cifras en pesos colombianos.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3 · INGRESOS Y GASTOS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GASTOS DE ADMINISTRACIÓN Y VENTAS - TOP 6</a:t>
            </a:r>
            <a:endParaRPr lang="en-US" sz="3000" dirty="0"/>
          </a:p>
        </p:txBody>
      </p:sp>
      <p:sp>
        <p:nvSpPr>
          <p:cNvPr id="4" name="Corte 124"/>
          <p:cNvSpPr/>
          <p:nvPr/>
        </p:nvSpPr>
        <p:spPr>
          <a:xfrm>
            <a:off x="9921240" y="411480"/>
            <a:ext cx="17099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Corte: agosto 2026</a:t>
            </a:r>
            <a:endParaRPr lang="en-US" sz="1200" dirty="0"/>
          </a:p>
        </p:txBody>
      </p:sp>
      <p:graphicFrame>
        <p:nvGraphicFramePr>
          <p:cNvPr id="5" name="Gráfico gastos top 6" descr=""/>
          <p:cNvGraphicFramePr/>
          <p:nvPr/>
        </p:nvGraphicFramePr>
        <p:xfrm>
          <a:off x="548640" y="1325880"/>
          <a:ext cx="585216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a gast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371600"/>
          <a:ext cx="5047488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051560"/>
                <a:gridCol w="886968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CONCEPTO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AGOSTO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JULIO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VAR. %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Gastos Unión Temporal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16.769.915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A6572"/>
                          </a:solidFill>
                        </a:rPr>
                        <a:t>13.261.581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+26,5%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Gastos de personal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5.834.065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A6572"/>
                          </a:solidFill>
                        </a:rPr>
                        <a:t>8.491.308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−31,3%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Honorarios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3.306.279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A6572"/>
                          </a:solidFill>
                        </a:rPr>
                        <a:t>3.306.279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A6572"/>
                          </a:solidFill>
                        </a:rPr>
                        <a:t>+0,0%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Contribuciones y afiliaciones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2.566.854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A6572"/>
                          </a:solidFill>
                        </a:rPr>
                        <a:t>2.636.966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−2,7%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Otros gastos diversos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2.457.524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A6572"/>
                          </a:solidFill>
                        </a:rPr>
                        <a:t>636.761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+285,9%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Depreciaciones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2.234.749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A6572"/>
                          </a:solidFill>
                        </a:rPr>
                        <a:t>2.234.749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A6572"/>
                          </a:solidFill>
                        </a:rPr>
                        <a:t>+0,0%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TOTAL GASTOS ADMON. Y VENTAS</a:t>
                      </a:r>
                      <a:endParaRPr lang="en-US" sz="10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40.769.091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A6572"/>
                          </a:solidFill>
                        </a:rPr>
                        <a:t>37.671.013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+8,2%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7" name="Concentración 125"/>
          <p:cNvSpPr/>
          <p:nvPr/>
        </p:nvSpPr>
        <p:spPr>
          <a:xfrm>
            <a:off x="6583680" y="4343400"/>
            <a:ext cx="5047488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8" name="Concentración título 126"/>
          <p:cNvSpPr txBox="1"/>
          <p:nvPr/>
        </p:nvSpPr>
        <p:spPr>
          <a:xfrm>
            <a:off x="6812280" y="4498848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Concentración</a:t>
            </a:r>
            <a:endParaRPr lang="en-US" sz="1800" dirty="0"/>
          </a:p>
        </p:txBody>
      </p:sp>
      <p:sp>
        <p:nvSpPr>
          <p:cNvPr id="9" name="Concentración texto 127"/>
          <p:cNvSpPr txBox="1"/>
          <p:nvPr/>
        </p:nvSpPr>
        <p:spPr>
          <a:xfrm>
            <a:off x="6812280" y="4901184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Los gastos de la Unión Temporal ($16.769.915) son el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41% del gasto del mes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y subieron $3.508.334, más que el aumento total ($3.098.078); los gastos de personal bajaron $2.657.243.</a:t>
            </a:r>
            <a:endParaRPr lang="en-US" sz="1200" dirty="0"/>
          </a:p>
        </p:txBody>
      </p:sp>
      <p:sp>
        <p:nvSpPr>
          <p:cNvPr id="10" name="Nota de color 128"/>
          <p:cNvSpPr txBox="1"/>
          <p:nvPr/>
        </p:nvSpPr>
        <p:spPr>
          <a:xfrm>
            <a:off x="6583680" y="5897880"/>
            <a:ext cx="5047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2"/>
                </a:solidFill>
              </a:rPr>
              <a:t>Código de color:  turquesa = favorable  ·  rojo = desfavorable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4 · ANÁLISIS DE CAUSAS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TRES FACTORES DETRÁS DEL RESULTADO DE AGOSTO</a:t>
            </a:r>
            <a:endParaRPr lang="en-US" sz="3000" dirty="0"/>
          </a:p>
        </p:txBody>
      </p:sp>
      <p:sp>
        <p:nvSpPr>
          <p:cNvPr id="4" name="Corte 129"/>
          <p:cNvSpPr/>
          <p:nvPr/>
        </p:nvSpPr>
        <p:spPr>
          <a:xfrm>
            <a:off x="9921240" y="411480"/>
            <a:ext cx="17099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Corte: agosto 2026</a:t>
            </a:r>
            <a:endParaRPr lang="en-US" sz="1200" dirty="0"/>
          </a:p>
        </p:txBody>
      </p:sp>
      <p:sp>
        <p:nvSpPr>
          <p:cNvPr id="5" name="Factor 01 130"/>
          <p:cNvSpPr/>
          <p:nvPr/>
        </p:nvSpPr>
        <p:spPr>
          <a:xfrm>
            <a:off x="548640" y="1371600"/>
            <a:ext cx="3566160" cy="36118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6" name="Número 131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Factor título 132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PAGO BIMESTRAL DEL RÉGIMEN SIMPLE</a:t>
            </a:r>
            <a:endParaRPr lang="en-US" sz="1400" dirty="0"/>
          </a:p>
        </p:txBody>
      </p:sp>
      <p:sp>
        <p:nvSpPr>
          <p:cNvPr id="8" name="Factor JULIO 133"/>
          <p:cNvSpPr/>
          <p:nvPr/>
        </p:nvSpPr>
        <p:spPr>
          <a:xfrm>
            <a:off x="777240" y="2377440"/>
            <a:ext cx="150876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9" name="Factor mes 134"/>
          <p:cNvSpPr txBox="1"/>
          <p:nvPr/>
        </p:nvSpPr>
        <p:spPr>
          <a:xfrm>
            <a:off x="777240" y="24505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572"/>
                </a:solidFill>
              </a:rPr>
              <a:t>JULIO</a:t>
            </a:r>
            <a:endParaRPr lang="en-US" sz="1100" dirty="0"/>
          </a:p>
        </p:txBody>
      </p:sp>
      <p:sp>
        <p:nvSpPr>
          <p:cNvPr id="10" name="Factor valor 135"/>
          <p:cNvSpPr txBox="1"/>
          <p:nvPr/>
        </p:nvSpPr>
        <p:spPr>
          <a:xfrm>
            <a:off x="777240" y="270662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572"/>
                </a:solidFill>
              </a:rPr>
              <a:t>$0</a:t>
            </a:r>
            <a:endParaRPr lang="en-US" sz="2000" dirty="0"/>
          </a:p>
        </p:txBody>
      </p:sp>
      <p:sp>
        <p:nvSpPr>
          <p:cNvPr id="11" name="Factor AGOSTO 136"/>
          <p:cNvSpPr/>
          <p:nvPr/>
        </p:nvSpPr>
        <p:spPr>
          <a:xfrm>
            <a:off x="2377440" y="2377440"/>
            <a:ext cx="150876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2" name="Factor mes 137"/>
          <p:cNvSpPr txBox="1"/>
          <p:nvPr/>
        </p:nvSpPr>
        <p:spPr>
          <a:xfrm>
            <a:off x="2377440" y="24505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572"/>
                </a:solidFill>
              </a:rPr>
              <a:t>AGOSTO</a:t>
            </a:r>
            <a:endParaRPr lang="en-US" sz="1100" dirty="0"/>
          </a:p>
        </p:txBody>
      </p:sp>
      <p:sp>
        <p:nvSpPr>
          <p:cNvPr id="13" name="Factor valor 138"/>
          <p:cNvSpPr txBox="1"/>
          <p:nvPr/>
        </p:nvSpPr>
        <p:spPr>
          <a:xfrm>
            <a:off x="2377440" y="270662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$22.869.000</a:t>
            </a:r>
            <a:endParaRPr lang="en-US" sz="1500" dirty="0"/>
          </a:p>
        </p:txBody>
      </p:sp>
      <p:sp>
        <p:nvSpPr>
          <p:cNvPr id="14" name="Factor detalle 139"/>
          <p:cNvSpPr txBox="1"/>
          <p:nvPr/>
        </p:nvSpPr>
        <p:spPr>
          <a:xfrm>
            <a:off x="777240" y="329184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 SIMPLE se paga cada dos meses (febrero, abril, junio, agosto). Julio no tuvo pago; agosto absorbió el bimestre completo y explica la mayor parte de la caída.</a:t>
            </a:r>
            <a:endParaRPr lang="en-US" sz="1300" dirty="0"/>
          </a:p>
        </p:txBody>
      </p:sp>
      <p:sp>
        <p:nvSpPr>
          <p:cNvPr id="15" name="Factor 02 140"/>
          <p:cNvSpPr/>
          <p:nvPr/>
        </p:nvSpPr>
        <p:spPr>
          <a:xfrm>
            <a:off x="4311396" y="1371600"/>
            <a:ext cx="3566160" cy="36118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6" name="Número 141"/>
          <p:cNvSpPr/>
          <p:nvPr/>
        </p:nvSpPr>
        <p:spPr>
          <a:xfrm>
            <a:off x="4539996" y="160020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02</a:t>
            </a:r>
            <a:endParaRPr lang="en-US" sz="1800" dirty="0"/>
          </a:p>
        </p:txBody>
      </p:sp>
      <p:sp>
        <p:nvSpPr>
          <p:cNvPr id="17" name="Factor título 142"/>
          <p:cNvSpPr txBox="1"/>
          <p:nvPr/>
        </p:nvSpPr>
        <p:spPr>
          <a:xfrm>
            <a:off x="5225796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MENORES INGRESOS BRUTOS DE CONSULTORÍA</a:t>
            </a:r>
            <a:endParaRPr lang="en-US" sz="1400" dirty="0"/>
          </a:p>
        </p:txBody>
      </p:sp>
      <p:sp>
        <p:nvSpPr>
          <p:cNvPr id="18" name="Factor JULIO 143"/>
          <p:cNvSpPr/>
          <p:nvPr/>
        </p:nvSpPr>
        <p:spPr>
          <a:xfrm>
            <a:off x="4539996" y="2377440"/>
            <a:ext cx="150876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9" name="Factor mes 144"/>
          <p:cNvSpPr txBox="1"/>
          <p:nvPr/>
        </p:nvSpPr>
        <p:spPr>
          <a:xfrm>
            <a:off x="4539996" y="24505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572"/>
                </a:solidFill>
              </a:rPr>
              <a:t>JULIO</a:t>
            </a:r>
            <a:endParaRPr lang="en-US" sz="1100" dirty="0"/>
          </a:p>
        </p:txBody>
      </p:sp>
      <p:sp>
        <p:nvSpPr>
          <p:cNvPr id="20" name="Factor valor 145"/>
          <p:cNvSpPr txBox="1"/>
          <p:nvPr/>
        </p:nvSpPr>
        <p:spPr>
          <a:xfrm>
            <a:off x="4539996" y="270662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6572"/>
                </a:solidFill>
              </a:rPr>
              <a:t>$91.410.054</a:t>
            </a:r>
            <a:endParaRPr lang="en-US" sz="1500" dirty="0"/>
          </a:p>
        </p:txBody>
      </p:sp>
      <p:sp>
        <p:nvSpPr>
          <p:cNvPr id="21" name="Factor AGOSTO 146"/>
          <p:cNvSpPr/>
          <p:nvPr/>
        </p:nvSpPr>
        <p:spPr>
          <a:xfrm>
            <a:off x="6140196" y="2377440"/>
            <a:ext cx="150876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2" name="Factor mes 147"/>
          <p:cNvSpPr txBox="1"/>
          <p:nvPr/>
        </p:nvSpPr>
        <p:spPr>
          <a:xfrm>
            <a:off x="6140196" y="24505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572"/>
                </a:solidFill>
              </a:rPr>
              <a:t>AGOSTO</a:t>
            </a:r>
            <a:endParaRPr lang="en-US" sz="1100" dirty="0"/>
          </a:p>
        </p:txBody>
      </p:sp>
      <p:sp>
        <p:nvSpPr>
          <p:cNvPr id="23" name="Factor valor 148"/>
          <p:cNvSpPr txBox="1"/>
          <p:nvPr/>
        </p:nvSpPr>
        <p:spPr>
          <a:xfrm>
            <a:off x="6140196" y="270662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$68.648.289</a:t>
            </a:r>
            <a:endParaRPr lang="en-US" sz="1500" dirty="0"/>
          </a:p>
        </p:txBody>
      </p:sp>
      <p:sp>
        <p:nvSpPr>
          <p:cNvPr id="24" name="Factor detalle 149"/>
          <p:cNvSpPr txBox="1"/>
          <p:nvPr/>
        </p:nvSpPr>
        <p:spPr>
          <a:xfrm>
            <a:off x="4539996" y="329184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Los ingresos brutos cayeron 24,9%. Sin devoluciones en agosto, el ingreso neto bajó solo 8,5%, pero el margen bruto pasó de 71,5% a 66,0%.</a:t>
            </a:r>
            <a:endParaRPr lang="en-US" sz="1300" dirty="0"/>
          </a:p>
        </p:txBody>
      </p:sp>
      <p:sp>
        <p:nvSpPr>
          <p:cNvPr id="25" name="Factor 03 150"/>
          <p:cNvSpPr/>
          <p:nvPr/>
        </p:nvSpPr>
        <p:spPr>
          <a:xfrm>
            <a:off x="8074152" y="1371600"/>
            <a:ext cx="3566160" cy="36118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6" name="Número 151"/>
          <p:cNvSpPr/>
          <p:nvPr/>
        </p:nvSpPr>
        <p:spPr>
          <a:xfrm>
            <a:off x="8302752" y="160020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03</a:t>
            </a:r>
            <a:endParaRPr lang="en-US" sz="1800" dirty="0"/>
          </a:p>
        </p:txBody>
      </p:sp>
      <p:sp>
        <p:nvSpPr>
          <p:cNvPr id="27" name="Factor título 152"/>
          <p:cNvSpPr txBox="1"/>
          <p:nvPr/>
        </p:nvSpPr>
        <p:spPr>
          <a:xfrm>
            <a:off x="8988552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UNIÓN TEMPORAL EVB ABOGADOS · EFECTO NETO</a:t>
            </a:r>
            <a:endParaRPr lang="en-US" sz="1400" dirty="0"/>
          </a:p>
        </p:txBody>
      </p:sp>
      <p:sp>
        <p:nvSpPr>
          <p:cNvPr id="28" name="Factor JULIO 153"/>
          <p:cNvSpPr/>
          <p:nvPr/>
        </p:nvSpPr>
        <p:spPr>
          <a:xfrm>
            <a:off x="8302752" y="2377440"/>
            <a:ext cx="150876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9" name="Factor mes 154"/>
          <p:cNvSpPr txBox="1"/>
          <p:nvPr/>
        </p:nvSpPr>
        <p:spPr>
          <a:xfrm>
            <a:off x="8302752" y="24505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572"/>
                </a:solidFill>
              </a:rPr>
              <a:t>JULIO</a:t>
            </a:r>
            <a:endParaRPr lang="en-US" sz="1100" dirty="0"/>
          </a:p>
        </p:txBody>
      </p:sp>
      <p:sp>
        <p:nvSpPr>
          <p:cNvPr id="30" name="Factor valor 155"/>
          <p:cNvSpPr txBox="1"/>
          <p:nvPr/>
        </p:nvSpPr>
        <p:spPr>
          <a:xfrm>
            <a:off x="8302752" y="270662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6572"/>
                </a:solidFill>
              </a:rPr>
              <a:t>−$1.363.844</a:t>
            </a:r>
            <a:endParaRPr lang="en-US" sz="1500" dirty="0"/>
          </a:p>
        </p:txBody>
      </p:sp>
      <p:sp>
        <p:nvSpPr>
          <p:cNvPr id="31" name="Factor AGOSTO 156"/>
          <p:cNvSpPr/>
          <p:nvPr/>
        </p:nvSpPr>
        <p:spPr>
          <a:xfrm>
            <a:off x="9902952" y="2377440"/>
            <a:ext cx="150876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32" name="Factor mes 157"/>
          <p:cNvSpPr txBox="1"/>
          <p:nvPr/>
        </p:nvSpPr>
        <p:spPr>
          <a:xfrm>
            <a:off x="9902952" y="24505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572"/>
                </a:solidFill>
              </a:rPr>
              <a:t>AGOSTO</a:t>
            </a:r>
            <a:endParaRPr lang="en-US" sz="1100" dirty="0"/>
          </a:p>
        </p:txBody>
      </p:sp>
      <p:sp>
        <p:nvSpPr>
          <p:cNvPr id="33" name="Factor valor 158"/>
          <p:cNvSpPr txBox="1"/>
          <p:nvPr/>
        </p:nvSpPr>
        <p:spPr>
          <a:xfrm>
            <a:off x="9902952" y="270662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+$8.210.902</a:t>
            </a:r>
            <a:endParaRPr lang="en-US" sz="1500" dirty="0"/>
          </a:p>
        </p:txBody>
      </p:sp>
      <p:sp>
        <p:nvSpPr>
          <p:cNvPr id="34" name="Factor detalle 159"/>
          <p:cNvSpPr txBox="1"/>
          <p:nvPr/>
        </p:nvSpPr>
        <p:spPr>
          <a:xfrm>
            <a:off x="8302752" y="329184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 agosto la UT aportó $35.524.015 de ingreso no operacional frente a $27.313.113 de gastos asociados ($16.769.915 administrativos y $10.543.198 no operacionales).</a:t>
            </a:r>
            <a:endParaRPr lang="en-US" sz="1300" dirty="0"/>
          </a:p>
        </p:txBody>
      </p:sp>
      <p:sp>
        <p:nvSpPr>
          <p:cNvPr id="35" name="Lectura clave 160"/>
          <p:cNvSpPr/>
          <p:nvPr/>
        </p:nvSpPr>
        <p:spPr>
          <a:xfrm>
            <a:off x="548640" y="5166360"/>
            <a:ext cx="11091672" cy="96012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Lectura clave texto 161"/>
          <p:cNvSpPr txBox="1"/>
          <p:nvPr/>
        </p:nvSpPr>
        <p:spPr>
          <a:xfrm>
            <a:off x="822960" y="51663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Lectura clave: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antes de impuestos agosto ganó más que julio (+6,8%). La caída de la utilidad neta la explica el SIMPLE; el punto a vigilar es la operación: ingresos brutos −24,9% y resultado operacional de solo $4.548.272.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822960" y="14630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5</a:t>
            </a:r>
            <a:endParaRPr lang="en-US" sz="8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822960" y="26974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dirty="0">
                <a:solidFill>
                  <a:schemeClr val="accent3"/>
                </a:solidFill>
              </a:rPr>
              <a:t>Estado de Situación Financiera</a:t>
            </a:r>
            <a:endParaRPr lang="en-US" sz="3000" dirty="0"/>
          </a:p>
        </p:txBody>
      </p:sp>
      <p:sp>
        <p:nvSpPr>
          <p:cNvPr id="4" name="Text 0"/>
          <p:cNvSpPr/>
          <p:nvPr>
            <p:ph idx="104" type="title" hasCustomPrompt="1"/>
          </p:nvPr>
        </p:nvSpPr>
        <p:spPr>
          <a:xfrm>
            <a:off x="822960" y="32461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Balance e Indicadores</a:t>
            </a:r>
            <a:endParaRPr lang="en-US" sz="5200" dirty="0"/>
          </a:p>
        </p:txBody>
      </p:sp>
      <p:sp>
        <p:nvSpPr>
          <p:cNvPr id="5" name="Text 0"/>
          <p:cNvSpPr/>
          <p:nvPr>
            <p:ph idx="105" type="body" hasCustomPrompt="1"/>
          </p:nvPr>
        </p:nvSpPr>
        <p:spPr>
          <a:xfrm>
            <a:off x="822960" y="42062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LIQUIDEZ · ENDEUDAMIENTO · RENTABILIDAD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44652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5 · SITUACIÓN FINANCIERA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BALANCE GENERAL COMPARATIVO</a:t>
            </a:r>
            <a:endParaRPr lang="en-US" sz="3000" dirty="0"/>
          </a:p>
        </p:txBody>
      </p:sp>
      <p:sp>
        <p:nvSpPr>
          <p:cNvPr id="4" name="Corte 162"/>
          <p:cNvSpPr/>
          <p:nvPr/>
        </p:nvSpPr>
        <p:spPr>
          <a:xfrm>
            <a:off x="9921240" y="411480"/>
            <a:ext cx="17099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Corte: agosto 2026</a:t>
            </a:r>
            <a:endParaRPr lang="en-US" sz="1200" dirty="0"/>
          </a:p>
        </p:txBody>
      </p:sp>
      <p:graphicFrame>
        <p:nvGraphicFramePr>
          <p:cNvPr id="15" name="Tabla balanc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81228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280160"/>
                <a:gridCol w="1280160"/>
                <a:gridCol w="1188720"/>
                <a:gridCol w="91440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CUENTA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AGOSTO 2026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JULIO 2026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VAR. $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VAR. %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38328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ACTIVO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Activo corriente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1.075.010.530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A6572"/>
                          </a:solidFill>
                        </a:rPr>
                        <a:t>1.040.644.254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+34.366.276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+3,3%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Activo no corriente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939.078.918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A6572"/>
                          </a:solidFill>
                        </a:rPr>
                        <a:t>932.524.991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+6.553.927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+0,7%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TOTAL ACTIVO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2.014.089.448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A6572"/>
                          </a:solidFill>
                        </a:rPr>
                        <a:t>1.973.169.245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+40.920.203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+2,1%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338328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PASIVO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Pasivo corriente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188.850.155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A6572"/>
                          </a:solidFill>
                        </a:rPr>
                        <a:t>154.834.332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6"/>
                          </a:solidFill>
                        </a:rPr>
                        <a:t>+34.015.823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6"/>
                          </a:solidFill>
                        </a:rPr>
                        <a:t>+22,0%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Pasivo no corriente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5.985.894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A6572"/>
                          </a:solidFill>
                        </a:rPr>
                        <a:t>5.268.348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6"/>
                          </a:solidFill>
                        </a:rPr>
                        <a:t>+717.546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6"/>
                          </a:solidFill>
                        </a:rPr>
                        <a:t>+13,6%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TOTAL PASIVO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194.836.049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A6572"/>
                          </a:solidFill>
                        </a:rPr>
                        <a:t>160.102.680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6"/>
                          </a:solidFill>
                        </a:rPr>
                        <a:t>+34.733.369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6"/>
                          </a:solidFill>
                        </a:rPr>
                        <a:t>+21,7%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338328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PATRIMONIO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TOTAL PATRIMONIO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1.819.253.399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A6572"/>
                          </a:solidFill>
                        </a:rPr>
                        <a:t>1.813.066.565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+6.186.834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+0,3%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TOTAL PASIVO + PATRIMONIO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2.014.089.448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A6572"/>
                          </a:solidFill>
                        </a:rPr>
                        <a:t>1.973.169.245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+40.920.203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+2,1%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6" name="Lectura balance 163"/>
          <p:cNvSpPr/>
          <p:nvPr/>
        </p:nvSpPr>
        <p:spPr>
          <a:xfrm>
            <a:off x="548640" y="5532120"/>
            <a:ext cx="681228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7" name="Lectura balance texto 164"/>
          <p:cNvSpPr txBox="1"/>
          <p:nvPr/>
        </p:nvSpPr>
        <p:spPr>
          <a:xfrm>
            <a:off x="777240" y="55321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El activo corriente creció $34.366.276, impulsado por bancos (+$43.872.497); el pasivo corriente subió $34.015.823 por el anticipo del SIMPLE por pagar ($44.639.000).</a:t>
            </a:r>
            <a:endParaRPr lang="en-US" sz="1200" dirty="0"/>
          </a:p>
        </p:txBody>
      </p:sp>
      <p:graphicFrame>
        <p:nvGraphicFramePr>
          <p:cNvPr id="8" name="Gráfico estructura del activo" descr=""/>
          <p:cNvGraphicFramePr/>
          <p:nvPr/>
        </p:nvGraphicFramePr>
        <p:xfrm>
          <a:off x="7589520" y="1325880"/>
          <a:ext cx="4041648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Gráfico estructura de financiación" descr=""/>
          <p:cNvGraphicFramePr/>
          <p:nvPr/>
        </p:nvGraphicFramePr>
        <p:xfrm>
          <a:off x="7589520" y="3794760"/>
          <a:ext cx="4041648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5 · SITUACIÓN FINANCIERA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INDICADORES CLAVE - LIQUIDEZ Y ENDEUDAMIENTO</a:t>
            </a:r>
            <a:endParaRPr lang="en-US" sz="3000" dirty="0"/>
          </a:p>
        </p:txBody>
      </p:sp>
      <p:sp>
        <p:nvSpPr>
          <p:cNvPr id="4" name="Corte 165"/>
          <p:cNvSpPr/>
          <p:nvPr/>
        </p:nvSpPr>
        <p:spPr>
          <a:xfrm>
            <a:off x="9921240" y="411480"/>
            <a:ext cx="17099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Corte: agosto 2026</a:t>
            </a:r>
            <a:endParaRPr lang="en-US" sz="1200" dirty="0"/>
          </a:p>
        </p:txBody>
      </p:sp>
      <p:graphicFrame>
        <p:nvGraphicFramePr>
          <p:cNvPr id="16" name="Tabla indicador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050792"/>
                <a:gridCol w="1600200"/>
                <a:gridCol w="160020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INDICADOR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FÓRMULA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AGOSTO 2026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JULIO 2026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LECTURA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Razón corriente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Activo corriente / Pasivo corriente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5,69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6,72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▼ Baja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Endeudamiento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Pasivo total / Activo total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9,7%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8,1%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▼ Baja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Margen bruto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Utilidad bruta / Ingresos netos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66,0%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71,5%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▼ Baja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Margen neto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Utilidad neta / Ingresos netos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9,0%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36,3%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▼ Baja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ROE acumulado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Utilidad neta acum. / Patrimonio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10,8%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10,5%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▲ Mejora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7"/>
                    </a:solidFill>
                  </a:tcPr>
                </a:tc>
              </a:tr>
            </a:tbl>
          </a:graphicData>
        </a:graphic>
      </p:graphicFrame>
      <p:sp>
        <p:nvSpPr>
          <p:cNvPr id="6" name="Indicador LIQUIDEZ 166"/>
          <p:cNvSpPr/>
          <p:nvPr/>
        </p:nvSpPr>
        <p:spPr>
          <a:xfrm>
            <a:off x="548640" y="406908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7" name="Indicador etiqueta 167"/>
          <p:cNvSpPr txBox="1"/>
          <p:nvPr/>
        </p:nvSpPr>
        <p:spPr>
          <a:xfrm>
            <a:off x="548640" y="4251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572"/>
                </a:solidFill>
              </a:rPr>
              <a:t>LIQUIDEZ</a:t>
            </a:r>
            <a:endParaRPr lang="en-US" sz="1300" dirty="0"/>
          </a:p>
        </p:txBody>
      </p:sp>
      <p:sp>
        <p:nvSpPr>
          <p:cNvPr id="8" name="Indicador valor 168"/>
          <p:cNvSpPr txBox="1"/>
          <p:nvPr/>
        </p:nvSpPr>
        <p:spPr>
          <a:xfrm>
            <a:off x="548640" y="454456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5,69 veces</a:t>
            </a:r>
            <a:endParaRPr lang="en-US" sz="3600" dirty="0"/>
          </a:p>
        </p:txBody>
      </p:sp>
      <p:sp>
        <p:nvSpPr>
          <p:cNvPr id="9" name="Indicador detalle 169"/>
          <p:cNvSpPr txBox="1"/>
          <p:nvPr/>
        </p:nvSpPr>
        <p:spPr>
          <a:xfrm>
            <a:off x="822960" y="5257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Por cada peso de pasivo corriente hay $5,69 de activo corriente (julio: 6,72).</a:t>
            </a:r>
            <a:endParaRPr lang="en-US" sz="1200" dirty="0"/>
          </a:p>
        </p:txBody>
      </p:sp>
      <p:sp>
        <p:nvSpPr>
          <p:cNvPr id="10" name="Indicador SOLIDEZ 170"/>
          <p:cNvSpPr/>
          <p:nvPr/>
        </p:nvSpPr>
        <p:spPr>
          <a:xfrm>
            <a:off x="4311396" y="406908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1" name="Indicador etiqueta 171"/>
          <p:cNvSpPr txBox="1"/>
          <p:nvPr/>
        </p:nvSpPr>
        <p:spPr>
          <a:xfrm>
            <a:off x="4311396" y="4251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572"/>
                </a:solidFill>
              </a:rPr>
              <a:t>SOLIDEZ</a:t>
            </a:r>
            <a:endParaRPr lang="en-US" sz="1300" dirty="0"/>
          </a:p>
        </p:txBody>
      </p:sp>
      <p:sp>
        <p:nvSpPr>
          <p:cNvPr id="12" name="Indicador valor 172"/>
          <p:cNvSpPr txBox="1"/>
          <p:nvPr/>
        </p:nvSpPr>
        <p:spPr>
          <a:xfrm>
            <a:off x="4311396" y="454456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90,3%</a:t>
            </a:r>
            <a:endParaRPr lang="en-US" sz="3600" dirty="0"/>
          </a:p>
        </p:txBody>
      </p:sp>
      <p:sp>
        <p:nvSpPr>
          <p:cNvPr id="13" name="Indicador detalle 173"/>
          <p:cNvSpPr txBox="1"/>
          <p:nvPr/>
        </p:nvSpPr>
        <p:spPr>
          <a:xfrm>
            <a:off x="4585716" y="5257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Del activo está financiado con patrimonio; el pasivo es el 9,7%.</a:t>
            </a:r>
            <a:endParaRPr lang="en-US" sz="1200" dirty="0"/>
          </a:p>
        </p:txBody>
      </p:sp>
      <p:sp>
        <p:nvSpPr>
          <p:cNvPr id="14" name="Indicador RENTABILIDAD 174"/>
          <p:cNvSpPr/>
          <p:nvPr/>
        </p:nvSpPr>
        <p:spPr>
          <a:xfrm>
            <a:off x="8074152" y="406908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5" name="Indicador etiqueta 175"/>
          <p:cNvSpPr txBox="1"/>
          <p:nvPr/>
        </p:nvSpPr>
        <p:spPr>
          <a:xfrm>
            <a:off x="8074152" y="4251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572"/>
                </a:solidFill>
              </a:rPr>
              <a:t>RENTABILIDAD</a:t>
            </a:r>
            <a:endParaRPr lang="en-US" sz="1300" dirty="0"/>
          </a:p>
        </p:txBody>
      </p:sp>
      <p:sp>
        <p:nvSpPr>
          <p:cNvPr id="16" name="Indicador valor 176"/>
          <p:cNvSpPr txBox="1"/>
          <p:nvPr/>
        </p:nvSpPr>
        <p:spPr>
          <a:xfrm>
            <a:off x="8074152" y="454456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10,8%</a:t>
            </a:r>
            <a:endParaRPr lang="en-US" sz="3600" dirty="0"/>
          </a:p>
        </p:txBody>
      </p:sp>
      <p:sp>
        <p:nvSpPr>
          <p:cNvPr id="17" name="Indicador detalle 177"/>
          <p:cNvSpPr txBox="1"/>
          <p:nvPr/>
        </p:nvSpPr>
        <p:spPr>
          <a:xfrm>
            <a:off x="8348472" y="5257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ROE acumulado: utilidad del año ($197.347.425) sobre el patrimonio.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6 · SÍNTESIS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CONCLUSIONES Y HALLAZGOS DEL MES</a:t>
            </a:r>
            <a:endParaRPr lang="en-US" sz="3000" dirty="0"/>
          </a:p>
        </p:txBody>
      </p:sp>
      <p:sp>
        <p:nvSpPr>
          <p:cNvPr id="4" name="Corte 178"/>
          <p:cNvSpPr/>
          <p:nvPr/>
        </p:nvSpPr>
        <p:spPr>
          <a:xfrm>
            <a:off x="9921240" y="411480"/>
            <a:ext cx="17099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Corte: agosto 2026</a:t>
            </a:r>
            <a:endParaRPr lang="en-US" sz="1200" dirty="0"/>
          </a:p>
        </p:txBody>
      </p:sp>
      <p:sp>
        <p:nvSpPr>
          <p:cNvPr id="5" name="Conclusión 1 179"/>
          <p:cNvSpPr/>
          <p:nvPr/>
        </p:nvSpPr>
        <p:spPr>
          <a:xfrm>
            <a:off x="548640" y="1325880"/>
            <a:ext cx="1109167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6" name="Número 180"/>
          <p:cNvSpPr/>
          <p:nvPr/>
        </p:nvSpPr>
        <p:spPr>
          <a:xfrm>
            <a:off x="777240" y="1490472"/>
            <a:ext cx="512064" cy="51206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Conclusión texto 181"/>
          <p:cNvSpPr txBox="1"/>
          <p:nvPr/>
        </p:nvSpPr>
        <p:spPr>
          <a:xfrm>
            <a:off x="1508760" y="1325880"/>
            <a:ext cx="9921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Ingresos netos −8,5% en agosto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($68.648.289 vs $75.012.054 en julio): los ingresos brutos cayeron 24,9%, compensados en parte porque no hubo devoluciones. El acumulado del año suma $618.969.676.</a:t>
            </a:r>
            <a:endParaRPr lang="en-US" sz="1400" dirty="0"/>
          </a:p>
        </p:txBody>
      </p:sp>
      <p:sp>
        <p:nvSpPr>
          <p:cNvPr id="8" name="Conclusión 2 182"/>
          <p:cNvSpPr/>
          <p:nvPr/>
        </p:nvSpPr>
        <p:spPr>
          <a:xfrm>
            <a:off x="548640" y="2286000"/>
            <a:ext cx="1109167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9" name="Número 183"/>
          <p:cNvSpPr/>
          <p:nvPr/>
        </p:nvSpPr>
        <p:spPr>
          <a:xfrm>
            <a:off x="777240" y="2450592"/>
            <a:ext cx="512064" cy="51206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Conclusión texto 184"/>
          <p:cNvSpPr txBox="1"/>
          <p:nvPr/>
        </p:nvSpPr>
        <p:spPr>
          <a:xfrm>
            <a:off x="1508760" y="2286000"/>
            <a:ext cx="9921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Utilidad neta −77,3% ($6.186.833):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explica el pago bimestral del SIMPLE ($22.869.000); antes de impuestos agosto ganó $29.055.833, 6,8% más que julio.</a:t>
            </a:r>
            <a:endParaRPr lang="en-US" sz="1400" dirty="0"/>
          </a:p>
        </p:txBody>
      </p:sp>
      <p:sp>
        <p:nvSpPr>
          <p:cNvPr id="11" name="Conclusión 3 185"/>
          <p:cNvSpPr/>
          <p:nvPr/>
        </p:nvSpPr>
        <p:spPr>
          <a:xfrm>
            <a:off x="548640" y="3246120"/>
            <a:ext cx="1109167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2" name="Número 186"/>
          <p:cNvSpPr/>
          <p:nvPr/>
        </p:nvSpPr>
        <p:spPr>
          <a:xfrm>
            <a:off x="777240" y="3410712"/>
            <a:ext cx="512064" cy="51206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Conclusión texto 187"/>
          <p:cNvSpPr txBox="1"/>
          <p:nvPr/>
        </p:nvSpPr>
        <p:spPr>
          <a:xfrm>
            <a:off x="1508760" y="3246120"/>
            <a:ext cx="9921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Resultado operacional de $4.548.272 (margen 6,6%):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menor ingreso, costo de operación +9,3% y gastos de administración +8,2%, impulsados por la Unión Temporal.</a:t>
            </a:r>
            <a:endParaRPr lang="en-US" sz="1400" dirty="0"/>
          </a:p>
        </p:txBody>
      </p:sp>
      <p:sp>
        <p:nvSpPr>
          <p:cNvPr id="14" name="Conclusión 4 188"/>
          <p:cNvSpPr/>
          <p:nvPr/>
        </p:nvSpPr>
        <p:spPr>
          <a:xfrm>
            <a:off x="548640" y="4206240"/>
            <a:ext cx="1109167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5" name="Número 189"/>
          <p:cNvSpPr/>
          <p:nvPr/>
        </p:nvSpPr>
        <p:spPr>
          <a:xfrm>
            <a:off x="777240" y="4370832"/>
            <a:ext cx="512064" cy="51206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04</a:t>
            </a:r>
            <a:endParaRPr lang="en-US" sz="1600" dirty="0"/>
          </a:p>
        </p:txBody>
      </p:sp>
      <p:sp>
        <p:nvSpPr>
          <p:cNvPr id="16" name="Conclusión texto 190"/>
          <p:cNvSpPr txBox="1"/>
          <p:nvPr/>
        </p:nvSpPr>
        <p:spPr>
          <a:xfrm>
            <a:off x="1508760" y="4206240"/>
            <a:ext cx="9921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Liquidez sólida pero menor: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razón corriente de 5,69 (vs 6,72) y endeudamiento de 9,7% (vs 8,1%), por el anticipo del SIMPLE por pagar ($44.639.000).</a:t>
            </a:r>
            <a:endParaRPr lang="en-US" sz="1400" dirty="0"/>
          </a:p>
        </p:txBody>
      </p:sp>
      <p:sp>
        <p:nvSpPr>
          <p:cNvPr id="17" name="Conclusión 5 191"/>
          <p:cNvSpPr/>
          <p:nvPr/>
        </p:nvSpPr>
        <p:spPr>
          <a:xfrm>
            <a:off x="548640" y="5166360"/>
            <a:ext cx="1109167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8" name="Número 192"/>
          <p:cNvSpPr/>
          <p:nvPr/>
        </p:nvSpPr>
        <p:spPr>
          <a:xfrm>
            <a:off x="777240" y="5330952"/>
            <a:ext cx="512064" cy="51206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05</a:t>
            </a:r>
            <a:endParaRPr lang="en-US" sz="1600" dirty="0"/>
          </a:p>
        </p:txBody>
      </p:sp>
      <p:sp>
        <p:nvSpPr>
          <p:cNvPr id="19" name="Conclusión texto 193"/>
          <p:cNvSpPr txBox="1"/>
          <p:nvPr/>
        </p:nvSpPr>
        <p:spPr>
          <a:xfrm>
            <a:off x="1508760" y="5166360"/>
            <a:ext cx="9921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Patrimonio +0,3% y activo total +2,1%: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caja y bancos suben a $146.850.434 (+43%) y la utilidad acumulada del año llega a $197.347.425.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erre título 194"/>
          <p:cNvSpPr txBox="1"/>
          <p:nvPr/>
        </p:nvSpPr>
        <p:spPr>
          <a:xfrm>
            <a:off x="822960" y="18288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Gracias</a:t>
            </a:r>
            <a:endParaRPr lang="en-US" sz="8000" dirty="0"/>
          </a:p>
        </p:txBody>
      </p:sp>
      <p:sp>
        <p:nvSpPr>
          <p:cNvPr id="3" name="Cierre empresa 195"/>
          <p:cNvSpPr txBox="1"/>
          <p:nvPr/>
        </p:nvSpPr>
        <p:spPr>
          <a:xfrm>
            <a:off x="822960" y="3017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DD1EB"/>
                </a:solidFill>
              </a:rPr>
              <a:t>JURIDICA ABOGADOS Y CONSULTORES S.A.S.</a:t>
            </a:r>
            <a:endParaRPr lang="en-US" sz="2800" dirty="0"/>
          </a:p>
        </p:txBody>
      </p:sp>
      <p:sp>
        <p:nvSpPr>
          <p:cNvPr id="4" name="Cierre corte 196"/>
          <p:cNvSpPr txBox="1"/>
          <p:nvPr/>
        </p:nvSpPr>
        <p:spPr>
          <a:xfrm>
            <a:off x="822960" y="3566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Análisis Financiero · Corte a 31 de agosto de 2026</a:t>
            </a:r>
            <a:endParaRPr lang="en-US" sz="2000" dirty="0"/>
          </a:p>
        </p:txBody>
      </p:sp>
      <p:sp>
        <p:nvSpPr>
          <p:cNvPr id="5" name="Preparado por 197"/>
          <p:cNvSpPr txBox="1"/>
          <p:nvPr/>
        </p:nvSpPr>
        <p:spPr>
          <a:xfrm>
            <a:off x="822960" y="5989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1EB"/>
                </a:solidFill>
              </a:rPr>
              <a:t>Preparado por Asesorías Contables del Caribe S.A.S. (ACONTIS)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CONTIS">
      <a:dk1>
        <a:srgbClr val="1A2233"/>
      </a:dk1>
      <a:lt1>
        <a:srgbClr val="FFFFFF"/>
      </a:lt1>
      <a:dk2>
        <a:srgbClr val="011E66"/>
      </a:dk2>
      <a:lt2>
        <a:srgbClr val="F3F7FB"/>
      </a:lt2>
      <a:accent1>
        <a:srgbClr val="011E66"/>
      </a:accent1>
      <a:accent2>
        <a:srgbClr val="00AFBC"/>
      </a:accent2>
      <a:accent3>
        <a:srgbClr val="50C1E4"/>
      </a:accent3>
      <a:accent4>
        <a:srgbClr val="056875"/>
      </a:accent4>
      <a:accent5>
        <a:srgbClr val="E8A13D"/>
      </a:accent5>
      <a:accent6>
        <a:srgbClr val="C4453B"/>
      </a:accent6>
      <a:hlink>
        <a:srgbClr val="00AFBC"/>
      </a:hlink>
      <a:folHlink>
        <a:srgbClr val="056875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Asesorías Contables del Caribe S.A.S.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Financiero · Juridica Abogados y Consultores S.A.S.</dc:title>
  <dc:subject>PptxGenJS Presentation</dc:subject>
  <dc:creator>ACONTIS</dc:creator>
  <cp:lastModifiedBy>ACONTIS</cp:lastModifiedBy>
  <cp:revision>1</cp:revision>
  <dcterms:created xsi:type="dcterms:W3CDTF">2026-10-06T20:19:01Z</dcterms:created>
  <dcterms:modified xsi:type="dcterms:W3CDTF">2026-10-06T20:19:01Z</dcterms:modified>
</cp:coreProperties>
</file>