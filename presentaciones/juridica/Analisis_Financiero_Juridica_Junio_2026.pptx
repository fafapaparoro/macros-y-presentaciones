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286cf8e5-4e1e-2de4-c6fb-80abf0d066d4}">
          <p14:sldIdLst>
            <p14:sldId id="256"/>
            <p14:sldId id="257"/>
          </p14:sldIdLst>
        </p14:section>
        <p14:section name="1. Resumen ejecutivo" id="{e7b60086-aee3-3636-7697-b2027223e6f5}">
          <p14:sldIdLst>
            <p14:sldId id="258"/>
          </p14:sldIdLst>
        </p14:section>
        <p14:section name="2. Estado de resultados" id="{d2ba4159-d1d4-2007-c8ab-76f9ca6b1795}">
          <p14:sldIdLst>
            <p14:sldId id="259"/>
            <p14:sldId id="260"/>
            <p14:sldId id="261"/>
            <p14:sldId id="262"/>
            <p14:sldId id="263"/>
          </p14:sldIdLst>
        </p14:section>
        <p14:section name="3. Ingresos y gastos" id="{05833bde-2260-d59f-e7e0-528821b2685e}">
          <p14:sldIdLst>
            <p14:sldId id="264"/>
            <p14:sldId id="265"/>
            <p14:sldId id="266"/>
          </p14:sldIdLst>
        </p14:section>
        <p14:section name="4. Análisis de causas" id="{cbe2ef5c-34ff-ef59-142e-36af91f8d8fc}">
          <p14:sldIdLst>
            <p14:sldId id="267"/>
          </p14:sldIdLst>
        </p14:section>
        <p14:section name="5. Situación financiera" id="{e75ad26e-82d3-2489-d216-859a81185aef}">
          <p14:sldIdLst>
            <p14:sldId id="268"/>
            <p14:sldId id="269"/>
            <p14:sldId id="270"/>
          </p14:sldIdLst>
        </p14:section>
        <p14:section name="6. Conclusiones" id="{3f3df9dc-3507-1b82-fc41-709389316607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Mayo vs junio, en millones de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Junio 2026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&quot;$&quot;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Ingresos netos</c:v>
                  </c:pt>
                  <c:pt idx="1">
                    <c:v>Utilidad bruta</c:v>
                  </c:pt>
                  <c:pt idx="2">
                    <c:v>Gastos admon. y ventas</c:v>
                  </c:pt>
                  <c:pt idx="3">
                    <c:v>Utilidad neta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102.2</c:v>
                </c:pt>
                <c:pt idx="1">
                  <c:v>81.2</c:v>
                </c:pt>
                <c:pt idx="2">
                  <c:v>91.7</c:v>
                </c:pt>
                <c:pt idx="3">
                  <c:v>28.1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Mayo 2026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&quot;$&quot;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Ingresos netos</c:v>
                  </c:pt>
                  <c:pt idx="1">
                    <c:v>Utilidad bruta</c:v>
                  </c:pt>
                  <c:pt idx="2">
                    <c:v>Gastos admon. y ventas</c:v>
                  </c:pt>
                  <c:pt idx="3">
                    <c:v>Utilidad neta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91.1</c:v>
                </c:pt>
                <c:pt idx="1">
                  <c:v>69</c:v>
                </c:pt>
                <c:pt idx="2">
                  <c:v>23.9</c:v>
                </c:pt>
                <c:pt idx="3">
                  <c:v>70.6</c:v>
                </c:pt>
              </c:numCache>
            </c:numRef>
          </c:val>
        </c:ser>
        <c:dLbls>
          <c:numFmt formatCode="&quot;$&quot;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Utilidad neta mayo → junio, en millones de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multiLvlStrRef>
              <c:f>Sheet1!$A$2:$A$9</c:f>
              <c:multiLvlStrCache>
                <c:ptCount val="8"/>
                <c:lvl>
                  <c:pt idx="0">
                    <c:v>Utilidad mayo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junio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70.6</c:v>
                </c:pt>
                <c:pt idx="2">
                  <c:v>81.6</c:v>
                </c:pt>
                <c:pt idx="3">
                  <c:v>15</c:v>
                </c:pt>
                <c:pt idx="4">
                  <c:v>15</c:v>
                </c:pt>
                <c:pt idx="5">
                  <c:v>56.6</c:v>
                </c:pt>
                <c:pt idx="6">
                  <c:v>28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&quot;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mayo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junio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70.6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Aumenta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&quot;+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11E66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mayo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junio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11</c:v>
                </c:pt>
                <c:pt idx="2">
                  <c:v>1.2</c:v>
                </c:pt>
                <c:pt idx="3">
                  <c:v>0</c:v>
                </c:pt>
                <c:pt idx="4">
                  <c:v>76.1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Disminuye</c:v>
                </c:pt>
              </c:strCache>
            </c:strRef>
          </c:tx>
          <c:spPr>
            <a:solidFill>
              <a:srgbClr val="C4453B"/>
            </a:solidFill>
            <a:effectLst/>
          </c:spPr>
          <c:invertIfNegative val="0"/>
          <c:dLbls>
            <c:numFmt formatCode="&quot;−$&quot;#,##0.0&quot; M&quot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Utilidad mayo</c:v>
                  </c:pt>
                  <c:pt idx="1">
                    <c:v>Ingresos netos</c:v>
                  </c:pt>
                  <c:pt idx="2">
                    <c:v>Costo de operación</c:v>
                  </c:pt>
                  <c:pt idx="3">
                    <c:v>Gastos admon. y ventas</c:v>
                  </c:pt>
                  <c:pt idx="4">
                    <c:v>Ingresos no operacionales</c:v>
                  </c:pt>
                  <c:pt idx="5">
                    <c:v>Gastos no operacionales</c:v>
                  </c:pt>
                  <c:pt idx="6">
                    <c:v>Impuesto SIMPLE</c:v>
                  </c:pt>
                  <c:pt idx="7">
                    <c:v>Utilidad junio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67.8</c:v>
                </c:pt>
                <c:pt idx="4">
                  <c:v>0</c:v>
                </c:pt>
                <c:pt idx="5">
                  <c:v>34.5</c:v>
                </c:pt>
                <c:pt idx="6">
                  <c:v>28.6</c:v>
                </c:pt>
                <c:pt idx="7">
                  <c:v>0</c:v>
                </c:pt>
              </c:numCache>
            </c:numRef>
          </c:val>
        </c:ser>
        <c:dLbls>
          <c:numFmt formatCode="&quot;$&quot;#,##0.0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Ingresos y utilidad neta mensual (millones de pesos)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netos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63.16</c:v>
                </c:pt>
                <c:pt idx="1">
                  <c:v>70.89</c:v>
                </c:pt>
                <c:pt idx="2">
                  <c:v>74.42</c:v>
                </c:pt>
                <c:pt idx="3">
                  <c:v>73.52</c:v>
                </c:pt>
                <c:pt idx="4">
                  <c:v>91.14</c:v>
                </c:pt>
                <c:pt idx="5">
                  <c:v>102.17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Utilidad neta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14.37</c:v>
                </c:pt>
                <c:pt idx="1">
                  <c:v>1.66</c:v>
                </c:pt>
                <c:pt idx="2">
                  <c:v>34.37</c:v>
                </c:pt>
                <c:pt idx="3">
                  <c:v>18.44</c:v>
                </c:pt>
                <c:pt idx="4">
                  <c:v>70.62</c:v>
                </c:pt>
                <c:pt idx="5">
                  <c:v>28.07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C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% sobre ingresos netos · enero a junio 2026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 bruto</c:v>
                </c:pt>
              </c:strCache>
            </c:strRef>
          </c:tx>
          <c:spPr>
            <a:solidFill>
              <a:srgbClr val="011E66"/>
            </a:solidFill>
            <a:ln w="31750" cap="flat">
              <a:solidFill>
                <a:srgbClr val="011E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11E66"/>
              </a:solidFill>
              <a:ln w="9525" cap="flat">
                <a:solidFill>
                  <a:srgbClr val="011E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69.2</c:v>
                </c:pt>
                <c:pt idx="1">
                  <c:v>72.8</c:v>
                </c:pt>
                <c:pt idx="2">
                  <c:v>73.6</c:v>
                </c:pt>
                <c:pt idx="3">
                  <c:v>72.4</c:v>
                </c:pt>
                <c:pt idx="4">
                  <c:v>75.7</c:v>
                </c:pt>
                <c:pt idx="5">
                  <c:v>79.5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operacional</c:v>
                </c:pt>
              </c:strCache>
            </c:strRef>
          </c:tx>
          <c:spPr>
            <a:solidFill>
              <a:srgbClr val="00AFBC"/>
            </a:solidFill>
            <a:ln w="31750" cap="flat">
              <a:solidFill>
                <a:srgbClr val="00AFB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AFBC"/>
              </a:solidFill>
              <a:ln w="9525" cap="flat">
                <a:solidFill>
                  <a:srgbClr val="00AFB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23.9</c:v>
                </c:pt>
                <c:pt idx="1">
                  <c:v>21.7</c:v>
                </c:pt>
                <c:pt idx="2">
                  <c:v>47.1</c:v>
                </c:pt>
                <c:pt idx="3">
                  <c:v>-0.4</c:v>
                </c:pt>
                <c:pt idx="4">
                  <c:v>49.4</c:v>
                </c:pt>
                <c:pt idx="5">
                  <c:v>-10.2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Margen neto</c:v>
                </c:pt>
              </c:strCache>
            </c:strRef>
          </c:tx>
          <c:spPr>
            <a:solidFill>
              <a:srgbClr val="E8A13D"/>
            </a:solidFill>
            <a:ln w="31750" cap="flat">
              <a:solidFill>
                <a:srgbClr val="E8A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A13D"/>
              </a:solidFill>
              <a:ln w="9525" cap="flat">
                <a:solidFill>
                  <a:srgbClr val="E8A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22.7</c:v>
                </c:pt>
                <c:pt idx="1">
                  <c:v>2.3</c:v>
                </c:pt>
                <c:pt idx="2">
                  <c:v>46.2</c:v>
                </c:pt>
                <c:pt idx="3">
                  <c:v>25.1</c:v>
                </c:pt>
                <c:pt idx="4">
                  <c:v>77.5</c:v>
                </c:pt>
                <c:pt idx="5">
                  <c:v>27.5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20"/>
        </c:scaling>
        <c:delete val="0"/>
        <c:axPos val="l"/>
        <c:majorGridlines>
          <c:spPr>
            <a:ln w="9525" cap="flat">
              <a:solidFill>
                <a:srgbClr val="E6EC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11E66"/>
                </a:solidFill>
                <a:latin typeface="+mn-lt"/>
              </a:rPr>
              <a:t>Mayo vs junio, en millones de pesos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Junio 2026</c:v>
                </c:pt>
              </c:strCache>
            </c:strRef>
          </c:tx>
          <c:spPr>
            <a:solidFill>
              <a:srgbClr val="011E6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Gastos Unión Temporal</c:v>
                  </c:pt>
                  <c:pt idx="1">
                    <c:v>Honorarios</c:v>
                  </c:pt>
                  <c:pt idx="2">
                    <c:v>Servicios</c:v>
                  </c:pt>
                  <c:pt idx="3">
                    <c:v>Contribuciones y afiliaciones</c:v>
                  </c:pt>
                  <c:pt idx="4">
                    <c:v>Depreciaciones</c:v>
                  </c:pt>
                  <c:pt idx="5">
                    <c:v>Amortizaciones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63.6</c:v>
                </c:pt>
                <c:pt idx="1">
                  <c:v>4.7</c:v>
                </c:pt>
                <c:pt idx="2">
                  <c:v>3.3</c:v>
                </c:pt>
                <c:pt idx="3">
                  <c:v>3.2</c:v>
                </c:pt>
                <c:pt idx="4">
                  <c:v>2.2</c:v>
                </c:pt>
                <c:pt idx="5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Mayo 2026</c:v>
                </c:pt>
              </c:strCache>
            </c:strRef>
          </c:tx>
          <c:spPr>
            <a:solidFill>
              <a:srgbClr val="00AFB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Gastos Unión Temporal</c:v>
                  </c:pt>
                  <c:pt idx="1">
                    <c:v>Honorarios</c:v>
                  </c:pt>
                  <c:pt idx="2">
                    <c:v>Servicios</c:v>
                  </c:pt>
                  <c:pt idx="3">
                    <c:v>Contribuciones y afiliaciones</c:v>
                  </c:pt>
                  <c:pt idx="4">
                    <c:v>Depreciaciones</c:v>
                  </c:pt>
                  <c:pt idx="5">
                    <c:v>Amortizaciones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3.3</c:v>
                </c:pt>
                <c:pt idx="2">
                  <c:v>0.9</c:v>
                </c:pt>
                <c:pt idx="3">
                  <c:v>2.8</c:v>
                </c:pt>
                <c:pt idx="4">
                  <c:v>2.4</c:v>
                </c:pt>
                <c:pt idx="5">
                  <c:v>0.4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1" i="0" strike="noStrike" sz="10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6E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5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11E66"/>
                </a:solidFill>
                <a:latin typeface="+mn-lt"/>
              </a:rPr>
              <a:t>En qué está invertido el activo · junio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 qué está invertido el activo · junio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1E6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AFB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Activo corriente</c:v>
                </c:pt>
                <c:pt idx="1">
                  <c:v>Activo no corriente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1067.4</c:v>
                </c:pt>
                <c:pt idx="1">
                  <c:v>936.6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11E6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11E66"/>
                </a:solidFill>
                <a:latin typeface="+mn-lt"/>
              </a:rPr>
              <a:t>Con qué se financia la compañía · junio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 qué se financia la compañía · junio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1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0C1E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00AFBC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Pasivo corriente</c:v>
                </c:pt>
                <c:pt idx="1">
                  <c:v>Pasivo no corriente</c:v>
                </c:pt>
                <c:pt idx="2">
                  <c:v>Patrimonio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208.2</c:v>
                </c:pt>
                <c:pt idx="1">
                  <c:v>6.3</c:v>
                </c:pt>
                <c:pt idx="2">
                  <c:v>1789.5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2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011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CROS-Y-PRESENTACIONES/assets/acontis/fondo_oficina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MACROS-Y-PRESENTACIONES/assets/acontis/logo_acontis_fondo_oscu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669280"/>
            <a:ext cx="2487168" cy="85953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8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user/MACROS-Y-PRESENTACIONES/assets/acontis/logo_acontis_fondo_cl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72784"/>
            <a:ext cx="1188720" cy="4114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966960" y="64282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</a:rPr>
              <a:t>Página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 1"/>
          <p:cNvSpPr txBox="1"/>
          <p:nvPr/>
        </p:nvSpPr>
        <p:spPr>
          <a:xfrm>
            <a:off x="822960" y="1143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Análisis</a:t>
            </a:r>
            <a:endParaRPr lang="en-US" sz="8000" dirty="0"/>
          </a:p>
        </p:txBody>
      </p:sp>
      <p:sp>
        <p:nvSpPr>
          <p:cNvPr id="3" name="Título 2 2"/>
          <p:cNvSpPr txBox="1"/>
          <p:nvPr/>
        </p:nvSpPr>
        <p:spPr>
          <a:xfrm>
            <a:off x="822960" y="2057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DD1EB"/>
                </a:solidFill>
              </a:rPr>
              <a:t>Financiero</a:t>
            </a:r>
            <a:endParaRPr lang="en-US" sz="8000" dirty="0"/>
          </a:p>
        </p:txBody>
      </p:sp>
      <p:sp>
        <p:nvSpPr>
          <p:cNvPr id="4" name="Empresa 3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Juridica Abogados y Consultores S.A.S.</a:t>
            </a:r>
            <a:endParaRPr lang="en-US" sz="3200" dirty="0"/>
          </a:p>
        </p:txBody>
      </p:sp>
      <p:sp>
        <p:nvSpPr>
          <p:cNvPr id="5" name="NIT 4"/>
          <p:cNvSpPr txBox="1"/>
          <p:nvPr/>
        </p:nvSpPr>
        <p:spPr>
          <a:xfrm>
            <a:off x="822960" y="3822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1EB"/>
                </a:solidFill>
              </a:rPr>
              <a:t>NIT 900.944.440-3  -  Cifras en pesos colombianos</a:t>
            </a:r>
            <a:endParaRPr lang="en-US" sz="1800" dirty="0"/>
          </a:p>
        </p:txBody>
      </p:sp>
      <p:sp>
        <p:nvSpPr>
          <p:cNvPr id="6" name="Corte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Corte a 30 de junio de 2026 · Comparativo mensual mayo – junio 2026</a:t>
            </a:r>
            <a:endParaRPr lang="en-US" sz="2800" dirty="0"/>
          </a:p>
        </p:txBody>
      </p:sp>
      <p:sp>
        <p:nvSpPr>
          <p:cNvPr id="7" name="Preparado por 6"/>
          <p:cNvSpPr txBox="1"/>
          <p:nvPr/>
        </p:nvSpPr>
        <p:spPr>
          <a:xfrm>
            <a:off x="82296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1EB"/>
                </a:solidFill>
              </a:rPr>
              <a:t>Preparado por Asesorías Contables del Caribe S.A.S. (ACONTIS)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ÍNDICE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CONTENIDO</a:t>
            </a:r>
            <a:endParaRPr lang="en-US" sz="3000" dirty="0"/>
          </a:p>
        </p:txBody>
      </p:sp>
      <p:sp>
        <p:nvSpPr>
          <p:cNvPr id="4" name="Corte 7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sp>
        <p:nvSpPr>
          <p:cNvPr id="5" name="Índice 1 8"/>
          <p:cNvSpPr/>
          <p:nvPr/>
        </p:nvSpPr>
        <p:spPr>
          <a:xfrm>
            <a:off x="548640" y="146304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9"/>
          <p:cNvSpPr/>
          <p:nvPr/>
        </p:nvSpPr>
        <p:spPr>
          <a:xfrm>
            <a:off x="822960" y="181965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Índice título 10"/>
          <p:cNvSpPr txBox="1"/>
          <p:nvPr/>
        </p:nvSpPr>
        <p:spPr>
          <a:xfrm>
            <a:off x="1600200" y="173736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Resumen ejecutivo</a:t>
            </a:r>
            <a:endParaRPr lang="en-US" sz="2400" dirty="0"/>
          </a:p>
        </p:txBody>
      </p:sp>
      <p:sp>
        <p:nvSpPr>
          <p:cNvPr id="8" name="Índice detalle 11"/>
          <p:cNvSpPr txBox="1"/>
          <p:nvPr/>
        </p:nvSpPr>
        <p:spPr>
          <a:xfrm>
            <a:off x="1600200" y="217627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Cifras clave y la historia del mes</a:t>
            </a:r>
            <a:endParaRPr lang="en-US" sz="1400" dirty="0"/>
          </a:p>
        </p:txBody>
      </p:sp>
      <p:sp>
        <p:nvSpPr>
          <p:cNvPr id="9" name="Índice 2 12"/>
          <p:cNvSpPr/>
          <p:nvPr/>
        </p:nvSpPr>
        <p:spPr>
          <a:xfrm>
            <a:off x="6190488" y="146304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0" name="Número 13"/>
          <p:cNvSpPr/>
          <p:nvPr/>
        </p:nvSpPr>
        <p:spPr>
          <a:xfrm>
            <a:off x="6464808" y="181965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Índice título 14"/>
          <p:cNvSpPr txBox="1"/>
          <p:nvPr/>
        </p:nvSpPr>
        <p:spPr>
          <a:xfrm>
            <a:off x="7242048" y="173736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Estado de resultados</a:t>
            </a:r>
            <a:endParaRPr lang="en-US" sz="2400" dirty="0"/>
          </a:p>
        </p:txBody>
      </p:sp>
      <p:sp>
        <p:nvSpPr>
          <p:cNvPr id="12" name="Índice detalle 15"/>
          <p:cNvSpPr txBox="1"/>
          <p:nvPr/>
        </p:nvSpPr>
        <p:spPr>
          <a:xfrm>
            <a:off x="7242048" y="217627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Cuadro de mando, puente de utilidad y márgenes</a:t>
            </a:r>
            <a:endParaRPr lang="en-US" sz="1400" dirty="0"/>
          </a:p>
        </p:txBody>
      </p:sp>
      <p:sp>
        <p:nvSpPr>
          <p:cNvPr id="13" name="Índice 3 16"/>
          <p:cNvSpPr/>
          <p:nvPr/>
        </p:nvSpPr>
        <p:spPr>
          <a:xfrm>
            <a:off x="548640" y="301752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4" name="Número 17"/>
          <p:cNvSpPr/>
          <p:nvPr/>
        </p:nvSpPr>
        <p:spPr>
          <a:xfrm>
            <a:off x="822960" y="337413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Índice título 18"/>
          <p:cNvSpPr txBox="1"/>
          <p:nvPr/>
        </p:nvSpPr>
        <p:spPr>
          <a:xfrm>
            <a:off x="1600200" y="32918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Ingresos y gastos</a:t>
            </a:r>
            <a:endParaRPr lang="en-US" sz="2400" dirty="0"/>
          </a:p>
        </p:txBody>
      </p:sp>
      <p:sp>
        <p:nvSpPr>
          <p:cNvPr id="16" name="Índice detalle 19"/>
          <p:cNvSpPr txBox="1"/>
          <p:nvPr/>
        </p:nvSpPr>
        <p:spPr>
          <a:xfrm>
            <a:off x="1600200" y="37307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De ingreso bruto a neto y estructura del gasto</a:t>
            </a:r>
            <a:endParaRPr lang="en-US" sz="1400" dirty="0"/>
          </a:p>
        </p:txBody>
      </p:sp>
      <p:sp>
        <p:nvSpPr>
          <p:cNvPr id="17" name="Índice 4 20"/>
          <p:cNvSpPr/>
          <p:nvPr/>
        </p:nvSpPr>
        <p:spPr>
          <a:xfrm>
            <a:off x="6190488" y="301752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Número 21"/>
          <p:cNvSpPr/>
          <p:nvPr/>
        </p:nvSpPr>
        <p:spPr>
          <a:xfrm>
            <a:off x="6464808" y="337413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Índice título 22"/>
          <p:cNvSpPr txBox="1"/>
          <p:nvPr/>
        </p:nvSpPr>
        <p:spPr>
          <a:xfrm>
            <a:off x="7242048" y="329184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Análisis de causas</a:t>
            </a:r>
            <a:endParaRPr lang="en-US" sz="2400" dirty="0"/>
          </a:p>
        </p:txBody>
      </p:sp>
      <p:sp>
        <p:nvSpPr>
          <p:cNvPr id="20" name="Índice detalle 23"/>
          <p:cNvSpPr txBox="1"/>
          <p:nvPr/>
        </p:nvSpPr>
        <p:spPr>
          <a:xfrm>
            <a:off x="7242048" y="37307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Tres factores detrás de la caída de junio</a:t>
            </a:r>
            <a:endParaRPr lang="en-US" sz="1400" dirty="0"/>
          </a:p>
        </p:txBody>
      </p:sp>
      <p:sp>
        <p:nvSpPr>
          <p:cNvPr id="21" name="Índice 5 24"/>
          <p:cNvSpPr/>
          <p:nvPr/>
        </p:nvSpPr>
        <p:spPr>
          <a:xfrm>
            <a:off x="548640" y="457200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Número 25"/>
          <p:cNvSpPr/>
          <p:nvPr/>
        </p:nvSpPr>
        <p:spPr>
          <a:xfrm>
            <a:off x="822960" y="492861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Índice título 26"/>
          <p:cNvSpPr txBox="1"/>
          <p:nvPr/>
        </p:nvSpPr>
        <p:spPr>
          <a:xfrm>
            <a:off x="1600200" y="484632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Situación financiera</a:t>
            </a:r>
            <a:endParaRPr lang="en-US" sz="2400" dirty="0"/>
          </a:p>
        </p:txBody>
      </p:sp>
      <p:sp>
        <p:nvSpPr>
          <p:cNvPr id="24" name="Índice detalle 27"/>
          <p:cNvSpPr txBox="1"/>
          <p:nvPr/>
        </p:nvSpPr>
        <p:spPr>
          <a:xfrm>
            <a:off x="1600200" y="528523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Balance comparativo e indicadores clave</a:t>
            </a:r>
            <a:endParaRPr lang="en-US" sz="1400" dirty="0"/>
          </a:p>
        </p:txBody>
      </p:sp>
      <p:sp>
        <p:nvSpPr>
          <p:cNvPr id="25" name="Índice 6 28"/>
          <p:cNvSpPr/>
          <p:nvPr/>
        </p:nvSpPr>
        <p:spPr>
          <a:xfrm>
            <a:off x="6190488" y="4572000"/>
            <a:ext cx="5449824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6" name="Número 29"/>
          <p:cNvSpPr/>
          <p:nvPr/>
        </p:nvSpPr>
        <p:spPr>
          <a:xfrm>
            <a:off x="6464808" y="4928616"/>
            <a:ext cx="566928" cy="56692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7" name="Índice título 30"/>
          <p:cNvSpPr txBox="1"/>
          <p:nvPr/>
        </p:nvSpPr>
        <p:spPr>
          <a:xfrm>
            <a:off x="7242048" y="4846320"/>
            <a:ext cx="4215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Conclusiones</a:t>
            </a:r>
            <a:endParaRPr lang="en-US" sz="2400" dirty="0"/>
          </a:p>
        </p:txBody>
      </p:sp>
      <p:sp>
        <p:nvSpPr>
          <p:cNvPr id="28" name="Índice detalle 31"/>
          <p:cNvSpPr txBox="1"/>
          <p:nvPr/>
        </p:nvSpPr>
        <p:spPr>
          <a:xfrm>
            <a:off x="7242048" y="528523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</a:rPr>
              <a:t>Hallazgos del mes y prioridades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 · RESUMEN EJECUTIVO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RESUMEN EJECUTIVO - MAYO VS JUNIO 2026</a:t>
            </a:r>
            <a:endParaRPr lang="en-US" sz="3000" dirty="0"/>
          </a:p>
        </p:txBody>
      </p:sp>
      <p:sp>
        <p:nvSpPr>
          <p:cNvPr id="4" name="Corte 32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sp>
        <p:nvSpPr>
          <p:cNvPr id="5" name="KPI INGRESOS NETOS 33"/>
          <p:cNvSpPr/>
          <p:nvPr/>
        </p:nvSpPr>
        <p:spPr>
          <a:xfrm>
            <a:off x="548640" y="1371600"/>
            <a:ext cx="26334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KPI etiqueta 34"/>
          <p:cNvSpPr txBox="1"/>
          <p:nvPr/>
        </p:nvSpPr>
        <p:spPr>
          <a:xfrm>
            <a:off x="777240" y="1600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INGRESOS NETOS</a:t>
            </a:r>
            <a:endParaRPr lang="en-US" sz="1300" dirty="0"/>
          </a:p>
        </p:txBody>
      </p:sp>
      <p:sp>
        <p:nvSpPr>
          <p:cNvPr id="7" name="KPI valor 35"/>
          <p:cNvSpPr txBox="1"/>
          <p:nvPr/>
        </p:nvSpPr>
        <p:spPr>
          <a:xfrm>
            <a:off x="777240" y="19019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$102,2 M</a:t>
            </a:r>
            <a:endParaRPr lang="en-US" sz="3200" dirty="0"/>
          </a:p>
        </p:txBody>
      </p:sp>
      <p:sp>
        <p:nvSpPr>
          <p:cNvPr id="8" name="KPI detalle 36"/>
          <p:cNvSpPr txBox="1"/>
          <p:nvPr/>
        </p:nvSpPr>
        <p:spPr>
          <a:xfrm>
            <a:off x="777240" y="2505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Mayo: $91,1 M</a:t>
            </a:r>
            <a:endParaRPr lang="en-US" sz="1200" dirty="0"/>
          </a:p>
        </p:txBody>
      </p:sp>
      <p:sp>
        <p:nvSpPr>
          <p:cNvPr id="9" name="KPI variación 37"/>
          <p:cNvSpPr txBox="1"/>
          <p:nvPr/>
        </p:nvSpPr>
        <p:spPr>
          <a:xfrm>
            <a:off x="777240" y="27614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▲ +12,1% vs. mayo</a:t>
            </a:r>
            <a:endParaRPr lang="en-US" sz="1200" dirty="0"/>
          </a:p>
        </p:txBody>
      </p:sp>
      <p:sp>
        <p:nvSpPr>
          <p:cNvPr id="10" name="KPI ACTIVO TOTAL 38"/>
          <p:cNvSpPr/>
          <p:nvPr/>
        </p:nvSpPr>
        <p:spPr>
          <a:xfrm>
            <a:off x="3364992" y="1371600"/>
            <a:ext cx="26334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KPI etiqueta 39"/>
          <p:cNvSpPr txBox="1"/>
          <p:nvPr/>
        </p:nvSpPr>
        <p:spPr>
          <a:xfrm>
            <a:off x="3593592" y="1600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ACTIVO TOTAL</a:t>
            </a:r>
            <a:endParaRPr lang="en-US" sz="1300" dirty="0"/>
          </a:p>
        </p:txBody>
      </p:sp>
      <p:sp>
        <p:nvSpPr>
          <p:cNvPr id="12" name="KPI valor 40"/>
          <p:cNvSpPr txBox="1"/>
          <p:nvPr/>
        </p:nvSpPr>
        <p:spPr>
          <a:xfrm>
            <a:off x="3593592" y="19019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$2.004,0 M</a:t>
            </a:r>
            <a:endParaRPr lang="en-US" sz="3200" dirty="0"/>
          </a:p>
        </p:txBody>
      </p:sp>
      <p:sp>
        <p:nvSpPr>
          <p:cNvPr id="13" name="KPI detalle 41"/>
          <p:cNvSpPr txBox="1"/>
          <p:nvPr/>
        </p:nvSpPr>
        <p:spPr>
          <a:xfrm>
            <a:off x="3593592" y="2505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Mayo: $1.982,6 M</a:t>
            </a:r>
            <a:endParaRPr lang="en-US" sz="1200" dirty="0"/>
          </a:p>
        </p:txBody>
      </p:sp>
      <p:sp>
        <p:nvSpPr>
          <p:cNvPr id="14" name="KPI variación 42"/>
          <p:cNvSpPr txBox="1"/>
          <p:nvPr/>
        </p:nvSpPr>
        <p:spPr>
          <a:xfrm>
            <a:off x="3593592" y="27614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▲ +1,1% vs. mayo</a:t>
            </a:r>
            <a:endParaRPr lang="en-US" sz="1200" dirty="0"/>
          </a:p>
        </p:txBody>
      </p:sp>
      <p:sp>
        <p:nvSpPr>
          <p:cNvPr id="15" name="KPI PATRIMONIO 43"/>
          <p:cNvSpPr/>
          <p:nvPr/>
        </p:nvSpPr>
        <p:spPr>
          <a:xfrm>
            <a:off x="6181344" y="1371600"/>
            <a:ext cx="263347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KPI etiqueta 44"/>
          <p:cNvSpPr txBox="1"/>
          <p:nvPr/>
        </p:nvSpPr>
        <p:spPr>
          <a:xfrm>
            <a:off x="6409944" y="1600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PATRIMONIO</a:t>
            </a:r>
            <a:endParaRPr lang="en-US" sz="1300" dirty="0"/>
          </a:p>
        </p:txBody>
      </p:sp>
      <p:sp>
        <p:nvSpPr>
          <p:cNvPr id="17" name="KPI valor 45"/>
          <p:cNvSpPr txBox="1"/>
          <p:nvPr/>
        </p:nvSpPr>
        <p:spPr>
          <a:xfrm>
            <a:off x="6409944" y="19019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$1.789,5 M</a:t>
            </a:r>
            <a:endParaRPr lang="en-US" sz="3200" dirty="0"/>
          </a:p>
        </p:txBody>
      </p:sp>
      <p:sp>
        <p:nvSpPr>
          <p:cNvPr id="18" name="KPI detalle 46"/>
          <p:cNvSpPr txBox="1"/>
          <p:nvPr/>
        </p:nvSpPr>
        <p:spPr>
          <a:xfrm>
            <a:off x="6409944" y="2505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Mayo: $1.761,4 M</a:t>
            </a:r>
            <a:endParaRPr lang="en-US" sz="1200" dirty="0"/>
          </a:p>
        </p:txBody>
      </p:sp>
      <p:sp>
        <p:nvSpPr>
          <p:cNvPr id="19" name="KPI variación 47"/>
          <p:cNvSpPr txBox="1"/>
          <p:nvPr/>
        </p:nvSpPr>
        <p:spPr>
          <a:xfrm>
            <a:off x="6409944" y="27614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▲ +1,6% vs. mayo</a:t>
            </a:r>
            <a:endParaRPr lang="en-US" sz="1200" dirty="0"/>
          </a:p>
        </p:txBody>
      </p:sp>
      <p:sp>
        <p:nvSpPr>
          <p:cNvPr id="20" name="KPI UTILIDAD NETA 48"/>
          <p:cNvSpPr/>
          <p:nvPr/>
        </p:nvSpPr>
        <p:spPr>
          <a:xfrm>
            <a:off x="8997696" y="1371600"/>
            <a:ext cx="2633472" cy="1783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KPI etiqueta 49"/>
          <p:cNvSpPr txBox="1"/>
          <p:nvPr/>
        </p:nvSpPr>
        <p:spPr>
          <a:xfrm>
            <a:off x="9226296" y="1600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UTILIDAD NETA</a:t>
            </a:r>
            <a:endParaRPr lang="en-US" sz="1300" dirty="0"/>
          </a:p>
        </p:txBody>
      </p:sp>
      <p:sp>
        <p:nvSpPr>
          <p:cNvPr id="22" name="KPI valor 50"/>
          <p:cNvSpPr txBox="1"/>
          <p:nvPr/>
        </p:nvSpPr>
        <p:spPr>
          <a:xfrm>
            <a:off x="9226296" y="19019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$28,1 M</a:t>
            </a:r>
            <a:endParaRPr lang="en-US" sz="3200" dirty="0"/>
          </a:p>
        </p:txBody>
      </p:sp>
      <p:sp>
        <p:nvSpPr>
          <p:cNvPr id="23" name="KPI detalle 51"/>
          <p:cNvSpPr txBox="1"/>
          <p:nvPr/>
        </p:nvSpPr>
        <p:spPr>
          <a:xfrm>
            <a:off x="9226296" y="2505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Margen neto 27,5%</a:t>
            </a:r>
            <a:endParaRPr lang="en-US" sz="1200" dirty="0"/>
          </a:p>
        </p:txBody>
      </p:sp>
      <p:sp>
        <p:nvSpPr>
          <p:cNvPr id="24" name="KPI variación 52"/>
          <p:cNvSpPr txBox="1"/>
          <p:nvPr/>
        </p:nvSpPr>
        <p:spPr>
          <a:xfrm>
            <a:off x="9226296" y="276148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Mayo: $70,6 M  (−60,2%)</a:t>
            </a:r>
            <a:endParaRPr lang="en-US" sz="1200" dirty="0"/>
          </a:p>
        </p:txBody>
      </p:sp>
      <p:graphicFrame>
        <p:nvGraphicFramePr>
          <p:cNvPr id="25" name="Gráfico comparativo" descr=""/>
          <p:cNvGraphicFramePr/>
          <p:nvPr/>
        </p:nvGraphicFramePr>
        <p:xfrm>
          <a:off x="548640" y="3383280"/>
          <a:ext cx="69494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Lectura del mes 53"/>
          <p:cNvSpPr/>
          <p:nvPr/>
        </p:nvSpPr>
        <p:spPr>
          <a:xfrm>
            <a:off x="7726680" y="3383280"/>
            <a:ext cx="3904488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7" name="Lectura título 54"/>
          <p:cNvSpPr txBox="1"/>
          <p:nvPr/>
        </p:nvSpPr>
        <p:spPr>
          <a:xfrm>
            <a:off x="8001000" y="3611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La historia del mes</a:t>
            </a:r>
            <a:endParaRPr lang="en-US" sz="1800" dirty="0"/>
          </a:p>
        </p:txBody>
      </p:sp>
      <p:sp>
        <p:nvSpPr>
          <p:cNvPr id="28" name="Lectura texto 55"/>
          <p:cNvSpPr txBox="1"/>
          <p:nvPr/>
        </p:nvSpPr>
        <p:spPr>
          <a:xfrm>
            <a:off x="8001000" y="4041648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Los ingresos netos crecieron 12,1% en junio, pero la utilidad neta cayó 60,2%.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Tres factores no operativos explican la diferencia: el fin del ingreso financiero extraordinario de mayo, la liquidación bimestral de la Unión Temporal EVB Abogados y el pago del régimen SIMPLE.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Análisis comparativo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Estado de Resultados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MAYO VS JUNIO 2026 · EVOLUCIÓN DEL SEMESTRE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CUADRO DE MANDO - COMPARATIVO INTEGRAL</a:t>
            </a:r>
            <a:endParaRPr lang="en-US" sz="3000" dirty="0"/>
          </a:p>
        </p:txBody>
      </p:sp>
      <p:sp>
        <p:nvSpPr>
          <p:cNvPr id="4" name="Corte 56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6" name="Tabla cuadro de man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737360"/>
                <a:gridCol w="1737360"/>
                <a:gridCol w="173736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JUNIO 2026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MAYO 2026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$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 DE RESULTADO INTEGRAL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INGRESOS NETOS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102,2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91,1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+11,0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+12,1%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UTILIDAD BRUTA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81,2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69,0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+12,3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+17,8%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Gastos de administración y ventas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91,7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23,9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+67,8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+283,5%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RESULTADO OPERACIONAL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-10,5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45,1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-55,5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−123,2%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Resultado antes de impuesto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56,7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70,6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-13,9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−19,7%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UTILIDAD NETA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28,1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70,6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-42,5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−60,2%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 DE SITUACIÓN FINANCIERA</a:t>
                      </a:r>
                      <a:endParaRPr lang="en-US" sz="11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ACTIVO TOTAL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2.004,0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1.982,6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+21,4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+1,1%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PASIVO TOTAL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214,5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221,2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-6,7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−3,0%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PATRIMONIO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1.789,5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1.761,4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+28,1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+1,6%</a:t>
                      </a:r>
                      <a:endParaRPr lang="en-US" sz="12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a de color 57"/>
          <p:cNvSpPr txBox="1"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2"/>
                </a:solidFill>
              </a:rPr>
              <a:t>Cifras en millones de pesos colombianos.   Código de color:  turquesa = favorable  ·  rojo = desfavorable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PUENTE DE UTILIDAD - DE MAYO A JUNIO</a:t>
            </a:r>
            <a:endParaRPr lang="en-US" sz="3000" dirty="0"/>
          </a:p>
        </p:txBody>
      </p:sp>
      <p:sp>
        <p:nvSpPr>
          <p:cNvPr id="4" name="Corte 58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5" name="Gráfico puente de utilidad" descr=""/>
          <p:cNvGraphicFramePr/>
          <p:nvPr/>
        </p:nvGraphicFramePr>
        <p:xfrm>
          <a:off x="548640" y="1325880"/>
          <a:ext cx="754380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ura del puente 59"/>
          <p:cNvSpPr/>
          <p:nvPr/>
        </p:nvSpPr>
        <p:spPr>
          <a:xfrm>
            <a:off x="8321040" y="1325880"/>
            <a:ext cx="3310128" cy="4800600"/>
          </a:xfrm>
          <a:prstGeom prst="roundRect">
            <a:avLst>
              <a:gd name="adj" fmla="val 331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Puente título 60"/>
          <p:cNvSpPr txBox="1"/>
          <p:nvPr/>
        </p:nvSpPr>
        <p:spPr>
          <a:xfrm>
            <a:off x="8549640" y="15544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Lectura del puente</a:t>
            </a:r>
            <a:endParaRPr lang="en-US" sz="1800" dirty="0"/>
          </a:p>
        </p:txBody>
      </p:sp>
      <p:sp>
        <p:nvSpPr>
          <p:cNvPr id="8" name="Puente texto 61"/>
          <p:cNvSpPr txBox="1"/>
          <p:nvPr/>
        </p:nvSpPr>
        <p:spPr>
          <a:xfrm>
            <a:off x="8549640" y="2011680"/>
            <a:ext cx="2880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Operación: +$12,2 M.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Crecen los ingresos netos en $11,0 M y baja el costo de operación en $1,2 M.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Gastos admon.: −$67,8 M.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 ellos, $63,6 M son gastos de la Unión Temporal.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No operacional: +$41,6 M neto.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Ingresos de $76,1 M frente a gastos de $34,5 M.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Impuesto SIMPLE: −$28,6 M.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Pago bimestral que mayo no tuvo.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EVOLUCIÓN MENSUAL - ENERO A JUNIO 2026</a:t>
            </a:r>
            <a:endParaRPr lang="en-US" sz="3000" dirty="0"/>
          </a:p>
        </p:txBody>
      </p:sp>
      <p:sp>
        <p:nvSpPr>
          <p:cNvPr id="4" name="Corte 62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5" name="Gráfico evolución mensual" descr=""/>
          <p:cNvGraphicFramePr/>
          <p:nvPr/>
        </p:nvGraphicFramePr>
        <p:xfrm>
          <a:off x="548640" y="132588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a evolu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371600"/>
          <a:ext cx="3904488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69848"/>
                <a:gridCol w="1069848"/>
                <a:gridCol w="9875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INGRESOS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UTILIDAD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MARGEN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63,2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22,7%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Feb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70,9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2,3%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74,4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46,2%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Abr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73,5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25,1%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May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91,1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70,6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77,5%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Jun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102,2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28,1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27,5%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475,3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167,5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35,2%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Tendencia 63"/>
          <p:cNvSpPr/>
          <p:nvPr/>
        </p:nvSpPr>
        <p:spPr>
          <a:xfrm>
            <a:off x="7726680" y="4343400"/>
            <a:ext cx="390448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Tendencia valor 64"/>
          <p:cNvSpPr txBox="1"/>
          <p:nvPr/>
        </p:nvSpPr>
        <p:spPr>
          <a:xfrm>
            <a:off x="7955280" y="4498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+61,8%</a:t>
            </a:r>
            <a:endParaRPr lang="en-US" sz="3200" dirty="0"/>
          </a:p>
        </p:txBody>
      </p:sp>
      <p:sp>
        <p:nvSpPr>
          <p:cNvPr id="9" name="Tendencia texto 65"/>
          <p:cNvSpPr txBox="1"/>
          <p:nvPr/>
        </p:nvSpPr>
        <p:spPr>
          <a:xfrm>
            <a:off x="7955280" y="5074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Crecimiento de los ingresos netos de enero a junio. La utilidad neta fue más volátil por factores no operativos puntuales en cada 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 · ESTADO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RENTABILIDAD - MÁRGENES DEL SEMESTRE</a:t>
            </a:r>
            <a:endParaRPr lang="en-US" sz="3000" dirty="0"/>
          </a:p>
        </p:txBody>
      </p:sp>
      <p:sp>
        <p:nvSpPr>
          <p:cNvPr id="4" name="Corte 66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5" name="Gráfico márgenes" descr=""/>
          <p:cNvGraphicFramePr/>
          <p:nvPr/>
        </p:nvGraphicFramePr>
        <p:xfrm>
          <a:off x="548640" y="1325880"/>
          <a:ext cx="78638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PI MARGEN BRUTO 67"/>
          <p:cNvSpPr/>
          <p:nvPr/>
        </p:nvSpPr>
        <p:spPr>
          <a:xfrm>
            <a:off x="8641080" y="1325880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KPI etiqueta 68"/>
          <p:cNvSpPr txBox="1"/>
          <p:nvPr/>
        </p:nvSpPr>
        <p:spPr>
          <a:xfrm>
            <a:off x="8641080" y="149047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BRUTO</a:t>
            </a:r>
            <a:endParaRPr lang="en-US" sz="1300" dirty="0"/>
          </a:p>
        </p:txBody>
      </p:sp>
      <p:sp>
        <p:nvSpPr>
          <p:cNvPr id="8" name="KPI valor 69"/>
          <p:cNvSpPr txBox="1"/>
          <p:nvPr/>
        </p:nvSpPr>
        <p:spPr>
          <a:xfrm>
            <a:off x="8641080" y="1783080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79,5%</a:t>
            </a:r>
            <a:endParaRPr lang="en-US" sz="3600" dirty="0"/>
          </a:p>
        </p:txBody>
      </p:sp>
      <p:sp>
        <p:nvSpPr>
          <p:cNvPr id="9" name="KPI detalle 70"/>
          <p:cNvSpPr txBox="1"/>
          <p:nvPr/>
        </p:nvSpPr>
        <p:spPr>
          <a:xfrm>
            <a:off x="8641080" y="238658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▲ +3,8 pp  ·  mayo 75,7%</a:t>
            </a:r>
            <a:endParaRPr lang="en-US" sz="1200" dirty="0"/>
          </a:p>
        </p:txBody>
      </p:sp>
      <p:sp>
        <p:nvSpPr>
          <p:cNvPr id="10" name="KPI MARGEN OPERACIONAL 71"/>
          <p:cNvSpPr/>
          <p:nvPr/>
        </p:nvSpPr>
        <p:spPr>
          <a:xfrm>
            <a:off x="8641080" y="2990088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KPI etiqueta 72"/>
          <p:cNvSpPr txBox="1"/>
          <p:nvPr/>
        </p:nvSpPr>
        <p:spPr>
          <a:xfrm>
            <a:off x="8641080" y="315468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OPERACIONAL</a:t>
            </a:r>
            <a:endParaRPr lang="en-US" sz="1300" dirty="0"/>
          </a:p>
        </p:txBody>
      </p:sp>
      <p:sp>
        <p:nvSpPr>
          <p:cNvPr id="12" name="KPI valor 73"/>
          <p:cNvSpPr txBox="1"/>
          <p:nvPr/>
        </p:nvSpPr>
        <p:spPr>
          <a:xfrm>
            <a:off x="8641080" y="3447288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-10,2%</a:t>
            </a:r>
            <a:endParaRPr lang="en-US" sz="3600" dirty="0"/>
          </a:p>
        </p:txBody>
      </p:sp>
      <p:sp>
        <p:nvSpPr>
          <p:cNvPr id="13" name="KPI detalle 74"/>
          <p:cNvSpPr txBox="1"/>
          <p:nvPr/>
        </p:nvSpPr>
        <p:spPr>
          <a:xfrm>
            <a:off x="8641080" y="405079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▼ −59,7 pp  ·  mayo 49,4%</a:t>
            </a:r>
            <a:endParaRPr lang="en-US" sz="1200" dirty="0"/>
          </a:p>
        </p:txBody>
      </p:sp>
      <p:sp>
        <p:nvSpPr>
          <p:cNvPr id="14" name="KPI MARGEN NETO 75"/>
          <p:cNvSpPr/>
          <p:nvPr/>
        </p:nvSpPr>
        <p:spPr>
          <a:xfrm>
            <a:off x="8641080" y="4654296"/>
            <a:ext cx="29900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KPI etiqueta 76"/>
          <p:cNvSpPr txBox="1"/>
          <p:nvPr/>
        </p:nvSpPr>
        <p:spPr>
          <a:xfrm>
            <a:off x="8641080" y="48188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MARGEN NETO</a:t>
            </a:r>
            <a:endParaRPr lang="en-US" sz="1300" dirty="0"/>
          </a:p>
        </p:txBody>
      </p:sp>
      <p:sp>
        <p:nvSpPr>
          <p:cNvPr id="16" name="KPI valor 77"/>
          <p:cNvSpPr txBox="1"/>
          <p:nvPr/>
        </p:nvSpPr>
        <p:spPr>
          <a:xfrm>
            <a:off x="8641080" y="511149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27,5%</a:t>
            </a:r>
            <a:endParaRPr lang="en-US" sz="3600" dirty="0"/>
          </a:p>
        </p:txBody>
      </p:sp>
      <p:sp>
        <p:nvSpPr>
          <p:cNvPr id="17" name="KPI detalle 78"/>
          <p:cNvSpPr txBox="1"/>
          <p:nvPr/>
        </p:nvSpPr>
        <p:spPr>
          <a:xfrm>
            <a:off x="8641080" y="571500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▼ −50,0 pp  ·  mayo 77,5%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Composición y estructura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Ingresos y Gastos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DE INGRESO BRUTO A NETO · GASTOS DE ADMINISTRACIÓN Y VENTAS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· INGRESOS Y GASTOS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 INGRESO BRUTO A INGRESO NETO</a:t>
            </a:r>
            <a:endParaRPr lang="en-US" sz="3000" dirty="0"/>
          </a:p>
        </p:txBody>
      </p:sp>
      <p:sp>
        <p:nvSpPr>
          <p:cNvPr id="4" name="Corte 79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sp>
        <p:nvSpPr>
          <p:cNvPr id="5" name="Mes 80"/>
          <p:cNvSpPr txBox="1"/>
          <p:nvPr/>
        </p:nvSpPr>
        <p:spPr>
          <a:xfrm>
            <a:off x="548640" y="1581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MAYO</a:t>
            </a:r>
            <a:endParaRPr lang="en-US" sz="2800" dirty="0"/>
          </a:p>
        </p:txBody>
      </p:sp>
      <p:sp>
        <p:nvSpPr>
          <p:cNvPr id="6" name="Año 81"/>
          <p:cNvSpPr txBox="1"/>
          <p:nvPr/>
        </p:nvSpPr>
        <p:spPr>
          <a:xfrm>
            <a:off x="54864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2"/>
                </a:solidFill>
              </a:rPr>
              <a:t>2026</a:t>
            </a:r>
            <a:endParaRPr lang="en-US" sz="1800" dirty="0"/>
          </a:p>
        </p:txBody>
      </p:sp>
      <p:sp>
        <p:nvSpPr>
          <p:cNvPr id="7" name="INGRESOS BRUTOS MAYO 82"/>
          <p:cNvSpPr/>
          <p:nvPr/>
        </p:nvSpPr>
        <p:spPr>
          <a:xfrm>
            <a:off x="2148840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Etiqueta 83"/>
          <p:cNvSpPr txBox="1"/>
          <p:nvPr/>
        </p:nvSpPr>
        <p:spPr>
          <a:xfrm>
            <a:off x="237744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INGRESOS BRUTOS</a:t>
            </a:r>
            <a:endParaRPr lang="en-US" sz="1200" dirty="0"/>
          </a:p>
        </p:txBody>
      </p:sp>
      <p:sp>
        <p:nvSpPr>
          <p:cNvPr id="9" name="Valor 84"/>
          <p:cNvSpPr txBox="1"/>
          <p:nvPr/>
        </p:nvSpPr>
        <p:spPr>
          <a:xfrm>
            <a:off x="2377440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$96,1 M</a:t>
            </a:r>
            <a:endParaRPr lang="en-US" sz="3000" dirty="0"/>
          </a:p>
        </p:txBody>
      </p:sp>
      <p:sp>
        <p:nvSpPr>
          <p:cNvPr id="10" name="Flecha 85"/>
          <p:cNvSpPr/>
          <p:nvPr/>
        </p:nvSpPr>
        <p:spPr>
          <a:xfrm>
            <a:off x="5001768" y="18288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(−) DEVOLUCIONES MAYO 86"/>
          <p:cNvSpPr/>
          <p:nvPr/>
        </p:nvSpPr>
        <p:spPr>
          <a:xfrm>
            <a:off x="5486400" y="14173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Etiqueta 87"/>
          <p:cNvSpPr txBox="1"/>
          <p:nvPr/>
        </p:nvSpPr>
        <p:spPr>
          <a:xfrm>
            <a:off x="571500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(−) DEVOLUCIONES</a:t>
            </a:r>
            <a:endParaRPr lang="en-US" sz="1200" dirty="0"/>
          </a:p>
        </p:txBody>
      </p:sp>
      <p:sp>
        <p:nvSpPr>
          <p:cNvPr id="13" name="Valor 88"/>
          <p:cNvSpPr txBox="1"/>
          <p:nvPr/>
        </p:nvSpPr>
        <p:spPr>
          <a:xfrm>
            <a:off x="5715000" y="18928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-$5,0 M</a:t>
            </a:r>
            <a:endParaRPr lang="en-US" sz="3000" dirty="0"/>
          </a:p>
        </p:txBody>
      </p:sp>
      <p:sp>
        <p:nvSpPr>
          <p:cNvPr id="14" name="Flecha 89"/>
          <p:cNvSpPr/>
          <p:nvPr/>
        </p:nvSpPr>
        <p:spPr>
          <a:xfrm>
            <a:off x="8339328" y="18288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INGRESOS NETOS MAYO 90"/>
          <p:cNvSpPr/>
          <p:nvPr/>
        </p:nvSpPr>
        <p:spPr>
          <a:xfrm>
            <a:off x="8823960" y="1417320"/>
            <a:ext cx="2807208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tiqueta 91"/>
          <p:cNvSpPr txBox="1"/>
          <p:nvPr/>
        </p:nvSpPr>
        <p:spPr>
          <a:xfrm>
            <a:off x="9052560" y="16002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INGRESOS NETOS</a:t>
            </a:r>
            <a:endParaRPr lang="en-US" sz="1200" dirty="0"/>
          </a:p>
        </p:txBody>
      </p:sp>
      <p:sp>
        <p:nvSpPr>
          <p:cNvPr id="17" name="Valor 92"/>
          <p:cNvSpPr txBox="1"/>
          <p:nvPr/>
        </p:nvSpPr>
        <p:spPr>
          <a:xfrm>
            <a:off x="9052560" y="189280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$91,1 M</a:t>
            </a:r>
            <a:endParaRPr lang="en-US" sz="3000" dirty="0"/>
          </a:p>
        </p:txBody>
      </p:sp>
      <p:sp>
        <p:nvSpPr>
          <p:cNvPr id="18" name="Mes 93"/>
          <p:cNvSpPr txBox="1"/>
          <p:nvPr/>
        </p:nvSpPr>
        <p:spPr>
          <a:xfrm>
            <a:off x="548640" y="29535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JUNIO</a:t>
            </a:r>
            <a:endParaRPr lang="en-US" sz="2800" dirty="0"/>
          </a:p>
        </p:txBody>
      </p:sp>
      <p:sp>
        <p:nvSpPr>
          <p:cNvPr id="19" name="Año 94"/>
          <p:cNvSpPr txBox="1"/>
          <p:nvPr/>
        </p:nvSpPr>
        <p:spPr>
          <a:xfrm>
            <a:off x="548640" y="3410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2"/>
                </a:solidFill>
              </a:rPr>
              <a:t>2026</a:t>
            </a:r>
            <a:endParaRPr lang="en-US" sz="1800" dirty="0"/>
          </a:p>
        </p:txBody>
      </p:sp>
      <p:sp>
        <p:nvSpPr>
          <p:cNvPr id="20" name="INGRESOS BRUTOS JUNIO 95"/>
          <p:cNvSpPr/>
          <p:nvPr/>
        </p:nvSpPr>
        <p:spPr>
          <a:xfrm>
            <a:off x="2148840" y="27889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1" name="Etiqueta 96"/>
          <p:cNvSpPr txBox="1"/>
          <p:nvPr/>
        </p:nvSpPr>
        <p:spPr>
          <a:xfrm>
            <a:off x="2377440" y="2971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INGRESOS BRUTOS</a:t>
            </a:r>
            <a:endParaRPr lang="en-US" sz="1200" dirty="0"/>
          </a:p>
        </p:txBody>
      </p:sp>
      <p:sp>
        <p:nvSpPr>
          <p:cNvPr id="22" name="Valor 97"/>
          <p:cNvSpPr txBox="1"/>
          <p:nvPr/>
        </p:nvSpPr>
        <p:spPr>
          <a:xfrm>
            <a:off x="2377440" y="3264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$109,2 M</a:t>
            </a:r>
            <a:endParaRPr lang="en-US" sz="3000" dirty="0"/>
          </a:p>
        </p:txBody>
      </p:sp>
      <p:sp>
        <p:nvSpPr>
          <p:cNvPr id="23" name="Flecha 98"/>
          <p:cNvSpPr/>
          <p:nvPr/>
        </p:nvSpPr>
        <p:spPr>
          <a:xfrm>
            <a:off x="5001768" y="32004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(−) DEVOLUCIONES JUNIO 99"/>
          <p:cNvSpPr/>
          <p:nvPr/>
        </p:nvSpPr>
        <p:spPr>
          <a:xfrm>
            <a:off x="5486400" y="2788920"/>
            <a:ext cx="26974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5" name="Etiqueta 100"/>
          <p:cNvSpPr txBox="1"/>
          <p:nvPr/>
        </p:nvSpPr>
        <p:spPr>
          <a:xfrm>
            <a:off x="5715000" y="2971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(−) DEVOLUCIONES</a:t>
            </a:r>
            <a:endParaRPr lang="en-US" sz="1200" dirty="0"/>
          </a:p>
        </p:txBody>
      </p:sp>
      <p:sp>
        <p:nvSpPr>
          <p:cNvPr id="26" name="Valor 101"/>
          <p:cNvSpPr txBox="1"/>
          <p:nvPr/>
        </p:nvSpPr>
        <p:spPr>
          <a:xfrm>
            <a:off x="5715000" y="3264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-$7,0 M</a:t>
            </a:r>
            <a:endParaRPr lang="en-US" sz="3000" dirty="0"/>
          </a:p>
        </p:txBody>
      </p:sp>
      <p:sp>
        <p:nvSpPr>
          <p:cNvPr id="27" name="Flecha 102"/>
          <p:cNvSpPr/>
          <p:nvPr/>
        </p:nvSpPr>
        <p:spPr>
          <a:xfrm>
            <a:off x="8339328" y="3200400"/>
            <a:ext cx="347472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INGRESOS NETOS JUNIO 103"/>
          <p:cNvSpPr/>
          <p:nvPr/>
        </p:nvSpPr>
        <p:spPr>
          <a:xfrm>
            <a:off x="8823960" y="2788920"/>
            <a:ext cx="2807208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Etiqueta 104"/>
          <p:cNvSpPr txBox="1"/>
          <p:nvPr/>
        </p:nvSpPr>
        <p:spPr>
          <a:xfrm>
            <a:off x="9052560" y="29718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INGRESOS NETOS</a:t>
            </a:r>
            <a:endParaRPr lang="en-US" sz="1200" dirty="0"/>
          </a:p>
        </p:txBody>
      </p:sp>
      <p:sp>
        <p:nvSpPr>
          <p:cNvPr id="30" name="Valor 105"/>
          <p:cNvSpPr txBox="1"/>
          <p:nvPr/>
        </p:nvSpPr>
        <p:spPr>
          <a:xfrm>
            <a:off x="9052560" y="3264408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$102,2 M</a:t>
            </a:r>
            <a:endParaRPr lang="en-US" sz="3000" dirty="0"/>
          </a:p>
        </p:txBody>
      </p:sp>
      <p:sp>
        <p:nvSpPr>
          <p:cNvPr id="31" name="VAR. INGRESOS BRUTOS 106"/>
          <p:cNvSpPr/>
          <p:nvPr/>
        </p:nvSpPr>
        <p:spPr>
          <a:xfrm>
            <a:off x="2148840" y="4251960"/>
            <a:ext cx="2697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Etiqueta 107"/>
          <p:cNvSpPr txBox="1"/>
          <p:nvPr/>
        </p:nvSpPr>
        <p:spPr>
          <a:xfrm>
            <a:off x="2377440" y="4416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INGRESOS BRUTOS</a:t>
            </a:r>
            <a:endParaRPr lang="en-US" sz="1200" dirty="0"/>
          </a:p>
        </p:txBody>
      </p:sp>
      <p:sp>
        <p:nvSpPr>
          <p:cNvPr id="33" name="Valor 108"/>
          <p:cNvSpPr txBox="1"/>
          <p:nvPr/>
        </p:nvSpPr>
        <p:spPr>
          <a:xfrm>
            <a:off x="2377440" y="4690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▲ +$13,0 M</a:t>
            </a:r>
            <a:endParaRPr lang="en-US" sz="2600" dirty="0"/>
          </a:p>
        </p:txBody>
      </p:sp>
      <p:sp>
        <p:nvSpPr>
          <p:cNvPr id="34" name="Detalle 109"/>
          <p:cNvSpPr txBox="1"/>
          <p:nvPr/>
        </p:nvSpPr>
        <p:spPr>
          <a:xfrm>
            <a:off x="2377440" y="5184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+13,6% vs. mayo</a:t>
            </a:r>
            <a:endParaRPr lang="en-US" sz="1200" dirty="0"/>
          </a:p>
        </p:txBody>
      </p:sp>
      <p:sp>
        <p:nvSpPr>
          <p:cNvPr id="35" name="VAR. DEVOLUCIONES 110"/>
          <p:cNvSpPr/>
          <p:nvPr/>
        </p:nvSpPr>
        <p:spPr>
          <a:xfrm>
            <a:off x="5486400" y="4251960"/>
            <a:ext cx="2697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6" name="Etiqueta 111"/>
          <p:cNvSpPr txBox="1"/>
          <p:nvPr/>
        </p:nvSpPr>
        <p:spPr>
          <a:xfrm>
            <a:off x="5715000" y="4416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DEVOLUCIONES</a:t>
            </a:r>
            <a:endParaRPr lang="en-US" sz="1200" dirty="0"/>
          </a:p>
        </p:txBody>
      </p:sp>
      <p:sp>
        <p:nvSpPr>
          <p:cNvPr id="37" name="Valor 112"/>
          <p:cNvSpPr txBox="1"/>
          <p:nvPr/>
        </p:nvSpPr>
        <p:spPr>
          <a:xfrm>
            <a:off x="5715000" y="4690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▲ +$2,0 M</a:t>
            </a:r>
            <a:endParaRPr lang="en-US" sz="2600" dirty="0"/>
          </a:p>
        </p:txBody>
      </p:sp>
      <p:sp>
        <p:nvSpPr>
          <p:cNvPr id="38" name="Detalle 113"/>
          <p:cNvSpPr txBox="1"/>
          <p:nvPr/>
        </p:nvSpPr>
        <p:spPr>
          <a:xfrm>
            <a:off x="5715000" y="51846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+40,4% vs. mayo</a:t>
            </a:r>
            <a:endParaRPr lang="en-US" sz="1200" dirty="0"/>
          </a:p>
        </p:txBody>
      </p:sp>
      <p:sp>
        <p:nvSpPr>
          <p:cNvPr id="39" name="VAR. INGRESOS NETOS 114"/>
          <p:cNvSpPr/>
          <p:nvPr/>
        </p:nvSpPr>
        <p:spPr>
          <a:xfrm>
            <a:off x="8823960" y="4251960"/>
            <a:ext cx="280720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40" name="Etiqueta 115"/>
          <p:cNvSpPr txBox="1"/>
          <p:nvPr/>
        </p:nvSpPr>
        <p:spPr>
          <a:xfrm>
            <a:off x="9052560" y="441655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572"/>
                </a:solidFill>
              </a:rPr>
              <a:t>VAR. INGRESOS NETOS</a:t>
            </a:r>
            <a:endParaRPr lang="en-US" sz="1200" dirty="0"/>
          </a:p>
        </p:txBody>
      </p:sp>
      <p:sp>
        <p:nvSpPr>
          <p:cNvPr id="41" name="Valor 116"/>
          <p:cNvSpPr txBox="1"/>
          <p:nvPr/>
        </p:nvSpPr>
        <p:spPr>
          <a:xfrm>
            <a:off x="9052560" y="469087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▲ +$11,0 M</a:t>
            </a:r>
            <a:endParaRPr lang="en-US" sz="2600" dirty="0"/>
          </a:p>
        </p:txBody>
      </p:sp>
      <p:sp>
        <p:nvSpPr>
          <p:cNvPr id="42" name="Detalle 117"/>
          <p:cNvSpPr txBox="1"/>
          <p:nvPr/>
        </p:nvSpPr>
        <p:spPr>
          <a:xfrm>
            <a:off x="9052560" y="518464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2"/>
                </a:solidFill>
              </a:rPr>
              <a:t>+12,1% vs. mayo</a:t>
            </a:r>
            <a:endParaRPr lang="en-US" sz="1200" dirty="0"/>
          </a:p>
        </p:txBody>
      </p:sp>
      <p:sp>
        <p:nvSpPr>
          <p:cNvPr id="43" name="Var etiqueta 118"/>
          <p:cNvSpPr txBox="1"/>
          <p:nvPr/>
        </p:nvSpPr>
        <p:spPr>
          <a:xfrm>
            <a:off x="54864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VARIACIÓN</a:t>
            </a:r>
            <a:endParaRPr lang="en-US" sz="2000" dirty="0"/>
          </a:p>
        </p:txBody>
      </p:sp>
      <p:sp>
        <p:nvSpPr>
          <p:cNvPr id="44" name="Nota 119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572"/>
                </a:solidFill>
              </a:rPr>
              <a:t>Junio concentró el mayor nivel de devoluciones del semestre, sin afectar el crecimiento neto de los ingresos. Actividades de consultoría · cifras en millones de pesos.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3 · INGRESOS Y GASTOS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GASTOS DE ADMINISTRACIÓN Y VENTAS - TOP 6</a:t>
            </a:r>
            <a:endParaRPr lang="en-US" sz="3000" dirty="0"/>
          </a:p>
        </p:txBody>
      </p:sp>
      <p:sp>
        <p:nvSpPr>
          <p:cNvPr id="4" name="Corte 120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5" name="Gráfico gastos top 6" descr=""/>
          <p:cNvGraphicFramePr/>
          <p:nvPr/>
        </p:nvGraphicFramePr>
        <p:xfrm>
          <a:off x="548640" y="1325880"/>
          <a:ext cx="640080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a gas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71600"/>
          <a:ext cx="44531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88696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CONCEPTO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MAYO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Gastos Unión Temporal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63,6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0,0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Nuevo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Honorarios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4,7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3,3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+43,0%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Servicios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3,3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0,9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+281,4%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Contribuciones y afiliaciones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2,8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+15,0%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Depreciaciones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−6,4%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Amortizaciones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0,8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0,4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+110,1%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TOTAL GASTOS ADMON. Y VENTAS</a:t>
                      </a:r>
                      <a:endParaRPr lang="en-US" sz="10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91,7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23,9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+283,5%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7" name="Concentración 121"/>
          <p:cNvSpPr/>
          <p:nvPr/>
        </p:nvSpPr>
        <p:spPr>
          <a:xfrm>
            <a:off x="7178040" y="4343400"/>
            <a:ext cx="44531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8" name="Concentración título 122"/>
          <p:cNvSpPr txBox="1"/>
          <p:nvPr/>
        </p:nvSpPr>
        <p:spPr>
          <a:xfrm>
            <a:off x="7406640" y="4498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Concentración</a:t>
            </a:r>
            <a:endParaRPr lang="en-US" sz="1800" dirty="0"/>
          </a:p>
        </p:txBody>
      </p:sp>
      <p:sp>
        <p:nvSpPr>
          <p:cNvPr id="9" name="Concentración texto 123"/>
          <p:cNvSpPr txBox="1"/>
          <p:nvPr/>
        </p:nvSpPr>
        <p:spPr>
          <a:xfrm>
            <a:off x="7406640" y="4919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gastos de la Unión Temporal ($63,6 M) explican el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94% del incremento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total en gastos de administración y ventas de junio.</a:t>
            </a:r>
            <a:endParaRPr lang="en-US" sz="1300" dirty="0"/>
          </a:p>
        </p:txBody>
      </p:sp>
      <p:sp>
        <p:nvSpPr>
          <p:cNvPr id="10" name="Nota de color 124"/>
          <p:cNvSpPr txBox="1"/>
          <p:nvPr/>
        </p:nvSpPr>
        <p:spPr>
          <a:xfrm>
            <a:off x="7178040" y="5897880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</a:rPr>
              <a:t>Código de color:  turquesa = favorable  ·  rojo = desfavorable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4 · ANÁLISIS DE CAUSAS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TRES FACTORES DETRÁS DE LA CAÍDA DE JUNIO</a:t>
            </a:r>
            <a:endParaRPr lang="en-US" sz="3000" dirty="0"/>
          </a:p>
        </p:txBody>
      </p:sp>
      <p:sp>
        <p:nvSpPr>
          <p:cNvPr id="4" name="Corte 125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sp>
        <p:nvSpPr>
          <p:cNvPr id="5" name="Factor 01 126"/>
          <p:cNvSpPr/>
          <p:nvPr/>
        </p:nvSpPr>
        <p:spPr>
          <a:xfrm>
            <a:off x="548640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127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Factor título 128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RENDIMIENTOS FINANCIEROS EXTRAORDINARIOS</a:t>
            </a:r>
            <a:endParaRPr lang="en-US" sz="1400" dirty="0"/>
          </a:p>
        </p:txBody>
      </p:sp>
      <p:sp>
        <p:nvSpPr>
          <p:cNvPr id="8" name="Factor MAYO 129"/>
          <p:cNvSpPr/>
          <p:nvPr/>
        </p:nvSpPr>
        <p:spPr>
          <a:xfrm>
            <a:off x="777240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9" name="Factor mes 130"/>
          <p:cNvSpPr txBox="1"/>
          <p:nvPr/>
        </p:nvSpPr>
        <p:spPr>
          <a:xfrm>
            <a:off x="777240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MAYO</a:t>
            </a:r>
            <a:endParaRPr lang="en-US" sz="1100" dirty="0"/>
          </a:p>
        </p:txBody>
      </p:sp>
      <p:sp>
        <p:nvSpPr>
          <p:cNvPr id="10" name="Factor valor 131"/>
          <p:cNvSpPr txBox="1"/>
          <p:nvPr/>
        </p:nvSpPr>
        <p:spPr>
          <a:xfrm>
            <a:off x="777240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572"/>
                </a:solidFill>
              </a:rPr>
              <a:t>$25,6 M</a:t>
            </a:r>
            <a:endParaRPr lang="en-US" sz="2000" dirty="0"/>
          </a:p>
        </p:txBody>
      </p:sp>
      <p:sp>
        <p:nvSpPr>
          <p:cNvPr id="11" name="Factor JUNIO 132"/>
          <p:cNvSpPr/>
          <p:nvPr/>
        </p:nvSpPr>
        <p:spPr>
          <a:xfrm>
            <a:off x="2377440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Factor mes 133"/>
          <p:cNvSpPr txBox="1"/>
          <p:nvPr/>
        </p:nvSpPr>
        <p:spPr>
          <a:xfrm>
            <a:off x="2377440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JUNIO</a:t>
            </a:r>
            <a:endParaRPr lang="en-US" sz="1100" dirty="0"/>
          </a:p>
        </p:txBody>
      </p:sp>
      <p:sp>
        <p:nvSpPr>
          <p:cNvPr id="13" name="Factor valor 134"/>
          <p:cNvSpPr txBox="1"/>
          <p:nvPr/>
        </p:nvSpPr>
        <p:spPr>
          <a:xfrm>
            <a:off x="2377440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$0,4 M</a:t>
            </a:r>
            <a:endParaRPr lang="en-US" sz="2000" dirty="0"/>
          </a:p>
        </p:txBody>
      </p:sp>
      <p:sp>
        <p:nvSpPr>
          <p:cNvPr id="14" name="Factor detalle 135"/>
          <p:cNvSpPr txBox="1"/>
          <p:nvPr/>
        </p:nvSpPr>
        <p:spPr>
          <a:xfrm>
            <a:off x="777240" y="3337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Mayo incluyó un ingreso financiero puntual por rendimientos de CDT que no se repitió en junio: una caída no recurrente de $25,2 M.</a:t>
            </a:r>
            <a:endParaRPr lang="en-US" sz="1400" dirty="0"/>
          </a:p>
        </p:txBody>
      </p:sp>
      <p:sp>
        <p:nvSpPr>
          <p:cNvPr id="15" name="Factor 02 136"/>
          <p:cNvSpPr/>
          <p:nvPr/>
        </p:nvSpPr>
        <p:spPr>
          <a:xfrm>
            <a:off x="4311396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6" name="Número 137"/>
          <p:cNvSpPr/>
          <p:nvPr/>
        </p:nvSpPr>
        <p:spPr>
          <a:xfrm>
            <a:off x="4539996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Factor título 138"/>
          <p:cNvSpPr txBox="1"/>
          <p:nvPr/>
        </p:nvSpPr>
        <p:spPr>
          <a:xfrm>
            <a:off x="5225796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LIQUIDACIÓN UNIÓN TEMPORAL EVB ABOGADOS</a:t>
            </a:r>
            <a:endParaRPr lang="en-US" sz="1400" dirty="0"/>
          </a:p>
        </p:txBody>
      </p:sp>
      <p:sp>
        <p:nvSpPr>
          <p:cNvPr id="18" name="Factor MAYO 139"/>
          <p:cNvSpPr/>
          <p:nvPr/>
        </p:nvSpPr>
        <p:spPr>
          <a:xfrm>
            <a:off x="4539996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9" name="Factor mes 140"/>
          <p:cNvSpPr txBox="1"/>
          <p:nvPr/>
        </p:nvSpPr>
        <p:spPr>
          <a:xfrm>
            <a:off x="4539996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MAYO</a:t>
            </a:r>
            <a:endParaRPr lang="en-US" sz="1100" dirty="0"/>
          </a:p>
        </p:txBody>
      </p:sp>
      <p:sp>
        <p:nvSpPr>
          <p:cNvPr id="20" name="Factor valor 141"/>
          <p:cNvSpPr txBox="1"/>
          <p:nvPr/>
        </p:nvSpPr>
        <p:spPr>
          <a:xfrm>
            <a:off x="4539996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572"/>
                </a:solidFill>
              </a:rPr>
              <a:t>$0</a:t>
            </a:r>
            <a:endParaRPr lang="en-US" sz="2000" dirty="0"/>
          </a:p>
        </p:txBody>
      </p:sp>
      <p:sp>
        <p:nvSpPr>
          <p:cNvPr id="21" name="Factor JUNIO 142"/>
          <p:cNvSpPr/>
          <p:nvPr/>
        </p:nvSpPr>
        <p:spPr>
          <a:xfrm>
            <a:off x="6140196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2" name="Factor mes 143"/>
          <p:cNvSpPr txBox="1"/>
          <p:nvPr/>
        </p:nvSpPr>
        <p:spPr>
          <a:xfrm>
            <a:off x="6140196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JUNIO</a:t>
            </a:r>
            <a:endParaRPr lang="en-US" sz="1100" dirty="0"/>
          </a:p>
        </p:txBody>
      </p:sp>
      <p:sp>
        <p:nvSpPr>
          <p:cNvPr id="23" name="Factor valor 144"/>
          <p:cNvSpPr txBox="1"/>
          <p:nvPr/>
        </p:nvSpPr>
        <p:spPr>
          <a:xfrm>
            <a:off x="6140196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+$3,8 M neto</a:t>
            </a:r>
            <a:endParaRPr lang="en-US" sz="1600" dirty="0"/>
          </a:p>
        </p:txBody>
      </p:sp>
      <p:sp>
        <p:nvSpPr>
          <p:cNvPr id="24" name="Factor detalle 145"/>
          <p:cNvSpPr txBox="1"/>
          <p:nvPr/>
        </p:nvSpPr>
        <p:spPr>
          <a:xfrm>
            <a:off x="4539996" y="3337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UT liquida cada dos meses (abril y junio). En junio aportó $102,2 M de ingreso no operacional y $98,4 M de costos asociados: efecto neto positivo, pero de gran volumen contable.</a:t>
            </a:r>
            <a:endParaRPr lang="en-US" sz="1400" dirty="0"/>
          </a:p>
        </p:txBody>
      </p:sp>
      <p:sp>
        <p:nvSpPr>
          <p:cNvPr id="25" name="Factor 03 146"/>
          <p:cNvSpPr/>
          <p:nvPr/>
        </p:nvSpPr>
        <p:spPr>
          <a:xfrm>
            <a:off x="8074152" y="137160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6" name="Número 147"/>
          <p:cNvSpPr/>
          <p:nvPr/>
        </p:nvSpPr>
        <p:spPr>
          <a:xfrm>
            <a:off x="8302752" y="1600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Factor título 148"/>
          <p:cNvSpPr txBox="1"/>
          <p:nvPr/>
        </p:nvSpPr>
        <p:spPr>
          <a:xfrm>
            <a:off x="8988552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PAGO BIMESTRAL DEL RÉGIMEN SIMPLE</a:t>
            </a:r>
            <a:endParaRPr lang="en-US" sz="1400" dirty="0"/>
          </a:p>
        </p:txBody>
      </p:sp>
      <p:sp>
        <p:nvSpPr>
          <p:cNvPr id="28" name="Factor MAYO 149"/>
          <p:cNvSpPr/>
          <p:nvPr/>
        </p:nvSpPr>
        <p:spPr>
          <a:xfrm>
            <a:off x="8302752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29" name="Factor mes 150"/>
          <p:cNvSpPr txBox="1"/>
          <p:nvPr/>
        </p:nvSpPr>
        <p:spPr>
          <a:xfrm>
            <a:off x="8302752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MAYO</a:t>
            </a:r>
            <a:endParaRPr lang="en-US" sz="1100" dirty="0"/>
          </a:p>
        </p:txBody>
      </p:sp>
      <p:sp>
        <p:nvSpPr>
          <p:cNvPr id="30" name="Factor valor 151"/>
          <p:cNvSpPr txBox="1"/>
          <p:nvPr/>
        </p:nvSpPr>
        <p:spPr>
          <a:xfrm>
            <a:off x="8302752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572"/>
                </a:solidFill>
              </a:rPr>
              <a:t>$0</a:t>
            </a:r>
            <a:endParaRPr lang="en-US" sz="2000" dirty="0"/>
          </a:p>
        </p:txBody>
      </p:sp>
      <p:sp>
        <p:nvSpPr>
          <p:cNvPr id="31" name="Factor JUNIO 152"/>
          <p:cNvSpPr/>
          <p:nvPr/>
        </p:nvSpPr>
        <p:spPr>
          <a:xfrm>
            <a:off x="9902952" y="2377440"/>
            <a:ext cx="15087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32" name="Factor mes 153"/>
          <p:cNvSpPr txBox="1"/>
          <p:nvPr/>
        </p:nvSpPr>
        <p:spPr>
          <a:xfrm>
            <a:off x="9902952" y="2450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572"/>
                </a:solidFill>
              </a:rPr>
              <a:t>JUNIO</a:t>
            </a:r>
            <a:endParaRPr lang="en-US" sz="1100" dirty="0"/>
          </a:p>
        </p:txBody>
      </p:sp>
      <p:sp>
        <p:nvSpPr>
          <p:cNvPr id="33" name="Factor valor 154"/>
          <p:cNvSpPr txBox="1"/>
          <p:nvPr/>
        </p:nvSpPr>
        <p:spPr>
          <a:xfrm>
            <a:off x="9902952" y="2706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$28,6 M</a:t>
            </a:r>
            <a:endParaRPr lang="en-US" sz="2000" dirty="0"/>
          </a:p>
        </p:txBody>
      </p:sp>
      <p:sp>
        <p:nvSpPr>
          <p:cNvPr id="34" name="Factor detalle 155"/>
          <p:cNvSpPr txBox="1"/>
          <p:nvPr/>
        </p:nvSpPr>
        <p:spPr>
          <a:xfrm>
            <a:off x="8302752" y="3337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impuesto SIMPLE se paga cada dos meses (febrero, abril, junio). Mayo no tuvo pago; junio absorbió el bimestre completo, reduciendo la utilidad neta.</a:t>
            </a:r>
            <a:endParaRPr lang="en-US" sz="1400" dirty="0"/>
          </a:p>
        </p:txBody>
      </p:sp>
      <p:sp>
        <p:nvSpPr>
          <p:cNvPr id="35" name="Lectura clave 156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Lectura clave texto 157"/>
          <p:cNvSpPr txBox="1"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Lectura clave: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sin estos tres efectos puntuales, el resultado operativo del negocio principal (consultoría) siguió una trayectoria estable y creciente en el semestre.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82296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Estado de Situación Financiera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title" hasCustomPrompt="1"/>
          </p:nvPr>
        </p:nvSpPr>
        <p:spPr>
          <a:xfrm>
            <a:off x="822960" y="3246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Balance e Indicadores</a:t>
            </a:r>
            <a:endParaRPr lang="en-US" sz="5200" dirty="0"/>
          </a:p>
        </p:txBody>
      </p:sp>
      <p:sp>
        <p:nvSpPr>
          <p:cNvPr id="5" name="Text 0"/>
          <p:cNvSpPr/>
          <p:nvPr>
            <p:ph idx="105" type="body" hasCustomPrompt="1"/>
          </p:nvPr>
        </p:nvSpPr>
        <p:spPr>
          <a:xfrm>
            <a:off x="82296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LIQUIDEZ · ENDEUDAMIENTO · RENTABILIDAD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44652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· SITUACIÓN FINANCIERA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BALANCE GENERAL COMPARATIVO</a:t>
            </a:r>
            <a:endParaRPr lang="en-US" sz="3000" dirty="0"/>
          </a:p>
        </p:txBody>
      </p:sp>
      <p:sp>
        <p:nvSpPr>
          <p:cNvPr id="4" name="Corte 158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15" name="Tabla bala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122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51560"/>
                <a:gridCol w="1051560"/>
                <a:gridCol w="1005840"/>
                <a:gridCol w="109728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CUENTA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JUNIO 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MAYO 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$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VAR. %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ACTIVO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1.067,4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1.041,9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+25,5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+2,4%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Activo no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936,6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940,7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-4,1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−0,4%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ACTIVO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2.004,0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1.982,6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+21,4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PASIVO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Pasivo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208,2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214,9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-6,7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−3,1%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Pasivo no corriente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6,3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6,3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6572"/>
                          </a:solidFill>
                        </a:rPr>
                        <a:t>0,0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A6572"/>
                          </a:solidFill>
                        </a:rPr>
                        <a:t>+0,0%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PASIVO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214,5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221,2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-6,7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−3,0%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1.789,5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1.761,4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+28,1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+1,6%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TOTAL PASIVO + PATRIMONIO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2.004,0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1.982,6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+21,4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+1,1%</a:t>
                      </a:r>
                      <a:endParaRPr lang="en-US" sz="1200" dirty="0"/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Lectura balance 159"/>
          <p:cNvSpPr/>
          <p:nvPr/>
        </p:nvSpPr>
        <p:spPr>
          <a:xfrm>
            <a:off x="548640" y="5486400"/>
            <a:ext cx="681228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Lectura balance texto 160"/>
          <p:cNvSpPr txBox="1"/>
          <p:nvPr/>
        </p:nvSpPr>
        <p:spPr>
          <a:xfrm>
            <a:off x="777240" y="5486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compañía redujo el pasivo corriente y fortaleció el activo corriente, mejorando su liquidez frente a mayo.</a:t>
            </a:r>
            <a:endParaRPr lang="en-US" sz="1300" dirty="0"/>
          </a:p>
        </p:txBody>
      </p:sp>
      <p:graphicFrame>
        <p:nvGraphicFramePr>
          <p:cNvPr id="8" name="Gráfico estructura del activo" descr=""/>
          <p:cNvGraphicFramePr/>
          <p:nvPr/>
        </p:nvGraphicFramePr>
        <p:xfrm>
          <a:off x="7589520" y="1325880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Gráfico estructura de financiación" descr=""/>
          <p:cNvGraphicFramePr/>
          <p:nvPr/>
        </p:nvGraphicFramePr>
        <p:xfrm>
          <a:off x="7589520" y="3794760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5 · SITUACIÓN FINANCIERA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INDICADORES CLAVE - LIQUIDEZ Y ENDEUDAMIENTO</a:t>
            </a:r>
            <a:endParaRPr lang="en-US" sz="3000" dirty="0"/>
          </a:p>
        </p:txBody>
      </p:sp>
      <p:sp>
        <p:nvSpPr>
          <p:cNvPr id="4" name="Corte 161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graphicFrame>
        <p:nvGraphicFramePr>
          <p:cNvPr id="16" name="Tabla indicad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50792"/>
                <a:gridCol w="1600200"/>
                <a:gridCol w="16002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INDICADOR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FÓRMULA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JUNIO 2026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MAYO 2026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LECTURA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Razón corriente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Activo corriente / Pasivo corriente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5,13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4,85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▲ Mejora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Endeudamiento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Pasivo total / Activo total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10,7%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11,2%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▲ Mejora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Margen bruto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bruta / Ingresos netos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79,5%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75,7%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▲ Mejora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Margen neto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neta / Ingresos netos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27,5%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77,5%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</a:rPr>
                        <a:t>▼ Baja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ROE acumulado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Utilidad neta acum. / Patrimonio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9,4%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6572"/>
                          </a:solidFill>
                        </a:rPr>
                        <a:t>7,9%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▲ Mejora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7"/>
                    </a:solidFill>
                  </a:tcPr>
                </a:tc>
              </a:tr>
            </a:tbl>
          </a:graphicData>
        </a:graphic>
      </p:graphicFrame>
      <p:sp>
        <p:nvSpPr>
          <p:cNvPr id="6" name="Indicador LIQUIDEZ 162"/>
          <p:cNvSpPr/>
          <p:nvPr/>
        </p:nvSpPr>
        <p:spPr>
          <a:xfrm>
            <a:off x="548640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7" name="Indicador etiqueta 163"/>
          <p:cNvSpPr txBox="1"/>
          <p:nvPr/>
        </p:nvSpPr>
        <p:spPr>
          <a:xfrm>
            <a:off x="54864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LIQUIDEZ</a:t>
            </a:r>
            <a:endParaRPr lang="en-US" sz="1300" dirty="0"/>
          </a:p>
        </p:txBody>
      </p:sp>
      <p:sp>
        <p:nvSpPr>
          <p:cNvPr id="8" name="Indicador valor 164"/>
          <p:cNvSpPr txBox="1"/>
          <p:nvPr/>
        </p:nvSpPr>
        <p:spPr>
          <a:xfrm>
            <a:off x="548640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5,13 veces</a:t>
            </a:r>
            <a:endParaRPr lang="en-US" sz="3600" dirty="0"/>
          </a:p>
        </p:txBody>
      </p:sp>
      <p:sp>
        <p:nvSpPr>
          <p:cNvPr id="9" name="Indicador detalle 165"/>
          <p:cNvSpPr txBox="1"/>
          <p:nvPr/>
        </p:nvSpPr>
        <p:spPr>
          <a:xfrm>
            <a:off x="822960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cada peso de pasivo corriente hay $5,13 de activo corriente (mayo: 4,85).</a:t>
            </a:r>
            <a:endParaRPr lang="en-US" sz="1200" dirty="0"/>
          </a:p>
        </p:txBody>
      </p:sp>
      <p:sp>
        <p:nvSpPr>
          <p:cNvPr id="10" name="Indicador SOLIDEZ 166"/>
          <p:cNvSpPr/>
          <p:nvPr/>
        </p:nvSpPr>
        <p:spPr>
          <a:xfrm>
            <a:off x="4311396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1" name="Indicador etiqueta 167"/>
          <p:cNvSpPr txBox="1"/>
          <p:nvPr/>
        </p:nvSpPr>
        <p:spPr>
          <a:xfrm>
            <a:off x="4311396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SOLIDEZ</a:t>
            </a:r>
            <a:endParaRPr lang="en-US" sz="1300" dirty="0"/>
          </a:p>
        </p:txBody>
      </p:sp>
      <p:sp>
        <p:nvSpPr>
          <p:cNvPr id="12" name="Indicador valor 168"/>
          <p:cNvSpPr txBox="1"/>
          <p:nvPr/>
        </p:nvSpPr>
        <p:spPr>
          <a:xfrm>
            <a:off x="4311396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89,3%</a:t>
            </a:r>
            <a:endParaRPr lang="en-US" sz="3600" dirty="0"/>
          </a:p>
        </p:txBody>
      </p:sp>
      <p:sp>
        <p:nvSpPr>
          <p:cNvPr id="13" name="Indicador detalle 169"/>
          <p:cNvSpPr txBox="1"/>
          <p:nvPr/>
        </p:nvSpPr>
        <p:spPr>
          <a:xfrm>
            <a:off x="4585716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Del activo está financiado con patrimonio; el pasivo es solo el 10,7%.</a:t>
            </a:r>
            <a:endParaRPr lang="en-US" sz="1200" dirty="0"/>
          </a:p>
        </p:txBody>
      </p:sp>
      <p:sp>
        <p:nvSpPr>
          <p:cNvPr id="14" name="Indicador RENTABILIDAD 170"/>
          <p:cNvSpPr/>
          <p:nvPr/>
        </p:nvSpPr>
        <p:spPr>
          <a:xfrm>
            <a:off x="8074152" y="406908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Indicador etiqueta 171"/>
          <p:cNvSpPr txBox="1"/>
          <p:nvPr/>
        </p:nvSpPr>
        <p:spPr>
          <a:xfrm>
            <a:off x="8074152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572"/>
                </a:solidFill>
              </a:rPr>
              <a:t>RENTABILIDAD</a:t>
            </a:r>
            <a:endParaRPr lang="en-US" sz="1300" dirty="0"/>
          </a:p>
        </p:txBody>
      </p:sp>
      <p:sp>
        <p:nvSpPr>
          <p:cNvPr id="16" name="Indicador valor 172"/>
          <p:cNvSpPr txBox="1"/>
          <p:nvPr/>
        </p:nvSpPr>
        <p:spPr>
          <a:xfrm>
            <a:off x="8074152" y="4544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9,4%</a:t>
            </a:r>
            <a:endParaRPr lang="en-US" sz="3600" dirty="0"/>
          </a:p>
        </p:txBody>
      </p:sp>
      <p:sp>
        <p:nvSpPr>
          <p:cNvPr id="17" name="Indicador detalle 173"/>
          <p:cNvSpPr txBox="1"/>
          <p:nvPr/>
        </p:nvSpPr>
        <p:spPr>
          <a:xfrm>
            <a:off x="8348472" y="5257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ROE acumulado: utilidad del semestre ($167,5 M) sobre el patrimonio.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01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 · SÍNTESIS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CONCLUSIONES Y HALLAZGOS DEL MES</a:t>
            </a:r>
            <a:endParaRPr lang="en-US" sz="3000" dirty="0"/>
          </a:p>
        </p:txBody>
      </p:sp>
      <p:sp>
        <p:nvSpPr>
          <p:cNvPr id="4" name="Corte 174"/>
          <p:cNvSpPr/>
          <p:nvPr/>
        </p:nvSpPr>
        <p:spPr>
          <a:xfrm>
            <a:off x="10012680" y="411480"/>
            <a:ext cx="1618488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DE6E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Corte: junio 2026</a:t>
            </a:r>
            <a:endParaRPr lang="en-US" sz="1200" dirty="0"/>
          </a:p>
        </p:txBody>
      </p:sp>
      <p:sp>
        <p:nvSpPr>
          <p:cNvPr id="5" name="Conclusión 1 175"/>
          <p:cNvSpPr/>
          <p:nvPr/>
        </p:nvSpPr>
        <p:spPr>
          <a:xfrm>
            <a:off x="548640" y="132588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6" name="Número 176"/>
          <p:cNvSpPr/>
          <p:nvPr/>
        </p:nvSpPr>
        <p:spPr>
          <a:xfrm>
            <a:off x="777240" y="149047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Conclusión texto 177"/>
          <p:cNvSpPr txBox="1"/>
          <p:nvPr/>
        </p:nvSpPr>
        <p:spPr>
          <a:xfrm>
            <a:off x="1508760" y="132588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Ingresos netos +12,1% en junio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($102,2 M vs $91,1 M en mayo): sexta expansión mensual consecutiva y crecimiento acumulado del 61,8% desde enero.</a:t>
            </a:r>
            <a:endParaRPr lang="en-US" sz="1400" dirty="0"/>
          </a:p>
        </p:txBody>
      </p:sp>
      <p:sp>
        <p:nvSpPr>
          <p:cNvPr id="8" name="Conclusión 2 178"/>
          <p:cNvSpPr/>
          <p:nvPr/>
        </p:nvSpPr>
        <p:spPr>
          <a:xfrm>
            <a:off x="548640" y="228600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9" name="Número 179"/>
          <p:cNvSpPr/>
          <p:nvPr/>
        </p:nvSpPr>
        <p:spPr>
          <a:xfrm>
            <a:off x="777240" y="245059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Conclusión texto 180"/>
          <p:cNvSpPr txBox="1"/>
          <p:nvPr/>
        </p:nvSpPr>
        <p:spPr>
          <a:xfrm>
            <a:off x="1508760" y="228600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Utilidad neta −60,2%: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explicada por tres factores puntuales — fin del rendimiento financiero extraordinario de mayo, liquidación bimestral de la Unión Temporal EVB Abogados y pago del régimen SIMPLE ($28,6 M) — y no por el negocio operativo.</a:t>
            </a:r>
            <a:endParaRPr lang="en-US" sz="1400" dirty="0"/>
          </a:p>
        </p:txBody>
      </p:sp>
      <p:sp>
        <p:nvSpPr>
          <p:cNvPr id="11" name="Conclusión 3 181"/>
          <p:cNvSpPr/>
          <p:nvPr/>
        </p:nvSpPr>
        <p:spPr>
          <a:xfrm>
            <a:off x="548640" y="324612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2" name="Número 182"/>
          <p:cNvSpPr/>
          <p:nvPr/>
        </p:nvSpPr>
        <p:spPr>
          <a:xfrm>
            <a:off x="777240" y="341071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Conclusión texto 183"/>
          <p:cNvSpPr txBox="1"/>
          <p:nvPr/>
        </p:nvSpPr>
        <p:spPr>
          <a:xfrm>
            <a:off x="1508760" y="324612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Margen operacional negativo (−10,2%):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alza de 283,5% en gastos de administración y ventas, concentrada en un 94% en los gastos de la Unión Temporal, explica el giro.</a:t>
            </a:r>
            <a:endParaRPr lang="en-US" sz="1400" dirty="0"/>
          </a:p>
        </p:txBody>
      </p:sp>
      <p:sp>
        <p:nvSpPr>
          <p:cNvPr id="14" name="Conclusión 4 184"/>
          <p:cNvSpPr/>
          <p:nvPr/>
        </p:nvSpPr>
        <p:spPr>
          <a:xfrm>
            <a:off x="548640" y="420624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5" name="Número 185"/>
          <p:cNvSpPr/>
          <p:nvPr/>
        </p:nvSpPr>
        <p:spPr>
          <a:xfrm>
            <a:off x="777240" y="437083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16" name="Conclusión texto 186"/>
          <p:cNvSpPr txBox="1"/>
          <p:nvPr/>
        </p:nvSpPr>
        <p:spPr>
          <a:xfrm>
            <a:off x="1508760" y="420624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Liquidez y endeudamiento mejoran: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razón corriente sube a 5,13 (vs 4,85) y el endeudamiento baja a 10,7% del activo total.</a:t>
            </a:r>
            <a:endParaRPr lang="en-US" sz="1400" dirty="0"/>
          </a:p>
        </p:txBody>
      </p:sp>
      <p:sp>
        <p:nvSpPr>
          <p:cNvPr id="17" name="Conclusión 5 187"/>
          <p:cNvSpPr/>
          <p:nvPr/>
        </p:nvSpPr>
        <p:spPr>
          <a:xfrm>
            <a:off x="548640" y="516636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rgbClr val="DDE6EF"/>
            </a:solidFill>
            <a:prstDash val="solid"/>
          </a:ln>
        </p:spPr>
      </p:sp>
      <p:sp>
        <p:nvSpPr>
          <p:cNvPr id="18" name="Número 188"/>
          <p:cNvSpPr/>
          <p:nvPr/>
        </p:nvSpPr>
        <p:spPr>
          <a:xfrm>
            <a:off x="777240" y="5330952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19" name="Conclusión texto 189"/>
          <p:cNvSpPr txBox="1"/>
          <p:nvPr/>
        </p:nvSpPr>
        <p:spPr>
          <a:xfrm>
            <a:off x="1508760" y="5166360"/>
            <a:ext cx="9921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Patrimonio +1,6% y activo total +1,1%: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impulsados por la utilidad acumulada del semestre ($167,5 M), una base financiera sólida pese a la volatilidad mensual.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2823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635" tIns="0" rIns="0" bIns="0" anchor="ctr"/>
          <a:lstStyle>
            <a:lvl1pPr>
              <a:defRPr sz="1000">
                <a:solidFill>
                  <a:srgbClr val="5A657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erre título 190"/>
          <p:cNvSpPr txBox="1"/>
          <p:nvPr/>
        </p:nvSpPr>
        <p:spPr>
          <a:xfrm>
            <a:off x="82296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Gracias</a:t>
            </a:r>
            <a:endParaRPr lang="en-US" sz="8000" dirty="0"/>
          </a:p>
        </p:txBody>
      </p:sp>
      <p:sp>
        <p:nvSpPr>
          <p:cNvPr id="3" name="Cierre empresa 191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DD1EB"/>
                </a:solidFill>
              </a:rPr>
              <a:t>JURIDICA ABOGADOS Y CONSULTORES S.A.S.</a:t>
            </a:r>
            <a:endParaRPr lang="en-US" sz="2800" dirty="0"/>
          </a:p>
        </p:txBody>
      </p:sp>
      <p:sp>
        <p:nvSpPr>
          <p:cNvPr id="4" name="Cierre corte 192"/>
          <p:cNvSpPr txBox="1"/>
          <p:nvPr/>
        </p:nvSpPr>
        <p:spPr>
          <a:xfrm>
            <a:off x="82296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Análisis Financiero · Corte a 30 de junio de 2026</a:t>
            </a:r>
            <a:endParaRPr lang="en-US" sz="2000" dirty="0"/>
          </a:p>
        </p:txBody>
      </p:sp>
      <p:sp>
        <p:nvSpPr>
          <p:cNvPr id="5" name="Preparado por 193"/>
          <p:cNvSpPr txBox="1"/>
          <p:nvPr/>
        </p:nvSpPr>
        <p:spPr>
          <a:xfrm>
            <a:off x="822960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1EB"/>
                </a:solidFill>
              </a:rPr>
              <a:t>Preparado por Asesorías Contables del Caribe S.A.S. (ACONTIS)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ONTIS">
      <a:dk1>
        <a:srgbClr val="1A2233"/>
      </a:dk1>
      <a:lt1>
        <a:srgbClr val="FFFFFF"/>
      </a:lt1>
      <a:dk2>
        <a:srgbClr val="011E66"/>
      </a:dk2>
      <a:lt2>
        <a:srgbClr val="F3F7FB"/>
      </a:lt2>
      <a:accent1>
        <a:srgbClr val="011E66"/>
      </a:accent1>
      <a:accent2>
        <a:srgbClr val="00AFBC"/>
      </a:accent2>
      <a:accent3>
        <a:srgbClr val="50C1E4"/>
      </a:accent3>
      <a:accent4>
        <a:srgbClr val="056875"/>
      </a:accent4>
      <a:accent5>
        <a:srgbClr val="E8A13D"/>
      </a:accent5>
      <a:accent6>
        <a:srgbClr val="C4453B"/>
      </a:accent6>
      <a:hlink>
        <a:srgbClr val="00AFBC"/>
      </a:hlink>
      <a:folHlink>
        <a:srgbClr val="056875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Asesorías Contables del Caribe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Financiero · Juridica Abogados y Consultores S.A.S.</dc:title>
  <dc:subject>PptxGenJS Presentation</dc:subject>
  <dc:creator>ACONTIS</dc:creator>
  <cp:lastModifiedBy>ACONTIS</cp:lastModifiedBy>
  <cp:revision>1</cp:revision>
  <dcterms:created xsi:type="dcterms:W3CDTF">2026-10-06T19:03:20Z</dcterms:created>
  <dcterms:modified xsi:type="dcterms:W3CDTF">2026-10-06T19:03:20Z</dcterms:modified>
</cp:coreProperties>
</file>