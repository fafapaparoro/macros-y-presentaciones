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3bb18a23-6de8-2f46-ac5d-938148d1120c}">
          <p14:sldIdLst>
            <p14:sldId id="256"/>
            <p14:sldId id="257"/>
          </p14:sldIdLst>
        </p14:section>
        <p14:section name="01. Antecedentes y entendimiento" id="{39750c5d-0c2a-aa97-f1a2-cb09f8395d73}">
          <p14:sldIdLst>
            <p14:sldId id="258"/>
            <p14:sldId id="259"/>
            <p14:sldId id="260"/>
          </p14:sldIdLst>
        </p14:section>
        <p14:section name="02. Objetivo de la consultoría" id="{abb1a405-782c-70f2-e956-d20ded48fd66}">
          <p14:sldIdLst>
            <p14:sldId id="261"/>
            <p14:sldId id="262"/>
          </p14:sldIdLst>
        </p14:section>
        <p14:section name="03. Alcance" id="{47713b8f-f836-f756-45f4-5c14edbd6316}">
          <p14:sldIdLst>
            <p14:sldId id="263"/>
            <p14:sldId id="264"/>
          </p14:sldIdLst>
        </p14:section>
        <p14:section name="04. Metodología y plan de trabajo" id="{a9f35b1f-6623-59c4-33bd-80a157a8b477}">
          <p14:sldIdLst>
            <p14:sldId id="265"/>
            <p14:sldId id="266"/>
            <p14:sldId id="267"/>
            <p14:sldId id="268"/>
          </p14:sldIdLst>
        </p14:section>
        <p14:section name="05. Entregables y cronograma" id="{3395abdc-44df-e72f-ff19-2631e34b6ad6}">
          <p14:sldIdLst>
            <p14:sldId id="269"/>
            <p14:sldId id="270"/>
            <p14:sldId id="271"/>
            <p14:sldId id="272"/>
          </p14:sldIdLst>
        </p14:section>
        <p14:section name="06. Equipo y aseguramiento de calidad" id="{45997c9b-e4f5-a837-e20b-e8e7d1590db3}">
          <p14:sldIdLst>
            <p14:sldId id="273"/>
            <p14:sldId id="274"/>
            <p14:sldId id="275"/>
            <p14:sldId id="276"/>
          </p14:sldIdLst>
        </p14:section>
        <p14:section name="07. Valor de la propuesta" id="{e44c16e1-1b9f-9452-d15b-21c59618689b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11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CROS-Y-PRESENTACIONES/assets/acontis/fondo_oficina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CROS-Y-PRESENTACIONES/assets/acontis/logo_acontis_fondo_o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669280"/>
            <a:ext cx="2487168" cy="8595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solidFill>
          <a:srgbClr val="011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CROS-Y-PRESENTACIONES/assets/acontis/fondo_oficina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CROS-Y-PRESENTACIONES/assets/acontis/logo_acontis_fondo_o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669280"/>
            <a:ext cx="2487168" cy="85953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600" b="1" dirty="0">
                <a:solidFill>
                  <a:srgbClr val="7DD1EB"/>
                </a:solidFill>
              </a:defRPr>
            </a:lvl1pPr>
          </a:lstStyle>
          <a:p>
            <a:pPr indent="0" marL="0">
              <a:buNone/>
            </a:pPr>
            <a:endParaRPr lang="en-US" sz="96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A657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pic>
        <p:nvPicPr>
          <p:cNvPr id="5" name="Image 0" descr="/home/user/MACROS-Y-PRESENTACIONES/assets/acontis/logo_acontis_fondo_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272784"/>
            <a:ext cx="1188720" cy="4114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966960" y="64282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</a:rPr>
              <a:t>Página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 1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Propuesta</a:t>
            </a:r>
            <a:endParaRPr lang="en-US" sz="7200" dirty="0"/>
          </a:p>
        </p:txBody>
      </p:sp>
      <p:sp>
        <p:nvSpPr>
          <p:cNvPr id="3" name="Título 2 2"/>
          <p:cNvSpPr txBox="1"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DD1EB"/>
                </a:solidFill>
              </a:rPr>
              <a:t>Consultoría Forense</a:t>
            </a:r>
            <a:endParaRPr lang="en-US" sz="7200" dirty="0"/>
          </a:p>
        </p:txBody>
      </p:sp>
      <p:sp>
        <p:nvSpPr>
          <p:cNvPr id="4" name="Cliente 3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Ministerio de Agricultura y Desarrollo Rural – MADR</a:t>
            </a:r>
            <a:endParaRPr lang="en-US" sz="3000" dirty="0"/>
          </a:p>
        </p:txBody>
      </p:sp>
      <p:sp>
        <p:nvSpPr>
          <p:cNvPr id="5" name="Objeto 4"/>
          <p:cNvSpPr txBox="1"/>
          <p:nvPr/>
        </p:nvSpPr>
        <p:spPr>
          <a:xfrm>
            <a:off x="822960" y="34747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DD1EB"/>
                </a:solidFill>
              </a:rPr>
              <a:t>Propuesta comercial y económica · Consultoría especializada con enfoque forense para la evaluación de los recursos del Fondo Nacional del Arroz</a:t>
            </a:r>
            <a:endParaRPr lang="en-US" sz="1800" dirty="0"/>
          </a:p>
        </p:txBody>
      </p:sp>
      <p:sp>
        <p:nvSpPr>
          <p:cNvPr id="6" name="Fecha 5"/>
          <p:cNvSpPr txBox="1"/>
          <p:nvPr/>
        </p:nvSpPr>
        <p:spPr>
          <a:xfrm>
            <a:off x="822960" y="4389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Bogotá D.C., octubre de 2026</a:t>
            </a:r>
            <a:endParaRPr lang="en-US" sz="2400" dirty="0"/>
          </a:p>
        </p:txBody>
      </p:sp>
      <p:sp>
        <p:nvSpPr>
          <p:cNvPr id="7" name="Preparado por 6"/>
          <p:cNvSpPr txBox="1"/>
          <p:nvPr/>
        </p:nvSpPr>
        <p:spPr>
          <a:xfrm>
            <a:off x="82296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1EB"/>
                </a:solidFill>
              </a:rPr>
              <a:t>Preparado por Asesorías Contables del Caribe S.A.S. (ACONTIS)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CONTENIDO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CONTENIDO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Una propuesta construida a partir de los requerimientos técnicos definidos por el Ministerio.</a:t>
            </a:r>
            <a:endParaRPr lang="en-US" sz="1500" dirty="0"/>
          </a:p>
        </p:txBody>
      </p:sp>
      <p:sp>
        <p:nvSpPr>
          <p:cNvPr id="5" name="Píldora 7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Índice 01 319"/>
          <p:cNvSpPr/>
          <p:nvPr/>
        </p:nvSpPr>
        <p:spPr>
          <a:xfrm>
            <a:off x="548640" y="1691640"/>
            <a:ext cx="69494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Índice número 320"/>
          <p:cNvSpPr txBox="1"/>
          <p:nvPr/>
        </p:nvSpPr>
        <p:spPr>
          <a:xfrm>
            <a:off x="77724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Índice título 321"/>
          <p:cNvSpPr txBox="1"/>
          <p:nvPr/>
        </p:nvSpPr>
        <p:spPr>
          <a:xfrm>
            <a:off x="150876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Antecedentes y entendimiento</a:t>
            </a:r>
            <a:endParaRPr lang="en-US" sz="1600" dirty="0"/>
          </a:p>
        </p:txBody>
      </p:sp>
      <p:sp>
        <p:nvSpPr>
          <p:cNvPr id="9" name="Índice página 322"/>
          <p:cNvSpPr txBox="1"/>
          <p:nvPr/>
        </p:nvSpPr>
        <p:spPr>
          <a:xfrm>
            <a:off x="6629400" y="16916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Índice 02 323"/>
          <p:cNvSpPr/>
          <p:nvPr/>
        </p:nvSpPr>
        <p:spPr>
          <a:xfrm>
            <a:off x="548640" y="2240280"/>
            <a:ext cx="69494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Índice número 324"/>
          <p:cNvSpPr txBox="1"/>
          <p:nvPr/>
        </p:nvSpPr>
        <p:spPr>
          <a:xfrm>
            <a:off x="77724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Índice título 325"/>
          <p:cNvSpPr txBox="1"/>
          <p:nvPr/>
        </p:nvSpPr>
        <p:spPr>
          <a:xfrm>
            <a:off x="15087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 de la consultoría</a:t>
            </a:r>
            <a:endParaRPr lang="en-US" sz="1600" dirty="0"/>
          </a:p>
        </p:txBody>
      </p:sp>
      <p:sp>
        <p:nvSpPr>
          <p:cNvPr id="13" name="Índice página 326"/>
          <p:cNvSpPr txBox="1"/>
          <p:nvPr/>
        </p:nvSpPr>
        <p:spPr>
          <a:xfrm>
            <a:off x="6629400" y="22402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6</a:t>
            </a:r>
            <a:endParaRPr lang="en-US" sz="1400" dirty="0"/>
          </a:p>
        </p:txBody>
      </p:sp>
      <p:sp>
        <p:nvSpPr>
          <p:cNvPr id="14" name="Índice 03 327"/>
          <p:cNvSpPr/>
          <p:nvPr/>
        </p:nvSpPr>
        <p:spPr>
          <a:xfrm>
            <a:off x="548640" y="2788920"/>
            <a:ext cx="69494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Índice número 328"/>
          <p:cNvSpPr txBox="1"/>
          <p:nvPr/>
        </p:nvSpPr>
        <p:spPr>
          <a:xfrm>
            <a:off x="77724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Índice título 329"/>
          <p:cNvSpPr txBox="1"/>
          <p:nvPr/>
        </p:nvSpPr>
        <p:spPr>
          <a:xfrm>
            <a:off x="150876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Alcance</a:t>
            </a:r>
            <a:endParaRPr lang="en-US" sz="1600" dirty="0"/>
          </a:p>
        </p:txBody>
      </p:sp>
      <p:sp>
        <p:nvSpPr>
          <p:cNvPr id="17" name="Índice página 330"/>
          <p:cNvSpPr txBox="1"/>
          <p:nvPr/>
        </p:nvSpPr>
        <p:spPr>
          <a:xfrm>
            <a:off x="6629400" y="27889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Índice 04 331"/>
          <p:cNvSpPr/>
          <p:nvPr/>
        </p:nvSpPr>
        <p:spPr>
          <a:xfrm>
            <a:off x="548640" y="3337560"/>
            <a:ext cx="69494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9" name="Índice número 332"/>
          <p:cNvSpPr txBox="1"/>
          <p:nvPr/>
        </p:nvSpPr>
        <p:spPr>
          <a:xfrm>
            <a:off x="77724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Índice título 333"/>
          <p:cNvSpPr txBox="1"/>
          <p:nvPr/>
        </p:nvSpPr>
        <p:spPr>
          <a:xfrm>
            <a:off x="150876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Metodología y plan de trabajo</a:t>
            </a:r>
            <a:endParaRPr lang="en-US" sz="1600" dirty="0"/>
          </a:p>
        </p:txBody>
      </p:sp>
      <p:sp>
        <p:nvSpPr>
          <p:cNvPr id="21" name="Índice página 334"/>
          <p:cNvSpPr txBox="1"/>
          <p:nvPr/>
        </p:nvSpPr>
        <p:spPr>
          <a:xfrm>
            <a:off x="6629400" y="3337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10</a:t>
            </a:r>
            <a:endParaRPr lang="en-US" sz="1400" dirty="0"/>
          </a:p>
        </p:txBody>
      </p:sp>
      <p:sp>
        <p:nvSpPr>
          <p:cNvPr id="22" name="Índice 05 335"/>
          <p:cNvSpPr/>
          <p:nvPr/>
        </p:nvSpPr>
        <p:spPr>
          <a:xfrm>
            <a:off x="548640" y="3886200"/>
            <a:ext cx="69494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3" name="Índice número 336"/>
          <p:cNvSpPr txBox="1"/>
          <p:nvPr/>
        </p:nvSpPr>
        <p:spPr>
          <a:xfrm>
            <a:off x="77724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Índice título 337"/>
          <p:cNvSpPr txBox="1"/>
          <p:nvPr/>
        </p:nvSpPr>
        <p:spPr>
          <a:xfrm>
            <a:off x="150876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Entregables y cronograma</a:t>
            </a:r>
            <a:endParaRPr lang="en-US" sz="1600" dirty="0"/>
          </a:p>
        </p:txBody>
      </p:sp>
      <p:sp>
        <p:nvSpPr>
          <p:cNvPr id="25" name="Índice página 338"/>
          <p:cNvSpPr txBox="1"/>
          <p:nvPr/>
        </p:nvSpPr>
        <p:spPr>
          <a:xfrm>
            <a:off x="6629400" y="3886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14</a:t>
            </a:r>
            <a:endParaRPr lang="en-US" sz="1400" dirty="0"/>
          </a:p>
        </p:txBody>
      </p:sp>
      <p:sp>
        <p:nvSpPr>
          <p:cNvPr id="26" name="Índice 06 339"/>
          <p:cNvSpPr/>
          <p:nvPr/>
        </p:nvSpPr>
        <p:spPr>
          <a:xfrm>
            <a:off x="548640" y="4434840"/>
            <a:ext cx="69494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Índice número 340"/>
          <p:cNvSpPr txBox="1"/>
          <p:nvPr/>
        </p:nvSpPr>
        <p:spPr>
          <a:xfrm>
            <a:off x="777240" y="4434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Índice título 341"/>
          <p:cNvSpPr txBox="1"/>
          <p:nvPr/>
        </p:nvSpPr>
        <p:spPr>
          <a:xfrm>
            <a:off x="150876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Equipo y aseguramiento de calidad</a:t>
            </a:r>
            <a:endParaRPr lang="en-US" sz="1600" dirty="0"/>
          </a:p>
        </p:txBody>
      </p:sp>
      <p:sp>
        <p:nvSpPr>
          <p:cNvPr id="29" name="Índice página 342"/>
          <p:cNvSpPr txBox="1"/>
          <p:nvPr/>
        </p:nvSpPr>
        <p:spPr>
          <a:xfrm>
            <a:off x="6629400" y="44348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18</a:t>
            </a:r>
            <a:endParaRPr lang="en-US" sz="1400" dirty="0"/>
          </a:p>
        </p:txBody>
      </p:sp>
      <p:sp>
        <p:nvSpPr>
          <p:cNvPr id="30" name="Índice 07 343"/>
          <p:cNvSpPr/>
          <p:nvPr/>
        </p:nvSpPr>
        <p:spPr>
          <a:xfrm>
            <a:off x="548640" y="4983480"/>
            <a:ext cx="694944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1" name="Índice número 344"/>
          <p:cNvSpPr txBox="1"/>
          <p:nvPr/>
        </p:nvSpPr>
        <p:spPr>
          <a:xfrm>
            <a:off x="777240" y="4983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07</a:t>
            </a:r>
            <a:endParaRPr lang="en-US" sz="1800" dirty="0"/>
          </a:p>
        </p:txBody>
      </p:sp>
      <p:sp>
        <p:nvSpPr>
          <p:cNvPr id="32" name="Índice título 345"/>
          <p:cNvSpPr txBox="1"/>
          <p:nvPr/>
        </p:nvSpPr>
        <p:spPr>
          <a:xfrm>
            <a:off x="150876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Valor de la propuesta</a:t>
            </a:r>
            <a:endParaRPr lang="en-US" sz="1600" dirty="0"/>
          </a:p>
        </p:txBody>
      </p:sp>
      <p:sp>
        <p:nvSpPr>
          <p:cNvPr id="33" name="Índice página 346"/>
          <p:cNvSpPr txBox="1"/>
          <p:nvPr/>
        </p:nvSpPr>
        <p:spPr>
          <a:xfrm>
            <a:off x="6629400" y="4983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22</a:t>
            </a:r>
            <a:endParaRPr lang="en-US" sz="1400" dirty="0"/>
          </a:p>
        </p:txBody>
      </p:sp>
      <p:sp>
        <p:nvSpPr>
          <p:cNvPr id="34" name="Datos clave 347"/>
          <p:cNvSpPr/>
          <p:nvPr/>
        </p:nvSpPr>
        <p:spPr>
          <a:xfrm>
            <a:off x="7818120" y="1691640"/>
            <a:ext cx="3822192" cy="3749040"/>
          </a:xfrm>
          <a:prstGeom prst="roundRect">
            <a:avLst>
              <a:gd name="adj" fmla="val 29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Resumen título 348"/>
          <p:cNvSpPr txBox="1"/>
          <p:nvPr/>
        </p:nvSpPr>
        <p:spPr>
          <a:xfrm>
            <a:off x="8092440" y="18745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D1EB"/>
                </a:solidFill>
              </a:rPr>
              <a:t>EN RESUMEN</a:t>
            </a:r>
            <a:endParaRPr lang="en-US" sz="1300" dirty="0"/>
          </a:p>
        </p:txBody>
      </p:sp>
      <p:sp>
        <p:nvSpPr>
          <p:cNvPr id="36" name="Resumen etiqueta 349"/>
          <p:cNvSpPr txBox="1"/>
          <p:nvPr/>
        </p:nvSpPr>
        <p:spPr>
          <a:xfrm>
            <a:off x="8092440" y="228600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Vigencias</a:t>
            </a:r>
            <a:endParaRPr lang="en-US" sz="1200" dirty="0"/>
          </a:p>
        </p:txBody>
      </p:sp>
      <p:sp>
        <p:nvSpPr>
          <p:cNvPr id="37" name="Resumen valor 350"/>
          <p:cNvSpPr txBox="1"/>
          <p:nvPr/>
        </p:nvSpPr>
        <p:spPr>
          <a:xfrm>
            <a:off x="8092440" y="2542032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2024 y 2025</a:t>
            </a:r>
            <a:endParaRPr lang="en-US" sz="2200" dirty="0"/>
          </a:p>
        </p:txBody>
      </p:sp>
      <p:sp>
        <p:nvSpPr>
          <p:cNvPr id="38" name="Resumen etiqueta 351"/>
          <p:cNvSpPr txBox="1"/>
          <p:nvPr/>
        </p:nvSpPr>
        <p:spPr>
          <a:xfrm>
            <a:off x="8092440" y="306324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Componentes del alcance</a:t>
            </a:r>
            <a:endParaRPr lang="en-US" sz="1200" dirty="0"/>
          </a:p>
        </p:txBody>
      </p:sp>
      <p:sp>
        <p:nvSpPr>
          <p:cNvPr id="39" name="Resumen valor 352"/>
          <p:cNvSpPr txBox="1"/>
          <p:nvPr/>
        </p:nvSpPr>
        <p:spPr>
          <a:xfrm>
            <a:off x="8092440" y="3319272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40" name="Resumen etiqueta 353"/>
          <p:cNvSpPr txBox="1"/>
          <p:nvPr/>
        </p:nvSpPr>
        <p:spPr>
          <a:xfrm>
            <a:off x="8092440" y="384048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Entregables base</a:t>
            </a:r>
            <a:endParaRPr lang="en-US" sz="1200" dirty="0"/>
          </a:p>
        </p:txBody>
      </p:sp>
      <p:sp>
        <p:nvSpPr>
          <p:cNvPr id="41" name="Resumen valor 354"/>
          <p:cNvSpPr txBox="1"/>
          <p:nvPr/>
        </p:nvSpPr>
        <p:spPr>
          <a:xfrm>
            <a:off x="8092440" y="4096512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 + dictamen condicional</a:t>
            </a:r>
            <a:endParaRPr lang="en-US" sz="2200" dirty="0"/>
          </a:p>
        </p:txBody>
      </p:sp>
      <p:sp>
        <p:nvSpPr>
          <p:cNvPr id="42" name="Resumen etiqueta 355"/>
          <p:cNvSpPr txBox="1"/>
          <p:nvPr/>
        </p:nvSpPr>
        <p:spPr>
          <a:xfrm>
            <a:off x="8092440" y="461772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Valor base IVA incluido</a:t>
            </a:r>
            <a:endParaRPr lang="en-US" sz="1200" dirty="0"/>
          </a:p>
        </p:txBody>
      </p:sp>
      <p:sp>
        <p:nvSpPr>
          <p:cNvPr id="43" name="Resumen valor 356"/>
          <p:cNvSpPr txBox="1"/>
          <p:nvPr/>
        </p:nvSpPr>
        <p:spPr>
          <a:xfrm>
            <a:off x="8092440" y="4873752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$654.500.000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7DD1EB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Antecedentes y entendimiento</a:t>
            </a:r>
            <a:endParaRPr lang="en-US" sz="5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Lo que el Ministerio necesita y cómo lo entendemos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01 · ANTECEDENTES Y ENTENDIMIENTO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ANTECEDENTES Y ENTENDIMIENTO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El MADR requiere una revisión independiente para fortalecer su vigilancia administrativa sobre los recursos del Fondo.</a:t>
            </a:r>
            <a:endParaRPr lang="en-US" sz="1500" dirty="0"/>
          </a:p>
        </p:txBody>
      </p:sp>
      <p:sp>
        <p:nvSpPr>
          <p:cNvPr id="5" name="Píldora 8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NATURALEZA DE LOS RECURSOS 9"/>
          <p:cNvSpPr/>
          <p:nvPr/>
        </p:nvSpPr>
        <p:spPr>
          <a:xfrm>
            <a:off x="548640" y="169164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Columna título 10"/>
          <p:cNvSpPr txBox="1"/>
          <p:nvPr/>
        </p:nvSpPr>
        <p:spPr>
          <a:xfrm>
            <a:off x="822960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NATURALEZA DE LOS RECURSOS</a:t>
            </a:r>
            <a:endParaRPr lang="en-US" sz="1500" dirty="0"/>
          </a:p>
        </p:txBody>
      </p:sp>
      <p:sp>
        <p:nvSpPr>
          <p:cNvPr id="8" name="Columna detalle 11"/>
          <p:cNvSpPr txBox="1"/>
          <p:nvPr/>
        </p:nvSpPr>
        <p:spPr>
          <a:xfrm>
            <a:off x="822960" y="24231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Recursos de naturaleza parafiscal del Fondo Nacional del Arroz.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Administrados bajo el Contrato de Administración de la Cuota de Fomento Arrocero No. 198 de 1996.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Vigencias objeto de revisión: del 1 de enero de 2024 al 31 de diciembre de 2025.</a:t>
            </a:r>
            <a:endParaRPr lang="en-US" sz="1400" dirty="0"/>
          </a:p>
        </p:txBody>
      </p:sp>
      <p:sp>
        <p:nvSpPr>
          <p:cNvPr id="9" name="LO QUE REQUIERE EL MADR 12"/>
          <p:cNvSpPr/>
          <p:nvPr/>
        </p:nvSpPr>
        <p:spPr>
          <a:xfrm>
            <a:off x="4311396" y="169164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0" name="Columna título 13"/>
          <p:cNvSpPr txBox="1"/>
          <p:nvPr/>
        </p:nvSpPr>
        <p:spPr>
          <a:xfrm>
            <a:off x="4585716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LO QUE REQUIERE EL MADR</a:t>
            </a:r>
            <a:endParaRPr lang="en-US" sz="1500" dirty="0"/>
          </a:p>
        </p:txBody>
      </p:sp>
      <p:sp>
        <p:nvSpPr>
          <p:cNvPr id="11" name="Columna detalle 14"/>
          <p:cNvSpPr txBox="1"/>
          <p:nvPr/>
        </p:nvSpPr>
        <p:spPr>
          <a:xfrm>
            <a:off x="4585716" y="24231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Revisar el universo de información contable, financiera, contractual, presupuestal y de recaudo.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Diferenciar los hechos acreditados de los que requieren comprobaciones adicionales.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Hallazgos soportados con evidencia organizada y trazable.</a:t>
            </a:r>
            <a:endParaRPr lang="en-US" sz="1400" dirty="0"/>
          </a:p>
        </p:txBody>
      </p:sp>
      <p:sp>
        <p:nvSpPr>
          <p:cNvPr id="12" name="CÓMO LO ABORDAMOS 15"/>
          <p:cNvSpPr/>
          <p:nvPr/>
        </p:nvSpPr>
        <p:spPr>
          <a:xfrm>
            <a:off x="8074152" y="169164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olumna título 16"/>
          <p:cNvSpPr txBox="1"/>
          <p:nvPr/>
        </p:nvSpPr>
        <p:spPr>
          <a:xfrm>
            <a:off x="8348472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DD1EB"/>
                </a:solidFill>
              </a:rPr>
              <a:t>CÓMO LO ABORDAMOS</a:t>
            </a:r>
            <a:endParaRPr lang="en-US" sz="1500" dirty="0"/>
          </a:p>
        </p:txBody>
      </p:sp>
      <p:sp>
        <p:nvSpPr>
          <p:cNvPr id="14" name="Columna detalle 17"/>
          <p:cNvSpPr txBox="1"/>
          <p:nvPr/>
        </p:nvSpPr>
        <p:spPr>
          <a:xfrm>
            <a:off x="8348472" y="24231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Auditoría financiera y contable, y revisión jurídica y contractual.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Análisis patrimonial, investigación forense y analítica de datos.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Revisión documental, verificación de operaciones, partes vinculadas, visitas de campo y expedientes de evidencia.</a:t>
            </a:r>
            <a:endParaRPr lang="en-US" sz="1400" dirty="0"/>
          </a:p>
        </p:txBody>
      </p:sp>
      <p:sp>
        <p:nvSpPr>
          <p:cNvPr id="15" name="Mensaje clave 18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Mensaje clave texto 19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Nuestro propósito: establecer hechos verificables con su criterio, evidencia, incidencia y, cuando la información lo permita, su cuantificación.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01 · ANTECEDENTES Y ENTENDIMIENTO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CUATRO PREGUNTAS QUE GUÍAN LA CONSULTORÍA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La metodología se orienta a responder, para cada situación, cuatro preguntas fundamentales.</a:t>
            </a:r>
            <a:endParaRPr lang="en-US" sz="1500" dirty="0"/>
          </a:p>
        </p:txBody>
      </p:sp>
      <p:sp>
        <p:nvSpPr>
          <p:cNvPr id="5" name="Píldora 20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Pregunta 1 21"/>
          <p:cNvSpPr/>
          <p:nvPr/>
        </p:nvSpPr>
        <p:spPr>
          <a:xfrm>
            <a:off x="548640" y="1691640"/>
            <a:ext cx="2633472" cy="365760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Número 22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Pregunta etiqueta 23"/>
          <p:cNvSpPr txBox="1"/>
          <p:nvPr/>
        </p:nvSpPr>
        <p:spPr>
          <a:xfrm>
            <a:off x="1600200" y="20756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HECHO</a:t>
            </a:r>
            <a:endParaRPr lang="en-US" sz="1600" dirty="0"/>
          </a:p>
        </p:txBody>
      </p:sp>
      <p:sp>
        <p:nvSpPr>
          <p:cNvPr id="9" name="Pregunta 24"/>
          <p:cNvSpPr txBox="1"/>
          <p:nvPr/>
        </p:nvSpPr>
        <p:spPr>
          <a:xfrm>
            <a:off x="822960" y="283464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¿Qué ocurrió?</a:t>
            </a:r>
            <a:endParaRPr lang="en-US" sz="2000" dirty="0"/>
          </a:p>
        </p:txBody>
      </p:sp>
      <p:sp>
        <p:nvSpPr>
          <p:cNvPr id="10" name="Pregunta detalle 25"/>
          <p:cNvSpPr txBox="1"/>
          <p:nvPr/>
        </p:nvSpPr>
        <p:spPr>
          <a:xfrm>
            <a:off x="822960" y="388620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situación verificable, el período y las operaciones involucradas.</a:t>
            </a:r>
            <a:endParaRPr lang="en-US" sz="1400" dirty="0"/>
          </a:p>
        </p:txBody>
      </p:sp>
      <p:sp>
        <p:nvSpPr>
          <p:cNvPr id="11" name="Pregunta 2 26"/>
          <p:cNvSpPr/>
          <p:nvPr/>
        </p:nvSpPr>
        <p:spPr>
          <a:xfrm>
            <a:off x="3364992" y="1691640"/>
            <a:ext cx="2633472" cy="365760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Número 27"/>
          <p:cNvSpPr/>
          <p:nvPr/>
        </p:nvSpPr>
        <p:spPr>
          <a:xfrm>
            <a:off x="3639312" y="196596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Pregunta etiqueta 28"/>
          <p:cNvSpPr txBox="1"/>
          <p:nvPr/>
        </p:nvSpPr>
        <p:spPr>
          <a:xfrm>
            <a:off x="4416552" y="20756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CRITERIO</a:t>
            </a:r>
            <a:endParaRPr lang="en-US" sz="1600" dirty="0"/>
          </a:p>
        </p:txBody>
      </p:sp>
      <p:sp>
        <p:nvSpPr>
          <p:cNvPr id="14" name="Pregunta 29"/>
          <p:cNvSpPr txBox="1"/>
          <p:nvPr/>
        </p:nvSpPr>
        <p:spPr>
          <a:xfrm>
            <a:off x="3639312" y="283464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¿Cuál era el criterio aplicable?</a:t>
            </a:r>
            <a:endParaRPr lang="en-US" sz="2000" dirty="0"/>
          </a:p>
        </p:txBody>
      </p:sp>
      <p:sp>
        <p:nvSpPr>
          <p:cNvPr id="15" name="Pregunta detalle 30"/>
          <p:cNvSpPr txBox="1"/>
          <p:nvPr/>
        </p:nvSpPr>
        <p:spPr>
          <a:xfrm>
            <a:off x="3639312" y="388620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marco contractual, legal, financiero o administrativo contra el que se evalúa.</a:t>
            </a:r>
            <a:endParaRPr lang="en-US" sz="1400" dirty="0"/>
          </a:p>
        </p:txBody>
      </p:sp>
      <p:sp>
        <p:nvSpPr>
          <p:cNvPr id="16" name="Pregunta 3 31"/>
          <p:cNvSpPr/>
          <p:nvPr/>
        </p:nvSpPr>
        <p:spPr>
          <a:xfrm>
            <a:off x="6181344" y="1691640"/>
            <a:ext cx="2633472" cy="365760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7" name="Número 32"/>
          <p:cNvSpPr/>
          <p:nvPr/>
        </p:nvSpPr>
        <p:spPr>
          <a:xfrm>
            <a:off x="6455664" y="196596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Pregunta etiqueta 33"/>
          <p:cNvSpPr txBox="1"/>
          <p:nvPr/>
        </p:nvSpPr>
        <p:spPr>
          <a:xfrm>
            <a:off x="7232904" y="20756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EVIDENCIA</a:t>
            </a:r>
            <a:endParaRPr lang="en-US" sz="1600" dirty="0"/>
          </a:p>
        </p:txBody>
      </p:sp>
      <p:sp>
        <p:nvSpPr>
          <p:cNvPr id="19" name="Pregunta 34"/>
          <p:cNvSpPr txBox="1"/>
          <p:nvPr/>
        </p:nvSpPr>
        <p:spPr>
          <a:xfrm>
            <a:off x="6455664" y="283464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¿Qué evidencia lo demuestra?</a:t>
            </a:r>
            <a:endParaRPr lang="en-US" sz="2000" dirty="0"/>
          </a:p>
        </p:txBody>
      </p:sp>
      <p:sp>
        <p:nvSpPr>
          <p:cNvPr id="20" name="Pregunta detalle 35"/>
          <p:cNvSpPr txBox="1"/>
          <p:nvPr/>
        </p:nvSpPr>
        <p:spPr>
          <a:xfrm>
            <a:off x="6455664" y="388620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Soportes suficientes, pertinentes y trazables, organizados por situación.</a:t>
            </a:r>
            <a:endParaRPr lang="en-US" sz="1400" dirty="0"/>
          </a:p>
        </p:txBody>
      </p:sp>
      <p:sp>
        <p:nvSpPr>
          <p:cNvPr id="21" name="Pregunta 4 36"/>
          <p:cNvSpPr/>
          <p:nvPr/>
        </p:nvSpPr>
        <p:spPr>
          <a:xfrm>
            <a:off x="8997696" y="1691640"/>
            <a:ext cx="2633472" cy="365760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Número 37"/>
          <p:cNvSpPr/>
          <p:nvPr/>
        </p:nvSpPr>
        <p:spPr>
          <a:xfrm>
            <a:off x="9272016" y="196596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Pregunta etiqueta 38"/>
          <p:cNvSpPr txBox="1"/>
          <p:nvPr/>
        </p:nvSpPr>
        <p:spPr>
          <a:xfrm>
            <a:off x="10049256" y="207568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EFECTO</a:t>
            </a:r>
            <a:endParaRPr lang="en-US" sz="1600" dirty="0"/>
          </a:p>
        </p:txBody>
      </p:sp>
      <p:sp>
        <p:nvSpPr>
          <p:cNvPr id="24" name="Pregunta 39"/>
          <p:cNvSpPr txBox="1"/>
          <p:nvPr/>
        </p:nvSpPr>
        <p:spPr>
          <a:xfrm>
            <a:off x="9272016" y="283464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¿Cuál es su efecto y cómo se cuantifica?</a:t>
            </a:r>
            <a:endParaRPr lang="en-US" sz="2000" dirty="0"/>
          </a:p>
        </p:txBody>
      </p:sp>
      <p:sp>
        <p:nvSpPr>
          <p:cNvPr id="25" name="Pregunta detalle 40"/>
          <p:cNvSpPr txBox="1"/>
          <p:nvPr/>
        </p:nvSpPr>
        <p:spPr>
          <a:xfrm>
            <a:off x="9272016" y="388620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posible incidencia y la cuantificación de la desviación o del posible perjuicio.</a:t>
            </a:r>
            <a:endParaRPr lang="en-US" sz="1400" dirty="0"/>
          </a:p>
        </p:txBody>
      </p:sp>
      <p:sp>
        <p:nvSpPr>
          <p:cNvPr id="26" name="Mensaje clave 41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Mensaje clave texto 42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 basta con identificar diferencias: cada situación se sustenta en procedimientos técnicos y evidencia verificable.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7DD1EB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Objetivo de la consultoría</a:t>
            </a:r>
            <a:endParaRPr lang="en-US" sz="5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Una evaluación integral con enfoque forense de las vigencias 2024 y 2025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02 · OBJETIVO DE LA CONSULTORÍA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OBJETIVO DE LA CONSULTORÍA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Una evaluación diseñada para entregar al Ministerio evidencia propia sobre el manejo de los recursos.</a:t>
            </a:r>
            <a:endParaRPr lang="en-US" sz="1500" dirty="0"/>
          </a:p>
        </p:txBody>
      </p:sp>
      <p:sp>
        <p:nvSpPr>
          <p:cNvPr id="5" name="Píldora 43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Objetivo 44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Objetivo texto 45"/>
          <p:cNvSpPr txBox="1"/>
          <p:nvPr/>
        </p:nvSpPr>
        <p:spPr>
          <a:xfrm>
            <a:off x="822960" y="1691640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Realizar una evaluación integral con enfoque forense sobre la administración, recaudo, manejo, ejecución y aplicación de los recursos del Fondo Nacional del Arroz durante las vigencias 2024 y 2025, mediante auditoría, análisis financiero, revisión contractual, analítica de datos y verificación documental y física.</a:t>
            </a:r>
            <a:endParaRPr lang="en-US" sz="1400" dirty="0"/>
          </a:p>
        </p:txBody>
      </p:sp>
      <p:sp>
        <p:nvSpPr>
          <p:cNvPr id="8" name="Pilar RECAUDO 46"/>
          <p:cNvSpPr/>
          <p:nvPr/>
        </p:nvSpPr>
        <p:spPr>
          <a:xfrm>
            <a:off x="548640" y="2788920"/>
            <a:ext cx="2633472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9" name="Número 47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Pilar título 48"/>
          <p:cNvSpPr txBox="1"/>
          <p:nvPr/>
        </p:nvSpPr>
        <p:spPr>
          <a:xfrm>
            <a:off x="1371600" y="2990088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RECAUDO</a:t>
            </a:r>
            <a:endParaRPr lang="en-US" sz="1300" dirty="0"/>
          </a:p>
        </p:txBody>
      </p:sp>
      <p:sp>
        <p:nvSpPr>
          <p:cNvPr id="11" name="Pilar detalle 49"/>
          <p:cNvSpPr txBox="1"/>
          <p:nvPr/>
        </p:nvSpPr>
        <p:spPr>
          <a:xfrm>
            <a:off x="777240" y="3657600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Integridad del recaudo de la Cuota de Fomento Arrocero.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Diferencias, omisiones, evasión o elusión identificables.</a:t>
            </a:r>
            <a:endParaRPr lang="en-US" sz="1200" dirty="0"/>
          </a:p>
        </p:txBody>
      </p:sp>
      <p:sp>
        <p:nvSpPr>
          <p:cNvPr id="12" name="Pilar APLICACIÓN DE LOS RECURSOS 50"/>
          <p:cNvSpPr/>
          <p:nvPr/>
        </p:nvSpPr>
        <p:spPr>
          <a:xfrm>
            <a:off x="3364992" y="2788920"/>
            <a:ext cx="2633472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3" name="Número 51"/>
          <p:cNvSpPr/>
          <p:nvPr/>
        </p:nvSpPr>
        <p:spPr>
          <a:xfrm>
            <a:off x="3593592" y="30175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ilar título 52"/>
          <p:cNvSpPr txBox="1"/>
          <p:nvPr/>
        </p:nvSpPr>
        <p:spPr>
          <a:xfrm>
            <a:off x="4187952" y="2990088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APLICACIÓN DE LOS RECURSOS</a:t>
            </a:r>
            <a:endParaRPr lang="en-US" sz="1300" dirty="0"/>
          </a:p>
        </p:txBody>
      </p:sp>
      <p:sp>
        <p:nvSpPr>
          <p:cNvPr id="15" name="Pilar detalle 53"/>
          <p:cNvSpPr txBox="1"/>
          <p:nvPr/>
        </p:nvSpPr>
        <p:spPr>
          <a:xfrm>
            <a:off x="3593592" y="3657600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Destinación legal y correspondencia con planes, programas y proyectos.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Razonabilidad de operaciones financieras y contables.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Contraprestación de administración y reservas.</a:t>
            </a:r>
            <a:endParaRPr lang="en-US" sz="1200" dirty="0"/>
          </a:p>
        </p:txBody>
      </p:sp>
      <p:sp>
        <p:nvSpPr>
          <p:cNvPr id="16" name="Pilar GOBIERNO Y SEPARACIÓN 54"/>
          <p:cNvSpPr/>
          <p:nvPr/>
        </p:nvSpPr>
        <p:spPr>
          <a:xfrm>
            <a:off x="6181344" y="2788920"/>
            <a:ext cx="2633472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7" name="Número 55"/>
          <p:cNvSpPr/>
          <p:nvPr/>
        </p:nvSpPr>
        <p:spPr>
          <a:xfrm>
            <a:off x="6409944" y="30175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Pilar título 56"/>
          <p:cNvSpPr txBox="1"/>
          <p:nvPr/>
        </p:nvSpPr>
        <p:spPr>
          <a:xfrm>
            <a:off x="7004304" y="2990088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GOBIERNO Y SEPARACIÓN</a:t>
            </a:r>
            <a:endParaRPr lang="en-US" sz="1300" dirty="0"/>
          </a:p>
        </p:txBody>
      </p:sp>
      <p:sp>
        <p:nvSpPr>
          <p:cNvPr id="19" name="Pilar detalle 57"/>
          <p:cNvSpPr txBox="1"/>
          <p:nvPr/>
        </p:nvSpPr>
        <p:spPr>
          <a:xfrm>
            <a:off x="6409944" y="3657600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Separación patrimonial y contable entre el Fondo y el administrador.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Operaciones con terceros y partes relacionadas.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Trazabilidad de las decisiones de los órganos de dirección.</a:t>
            </a:r>
            <a:endParaRPr lang="en-US" sz="1200" dirty="0"/>
          </a:p>
        </p:txBody>
      </p:sp>
      <p:sp>
        <p:nvSpPr>
          <p:cNvPr id="20" name="Pilar HALLAZGOS Y EVIDENCIA 58"/>
          <p:cNvSpPr/>
          <p:nvPr/>
        </p:nvSpPr>
        <p:spPr>
          <a:xfrm>
            <a:off x="8997696" y="2788920"/>
            <a:ext cx="2633472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1" name="Número 59"/>
          <p:cNvSpPr/>
          <p:nvPr/>
        </p:nvSpPr>
        <p:spPr>
          <a:xfrm>
            <a:off x="9226296" y="30175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Pilar título 60"/>
          <p:cNvSpPr txBox="1"/>
          <p:nvPr/>
        </p:nvSpPr>
        <p:spPr>
          <a:xfrm>
            <a:off x="9820656" y="2990088"/>
            <a:ext cx="1673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HALLAZGOS Y EVIDENCIA</a:t>
            </a:r>
            <a:endParaRPr lang="en-US" sz="1300" dirty="0"/>
          </a:p>
        </p:txBody>
      </p:sp>
      <p:sp>
        <p:nvSpPr>
          <p:cNvPr id="23" name="Pilar detalle 61"/>
          <p:cNvSpPr txBox="1"/>
          <p:nvPr/>
        </p:nvSpPr>
        <p:spPr>
          <a:xfrm>
            <a:off x="9226296" y="3657600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Situaciones susceptibles de constituir hallazgos.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Cuantificación de desviaciones o posibles perjuicios.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Organización de la evidencia de cada situación.</a:t>
            </a:r>
            <a:endParaRPr lang="en-US" sz="1200" dirty="0"/>
          </a:p>
        </p:txBody>
      </p:sp>
      <p:sp>
        <p:nvSpPr>
          <p:cNvPr id="24" name="Mensaje clave 62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Mensaje clave texto 63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 resultado es evidencia independiente y trazable que el MADR puede usar como soporte de sus actuaciones administrativas.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7DD1EB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Alcance</a:t>
            </a:r>
            <a:endParaRPr lang="en-US" sz="5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Seis componentes que cubren el ciclo completo de los recursos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03 · ALCANCE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ALCANCE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Vigencias 2024 y 2025: del recaudo de la cuota a los mecanismos de gobierno y toma de decisiones.</a:t>
            </a:r>
            <a:endParaRPr lang="en-US" sz="1500" dirty="0"/>
          </a:p>
        </p:txBody>
      </p:sp>
      <p:sp>
        <p:nvSpPr>
          <p:cNvPr id="5" name="Píldora 64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graphicFrame>
        <p:nvGraphicFramePr>
          <p:cNvPr id="10" name="Tabla alca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QUÉ SE VERIFICA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Recaudo de la Cuota de Fomento Arrocero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Liquidación, retención, consignación y recaudo; conciliaciones; gestión de cartera y cobro; saldos e intereses; agentes retenedores omisos o inexactos y cruces de bases de información.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Gastos de funcionamiento e inversión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Ejecución presupuestal, acuerdos de gasto, modificaciones y traslados; planes, programas y proyectos; contratos, pagos, proveedores y partes relacionadas; ejecución financiera frente a física.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Contraprestación de administración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Base de cálculo, porcentajes aplicables, topes, liquidación, reconocimiento, pago y conciliación con los registros financieros.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Reservas del Fondo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Constitución, saldos, movimientos, rendimientos, aplicación, destinación y soportes, frente a las decisiones adoptadas.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Separación patrimonial y contable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Separación de recursos, operaciones cruzadas, costos compartidos, registros contables, transferencias, cuentas bancarias, conciliaciones y asignación de gastos.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Gobierno y administración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Actas, decisiones, autorizaciones, acuerdos, informes y seguimiento; cumplimiento contractual, partes relacionadas, mecanismos de control y reportes al MADR.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7" name="Mensaje clave 65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ensaje clave texto 66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Límite del encargo: la consultoría no sustituye el control fiscal ni imputa responsabilidades fiscales, disciplinarias o penales.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7DD1EB"/>
                </a:solidFill>
              </a:rPr>
              <a:t>04</a:t>
            </a:r>
            <a:endParaRPr lang="en-US" sz="9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Metodología y plan de trabajo</a:t>
            </a:r>
            <a:endParaRPr lang="en-US" sz="5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Un modelo integrado de auditoría forense en cinco frentes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04 · METODOLOGÍA Y PLAN DE TRABAJO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METODOLOGÍA · CINCO FRENTES DE TRABAJO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Cada señal que detecta la analítica se corrobora con evidencia antes de convertirse en hallazgo.</a:t>
            </a:r>
            <a:endParaRPr lang="en-US" sz="1500" dirty="0"/>
          </a:p>
        </p:txBody>
      </p:sp>
      <p:sp>
        <p:nvSpPr>
          <p:cNvPr id="5" name="Píldora 67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Frente 1 68"/>
          <p:cNvSpPr/>
          <p:nvPr/>
        </p:nvSpPr>
        <p:spPr>
          <a:xfrm>
            <a:off x="548640" y="1691640"/>
            <a:ext cx="2103120" cy="37033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Número 69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Frente número 70"/>
          <p:cNvSpPr txBox="1"/>
          <p:nvPr/>
        </p:nvSpPr>
        <p:spPr>
          <a:xfrm>
            <a:off x="1371600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FRENTE 1</a:t>
            </a:r>
            <a:endParaRPr lang="en-US" sz="1200" dirty="0"/>
          </a:p>
        </p:txBody>
      </p:sp>
      <p:sp>
        <p:nvSpPr>
          <p:cNvPr id="9" name="Frente título 71"/>
          <p:cNvSpPr txBox="1"/>
          <p:nvPr/>
        </p:nvSpPr>
        <p:spPr>
          <a:xfrm>
            <a:off x="749808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Planeación y conocimiento</a:t>
            </a:r>
            <a:endParaRPr lang="en-US" sz="1500" dirty="0"/>
          </a:p>
        </p:txBody>
      </p:sp>
      <p:sp>
        <p:nvSpPr>
          <p:cNvPr id="10" name="Frente detalle 72"/>
          <p:cNvSpPr txBox="1"/>
          <p:nvPr/>
        </p:nvSpPr>
        <p:spPr>
          <a:xfrm>
            <a:off x="749808" y="333756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Marco normativo y Contrato No. 198 de 1996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Estructura, procesos y flujos financieros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Sistemas de información y controles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Matriz inicial de riesgos y plan de procedimientos</a:t>
            </a:r>
            <a:endParaRPr lang="en-US" sz="1200" dirty="0"/>
          </a:p>
        </p:txBody>
      </p:sp>
      <p:sp>
        <p:nvSpPr>
          <p:cNvPr id="11" name="Frente 2 73"/>
          <p:cNvSpPr/>
          <p:nvPr/>
        </p:nvSpPr>
        <p:spPr>
          <a:xfrm>
            <a:off x="2791663" y="1691640"/>
            <a:ext cx="2103120" cy="37033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Número 74"/>
          <p:cNvSpPr/>
          <p:nvPr/>
        </p:nvSpPr>
        <p:spPr>
          <a:xfrm>
            <a:off x="2992831" y="189280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Frente número 75"/>
          <p:cNvSpPr txBox="1"/>
          <p:nvPr/>
        </p:nvSpPr>
        <p:spPr>
          <a:xfrm>
            <a:off x="3614623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FRENTE 2</a:t>
            </a:r>
            <a:endParaRPr lang="en-US" sz="1200" dirty="0"/>
          </a:p>
        </p:txBody>
      </p:sp>
      <p:sp>
        <p:nvSpPr>
          <p:cNvPr id="14" name="Frente título 76"/>
          <p:cNvSpPr txBox="1"/>
          <p:nvPr/>
        </p:nvSpPr>
        <p:spPr>
          <a:xfrm>
            <a:off x="2992831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Integridad y estructuración de información</a:t>
            </a:r>
            <a:endParaRPr lang="en-US" sz="1500" dirty="0"/>
          </a:p>
        </p:txBody>
      </p:sp>
      <p:sp>
        <p:nvSpPr>
          <p:cNvPr id="15" name="Frente detalle 77"/>
          <p:cNvSpPr txBox="1"/>
          <p:nvPr/>
        </p:nvSpPr>
        <p:spPr>
          <a:xfrm>
            <a:off x="2992831" y="333756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Recepción e inventario de bases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Validación de integridad y depuración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Homologación e integración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Conciliaciones y cruces entre fuentes</a:t>
            </a:r>
            <a:endParaRPr lang="en-US" sz="1200" dirty="0"/>
          </a:p>
        </p:txBody>
      </p:sp>
      <p:sp>
        <p:nvSpPr>
          <p:cNvPr id="16" name="Frente 3 78"/>
          <p:cNvSpPr/>
          <p:nvPr/>
        </p:nvSpPr>
        <p:spPr>
          <a:xfrm>
            <a:off x="5034686" y="1691640"/>
            <a:ext cx="2103120" cy="37033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7" name="Número 79"/>
          <p:cNvSpPr/>
          <p:nvPr/>
        </p:nvSpPr>
        <p:spPr>
          <a:xfrm>
            <a:off x="5235854" y="189280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Frente número 80"/>
          <p:cNvSpPr txBox="1"/>
          <p:nvPr/>
        </p:nvSpPr>
        <p:spPr>
          <a:xfrm>
            <a:off x="5857646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FRENTE 3</a:t>
            </a:r>
            <a:endParaRPr lang="en-US" sz="1200" dirty="0"/>
          </a:p>
        </p:txBody>
      </p:sp>
      <p:sp>
        <p:nvSpPr>
          <p:cNvPr id="19" name="Frente título 81"/>
          <p:cNvSpPr txBox="1"/>
          <p:nvPr/>
        </p:nvSpPr>
        <p:spPr>
          <a:xfrm>
            <a:off x="5235854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Analítica y detección de señales</a:t>
            </a:r>
            <a:endParaRPr lang="en-US" sz="1500" dirty="0"/>
          </a:p>
        </p:txBody>
      </p:sp>
      <p:sp>
        <p:nvSpPr>
          <p:cNvPr id="20" name="Frente detalle 82"/>
          <p:cNvSpPr txBox="1"/>
          <p:nvPr/>
        </p:nvSpPr>
        <p:spPr>
          <a:xfrm>
            <a:off x="5235854" y="333756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Operaciones inusuales y pagos atípicos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Duplicidades y concentraciones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Proveedores recurrentes y terceros relacionados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Diferencias entre fuentes</a:t>
            </a:r>
            <a:endParaRPr lang="en-US" sz="1200" dirty="0"/>
          </a:p>
        </p:txBody>
      </p:sp>
      <p:sp>
        <p:nvSpPr>
          <p:cNvPr id="21" name="Frente 4 83"/>
          <p:cNvSpPr/>
          <p:nvPr/>
        </p:nvSpPr>
        <p:spPr>
          <a:xfrm>
            <a:off x="7277710" y="1691640"/>
            <a:ext cx="2103120" cy="37033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Número 84"/>
          <p:cNvSpPr/>
          <p:nvPr/>
        </p:nvSpPr>
        <p:spPr>
          <a:xfrm>
            <a:off x="7478878" y="189280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Frente número 85"/>
          <p:cNvSpPr txBox="1"/>
          <p:nvPr/>
        </p:nvSpPr>
        <p:spPr>
          <a:xfrm>
            <a:off x="8100670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FRENTE 4</a:t>
            </a:r>
            <a:endParaRPr lang="en-US" sz="1200" dirty="0"/>
          </a:p>
        </p:txBody>
      </p:sp>
      <p:sp>
        <p:nvSpPr>
          <p:cNvPr id="24" name="Frente título 86"/>
          <p:cNvSpPr txBox="1"/>
          <p:nvPr/>
        </p:nvSpPr>
        <p:spPr>
          <a:xfrm>
            <a:off x="7478878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Investigación y corroboración</a:t>
            </a:r>
            <a:endParaRPr lang="en-US" sz="1500" dirty="0"/>
          </a:p>
        </p:txBody>
      </p:sp>
      <p:sp>
        <p:nvSpPr>
          <p:cNvPr id="25" name="Frente detalle 87"/>
          <p:cNvSpPr txBox="1"/>
          <p:nvPr/>
        </p:nvSpPr>
        <p:spPr>
          <a:xfrm>
            <a:off x="7478878" y="333756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Revisión documental y contractual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Confirmaciones y entrevistas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Verificación física y visitas de campo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Cruces externos y trazabilidad de pagos</a:t>
            </a:r>
            <a:endParaRPr lang="en-US" sz="1200" dirty="0"/>
          </a:p>
        </p:txBody>
      </p:sp>
      <p:sp>
        <p:nvSpPr>
          <p:cNvPr id="26" name="Frente 5 88"/>
          <p:cNvSpPr/>
          <p:nvPr/>
        </p:nvSpPr>
        <p:spPr>
          <a:xfrm>
            <a:off x="9520733" y="1691640"/>
            <a:ext cx="2103120" cy="37033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úmero 89"/>
          <p:cNvSpPr/>
          <p:nvPr/>
        </p:nvSpPr>
        <p:spPr>
          <a:xfrm>
            <a:off x="9721901" y="1892808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Frente número 90"/>
          <p:cNvSpPr txBox="1"/>
          <p:nvPr/>
        </p:nvSpPr>
        <p:spPr>
          <a:xfrm>
            <a:off x="10343693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1EB"/>
                </a:solidFill>
              </a:rPr>
              <a:t>FRENTE 5</a:t>
            </a:r>
            <a:endParaRPr lang="en-US" sz="1200" dirty="0"/>
          </a:p>
        </p:txBody>
      </p:sp>
      <p:sp>
        <p:nvSpPr>
          <p:cNvPr id="29" name="Frente título 91"/>
          <p:cNvSpPr txBox="1"/>
          <p:nvPr/>
        </p:nvSpPr>
        <p:spPr>
          <a:xfrm>
            <a:off x="9721901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Consolidación probatoria y cierre</a:t>
            </a:r>
            <a:endParaRPr lang="en-US" sz="1500" dirty="0"/>
          </a:p>
        </p:txBody>
      </p:sp>
      <p:sp>
        <p:nvSpPr>
          <p:cNvPr id="30" name="Frente detalle 92"/>
          <p:cNvSpPr txBox="1"/>
          <p:nvPr/>
        </p:nvSpPr>
        <p:spPr>
          <a:xfrm>
            <a:off x="9721901" y="3337560"/>
            <a:ext cx="1764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Hecho, criterio y evidencia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Análisis, cuantificación, riesgo e incidencia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Respuesta del administrador y su evaluación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Conclusión</a:t>
            </a:r>
            <a:endParaRPr lang="en-US" sz="1200" dirty="0"/>
          </a:p>
        </p:txBody>
      </p:sp>
      <p:sp>
        <p:nvSpPr>
          <p:cNvPr id="31" name="Mensaje clave 93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Mensaje clave texto 94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 informe final diferencia claramente las situaciones comprobadas de los asuntos que requieren actuaciones adicionales.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04 · METODOLOGÍA Y PLAN DE TRABAJO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PLAN DE TRABAJO POR ETAPAS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Cinco etapas sucesivas, desde la planeación hasta la verificación en campo.</a:t>
            </a:r>
            <a:endParaRPr lang="en-US" sz="1500" dirty="0"/>
          </a:p>
        </p:txBody>
      </p:sp>
      <p:sp>
        <p:nvSpPr>
          <p:cNvPr id="5" name="Píldora 95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Línea de tiempo 96"/>
          <p:cNvSpPr/>
          <p:nvPr/>
        </p:nvSpPr>
        <p:spPr>
          <a:xfrm>
            <a:off x="1097280" y="1993392"/>
            <a:ext cx="10012680" cy="0"/>
          </a:xfrm>
          <a:prstGeom prst="line">
            <a:avLst/>
          </a:prstGeom>
          <a:noFill/>
          <a:ln w="38100">
            <a:solidFill>
              <a:srgbClr val="DDE6EF"/>
            </a:solidFill>
            <a:prstDash val="solid"/>
          </a:ln>
        </p:spPr>
      </p:sp>
      <p:sp>
        <p:nvSpPr>
          <p:cNvPr id="7" name="Número 97"/>
          <p:cNvSpPr/>
          <p:nvPr/>
        </p:nvSpPr>
        <p:spPr>
          <a:xfrm>
            <a:off x="1298448" y="1691640"/>
            <a:ext cx="603504" cy="60350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Etapa número 98"/>
          <p:cNvSpPr txBox="1"/>
          <p:nvPr/>
        </p:nvSpPr>
        <p:spPr>
          <a:xfrm>
            <a:off x="54864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ETAPA 1</a:t>
            </a:r>
            <a:endParaRPr lang="en-US" sz="1200" dirty="0"/>
          </a:p>
        </p:txBody>
      </p:sp>
      <p:sp>
        <p:nvSpPr>
          <p:cNvPr id="9" name="Etapa título 99"/>
          <p:cNvSpPr txBox="1"/>
          <p:nvPr/>
        </p:nvSpPr>
        <p:spPr>
          <a:xfrm>
            <a:off x="548640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Planeación</a:t>
            </a:r>
            <a:endParaRPr lang="en-US" sz="1500" dirty="0"/>
          </a:p>
        </p:txBody>
      </p:sp>
      <p:sp>
        <p:nvSpPr>
          <p:cNvPr id="10" name="Etapa 1 100"/>
          <p:cNvSpPr/>
          <p:nvPr/>
        </p:nvSpPr>
        <p:spPr>
          <a:xfrm>
            <a:off x="548640" y="3246120"/>
            <a:ext cx="2103120" cy="2148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Etapa detalle 101"/>
          <p:cNvSpPr txBox="1"/>
          <p:nvPr/>
        </p:nvSpPr>
        <p:spPr>
          <a:xfrm>
            <a:off x="713232" y="3383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Reunión de inicio y canales de comunicación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Revisión normativa y contractual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Riesgos y diseño de procedimientos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Protocolo de custodia y cronograma</a:t>
            </a:r>
            <a:endParaRPr lang="en-US" sz="1100" dirty="0"/>
          </a:p>
        </p:txBody>
      </p:sp>
      <p:sp>
        <p:nvSpPr>
          <p:cNvPr id="12" name="Etapa producto 102"/>
          <p:cNvSpPr txBox="1"/>
          <p:nvPr/>
        </p:nvSpPr>
        <p:spPr>
          <a:xfrm>
            <a:off x="713232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Producto: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Plan de Auditoría Detallado</a:t>
            </a:r>
            <a:endParaRPr lang="en-US" sz="1100" dirty="0"/>
          </a:p>
        </p:txBody>
      </p:sp>
      <p:sp>
        <p:nvSpPr>
          <p:cNvPr id="13" name="Número 103"/>
          <p:cNvSpPr/>
          <p:nvPr/>
        </p:nvSpPr>
        <p:spPr>
          <a:xfrm>
            <a:off x="3541471" y="1691640"/>
            <a:ext cx="603504" cy="60350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Etapa número 104"/>
          <p:cNvSpPr txBox="1"/>
          <p:nvPr/>
        </p:nvSpPr>
        <p:spPr>
          <a:xfrm>
            <a:off x="2791663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ETAPA 2</a:t>
            </a:r>
            <a:endParaRPr lang="en-US" sz="1200" dirty="0"/>
          </a:p>
        </p:txBody>
      </p:sp>
      <p:sp>
        <p:nvSpPr>
          <p:cNvPr id="15" name="Etapa título 105"/>
          <p:cNvSpPr txBox="1"/>
          <p:nvPr/>
        </p:nvSpPr>
        <p:spPr>
          <a:xfrm>
            <a:off x="2791663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Recolección y estructuración</a:t>
            </a:r>
            <a:endParaRPr lang="en-US" sz="1500" dirty="0"/>
          </a:p>
        </p:txBody>
      </p:sp>
      <p:sp>
        <p:nvSpPr>
          <p:cNvPr id="16" name="Etapa 2 106"/>
          <p:cNvSpPr/>
          <p:nvPr/>
        </p:nvSpPr>
        <p:spPr>
          <a:xfrm>
            <a:off x="2791663" y="3246120"/>
            <a:ext cx="2103120" cy="2148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7" name="Etapa detalle 107"/>
          <p:cNvSpPr txBox="1"/>
          <p:nvPr/>
        </p:nvSpPr>
        <p:spPr>
          <a:xfrm>
            <a:off x="2956255" y="3383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Recepción e inventario de bases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Validación de integridad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Conciliaciones e integración de fuentes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Vacíos de información</a:t>
            </a:r>
            <a:endParaRPr lang="en-US" sz="1100" dirty="0"/>
          </a:p>
        </p:txBody>
      </p:sp>
      <p:sp>
        <p:nvSpPr>
          <p:cNvPr id="18" name="Etapa producto 108"/>
          <p:cNvSpPr txBox="1"/>
          <p:nvPr/>
        </p:nvSpPr>
        <p:spPr>
          <a:xfrm>
            <a:off x="2956255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Producto: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Bases depuradas e integradas</a:t>
            </a:r>
            <a:endParaRPr lang="en-US" sz="1100" dirty="0"/>
          </a:p>
        </p:txBody>
      </p:sp>
      <p:sp>
        <p:nvSpPr>
          <p:cNvPr id="19" name="Número 109"/>
          <p:cNvSpPr/>
          <p:nvPr/>
        </p:nvSpPr>
        <p:spPr>
          <a:xfrm>
            <a:off x="5784494" y="1691640"/>
            <a:ext cx="603504" cy="60350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Etapa número 110"/>
          <p:cNvSpPr txBox="1"/>
          <p:nvPr/>
        </p:nvSpPr>
        <p:spPr>
          <a:xfrm>
            <a:off x="5034686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ETAPA 3</a:t>
            </a:r>
            <a:endParaRPr lang="en-US" sz="1200" dirty="0"/>
          </a:p>
        </p:txBody>
      </p:sp>
      <p:sp>
        <p:nvSpPr>
          <p:cNvPr id="21" name="Etapa título 111"/>
          <p:cNvSpPr txBox="1"/>
          <p:nvPr/>
        </p:nvSpPr>
        <p:spPr>
          <a:xfrm>
            <a:off x="5034686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Investigación forense</a:t>
            </a:r>
            <a:endParaRPr lang="en-US" sz="1500" dirty="0"/>
          </a:p>
        </p:txBody>
      </p:sp>
      <p:sp>
        <p:nvSpPr>
          <p:cNvPr id="22" name="Etapa 3 112"/>
          <p:cNvSpPr/>
          <p:nvPr/>
        </p:nvSpPr>
        <p:spPr>
          <a:xfrm>
            <a:off x="5034686" y="3246120"/>
            <a:ext cx="2103120" cy="2148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3" name="Etapa detalle 113"/>
          <p:cNvSpPr txBox="1"/>
          <p:nvPr/>
        </p:nvSpPr>
        <p:spPr>
          <a:xfrm>
            <a:off x="5199278" y="3383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Recaudo, cartera, gastos e inversión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Contratación, pagos y bancos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Contabilidad, patrimonio y reservas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Contraprestación, gobierno y partes relacionadas</a:t>
            </a:r>
            <a:endParaRPr lang="en-US" sz="1100" dirty="0"/>
          </a:p>
        </p:txBody>
      </p:sp>
      <p:sp>
        <p:nvSpPr>
          <p:cNvPr id="24" name="Etapa producto 114"/>
          <p:cNvSpPr txBox="1"/>
          <p:nvPr/>
        </p:nvSpPr>
        <p:spPr>
          <a:xfrm>
            <a:off x="5199278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Producto: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Resultados por componente</a:t>
            </a:r>
            <a:endParaRPr lang="en-US" sz="1100" dirty="0"/>
          </a:p>
        </p:txBody>
      </p:sp>
      <p:sp>
        <p:nvSpPr>
          <p:cNvPr id="25" name="Número 115"/>
          <p:cNvSpPr/>
          <p:nvPr/>
        </p:nvSpPr>
        <p:spPr>
          <a:xfrm>
            <a:off x="8027518" y="1691640"/>
            <a:ext cx="603504" cy="60350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Etapa número 116"/>
          <p:cNvSpPr txBox="1"/>
          <p:nvPr/>
        </p:nvSpPr>
        <p:spPr>
          <a:xfrm>
            <a:off x="727771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ETAPA 4</a:t>
            </a:r>
            <a:endParaRPr lang="en-US" sz="1200" dirty="0"/>
          </a:p>
        </p:txBody>
      </p:sp>
      <p:sp>
        <p:nvSpPr>
          <p:cNvPr id="27" name="Etapa título 117"/>
          <p:cNvSpPr txBox="1"/>
          <p:nvPr/>
        </p:nvSpPr>
        <p:spPr>
          <a:xfrm>
            <a:off x="7277710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Analítica de datos</a:t>
            </a:r>
            <a:endParaRPr lang="en-US" sz="1500" dirty="0"/>
          </a:p>
        </p:txBody>
      </p:sp>
      <p:sp>
        <p:nvSpPr>
          <p:cNvPr id="28" name="Etapa 4 118"/>
          <p:cNvSpPr/>
          <p:nvPr/>
        </p:nvSpPr>
        <p:spPr>
          <a:xfrm>
            <a:off x="7277710" y="3246120"/>
            <a:ext cx="2103120" cy="2148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9" name="Etapa detalle 119"/>
          <p:cNvSpPr txBox="1"/>
          <p:nvPr/>
        </p:nvSpPr>
        <p:spPr>
          <a:xfrm>
            <a:off x="7442302" y="3383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Procesamiento del universo disponible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Priorización de situaciones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Resultados por componente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Clasificación por nivel de criticidad</a:t>
            </a:r>
            <a:endParaRPr lang="en-US" sz="1100" dirty="0"/>
          </a:p>
        </p:txBody>
      </p:sp>
      <p:sp>
        <p:nvSpPr>
          <p:cNvPr id="30" name="Etapa producto 120"/>
          <p:cNvSpPr txBox="1"/>
          <p:nvPr/>
        </p:nvSpPr>
        <p:spPr>
          <a:xfrm>
            <a:off x="7442302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Producto: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Alertas priorizadas</a:t>
            </a:r>
            <a:endParaRPr lang="en-US" sz="1100" dirty="0"/>
          </a:p>
        </p:txBody>
      </p:sp>
      <p:sp>
        <p:nvSpPr>
          <p:cNvPr id="31" name="Número 121"/>
          <p:cNvSpPr/>
          <p:nvPr/>
        </p:nvSpPr>
        <p:spPr>
          <a:xfrm>
            <a:off x="10270541" y="1691640"/>
            <a:ext cx="603504" cy="60350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Etapa número 122"/>
          <p:cNvSpPr txBox="1"/>
          <p:nvPr/>
        </p:nvSpPr>
        <p:spPr>
          <a:xfrm>
            <a:off x="9520733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ETAPA 5</a:t>
            </a:r>
            <a:endParaRPr lang="en-US" sz="1200" dirty="0"/>
          </a:p>
        </p:txBody>
      </p:sp>
      <p:sp>
        <p:nvSpPr>
          <p:cNvPr id="33" name="Etapa título 123"/>
          <p:cNvSpPr txBox="1"/>
          <p:nvPr/>
        </p:nvSpPr>
        <p:spPr>
          <a:xfrm>
            <a:off x="9520733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Visitas de campo</a:t>
            </a:r>
            <a:endParaRPr lang="en-US" sz="1500" dirty="0"/>
          </a:p>
        </p:txBody>
      </p:sp>
      <p:sp>
        <p:nvSpPr>
          <p:cNvPr id="34" name="Etapa 5 124"/>
          <p:cNvSpPr/>
          <p:nvPr/>
        </p:nvSpPr>
        <p:spPr>
          <a:xfrm>
            <a:off x="9520733" y="3246120"/>
            <a:ext cx="2103120" cy="2148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5" name="Etapa detalle 125"/>
          <p:cNvSpPr txBox="1"/>
          <p:nvPr/>
        </p:nvSpPr>
        <p:spPr>
          <a:xfrm>
            <a:off x="9685325" y="3383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Mínimo 4 visitas regionales incluidas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Verificación de existencia y ejecución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Inspección física y entrevistas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Validación de beneficiarios y soportes</a:t>
            </a:r>
            <a:endParaRPr lang="en-US" sz="1100" dirty="0"/>
          </a:p>
        </p:txBody>
      </p:sp>
      <p:sp>
        <p:nvSpPr>
          <p:cNvPr id="36" name="Etapa producto 126"/>
          <p:cNvSpPr txBox="1"/>
          <p:nvPr/>
        </p:nvSpPr>
        <p:spPr>
          <a:xfrm>
            <a:off x="9685325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Producto: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Informes de visita</a:t>
            </a:r>
            <a:endParaRPr lang="en-US" sz="1100" dirty="0"/>
          </a:p>
        </p:txBody>
      </p:sp>
      <p:sp>
        <p:nvSpPr>
          <p:cNvPr id="37" name="Mensaje clave 127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Mensaje clave texto 128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Incluye como mínimo cuatro (4) visitas regionales a plantas, sedes seccionales o proyectos del Fondo, dentro del valor de la propuesta.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04 · METODOLOGÍA Y PLAN DE TRABAJO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 LA SEÑAL AL HALLAZGO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Cada situación relevante se documenta con la misma estructura, de modo que pueda verificarse de punta a punta.</a:t>
            </a:r>
            <a:endParaRPr lang="en-US" sz="1500" dirty="0"/>
          </a:p>
        </p:txBody>
      </p:sp>
      <p:sp>
        <p:nvSpPr>
          <p:cNvPr id="5" name="Píldora 129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Campo Hecho 130"/>
          <p:cNvSpPr/>
          <p:nvPr/>
        </p:nvSpPr>
        <p:spPr>
          <a:xfrm>
            <a:off x="548640" y="1691640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Número 131"/>
          <p:cNvSpPr/>
          <p:nvPr/>
        </p:nvSpPr>
        <p:spPr>
          <a:xfrm>
            <a:off x="731520" y="189280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Campo título 132"/>
          <p:cNvSpPr txBox="1"/>
          <p:nvPr/>
        </p:nvSpPr>
        <p:spPr>
          <a:xfrm>
            <a:off x="1280160" y="184708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Hecho</a:t>
            </a:r>
            <a:endParaRPr lang="en-US" sz="1400" dirty="0"/>
          </a:p>
        </p:txBody>
      </p:sp>
      <p:sp>
        <p:nvSpPr>
          <p:cNvPr id="9" name="Campo detalle 133"/>
          <p:cNvSpPr txBox="1"/>
          <p:nvPr/>
        </p:nvSpPr>
        <p:spPr>
          <a:xfrm>
            <a:off x="731520" y="240487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Qué ocurrió y qué operaciones involucra.</a:t>
            </a:r>
            <a:endParaRPr lang="en-US" sz="1200" dirty="0"/>
          </a:p>
        </p:txBody>
      </p:sp>
      <p:sp>
        <p:nvSpPr>
          <p:cNvPr id="10" name="Campo Criterio 134"/>
          <p:cNvSpPr/>
          <p:nvPr/>
        </p:nvSpPr>
        <p:spPr>
          <a:xfrm>
            <a:off x="3364992" y="1691640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Número 135"/>
          <p:cNvSpPr/>
          <p:nvPr/>
        </p:nvSpPr>
        <p:spPr>
          <a:xfrm>
            <a:off x="3547872" y="189280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mpo título 136"/>
          <p:cNvSpPr txBox="1"/>
          <p:nvPr/>
        </p:nvSpPr>
        <p:spPr>
          <a:xfrm>
            <a:off x="4096512" y="184708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Criterio</a:t>
            </a:r>
            <a:endParaRPr lang="en-US" sz="1400" dirty="0"/>
          </a:p>
        </p:txBody>
      </p:sp>
      <p:sp>
        <p:nvSpPr>
          <p:cNvPr id="13" name="Campo detalle 137"/>
          <p:cNvSpPr txBox="1"/>
          <p:nvPr/>
        </p:nvSpPr>
        <p:spPr>
          <a:xfrm>
            <a:off x="3547872" y="240487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Norma, cláusula o parámetro aplicable.</a:t>
            </a:r>
            <a:endParaRPr lang="en-US" sz="1200" dirty="0"/>
          </a:p>
        </p:txBody>
      </p:sp>
      <p:sp>
        <p:nvSpPr>
          <p:cNvPr id="14" name="Campo Evidencia 138"/>
          <p:cNvSpPr/>
          <p:nvPr/>
        </p:nvSpPr>
        <p:spPr>
          <a:xfrm>
            <a:off x="6181344" y="1691640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Número 139"/>
          <p:cNvSpPr/>
          <p:nvPr/>
        </p:nvSpPr>
        <p:spPr>
          <a:xfrm>
            <a:off x="6364224" y="189280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Campo título 140"/>
          <p:cNvSpPr txBox="1"/>
          <p:nvPr/>
        </p:nvSpPr>
        <p:spPr>
          <a:xfrm>
            <a:off x="6912864" y="184708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Evidencia</a:t>
            </a:r>
            <a:endParaRPr lang="en-US" sz="1400" dirty="0"/>
          </a:p>
        </p:txBody>
      </p:sp>
      <p:sp>
        <p:nvSpPr>
          <p:cNvPr id="17" name="Campo detalle 141"/>
          <p:cNvSpPr txBox="1"/>
          <p:nvPr/>
        </p:nvSpPr>
        <p:spPr>
          <a:xfrm>
            <a:off x="6364224" y="240487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Soportes que demuestran el hecho.</a:t>
            </a:r>
            <a:endParaRPr lang="en-US" sz="1200" dirty="0"/>
          </a:p>
        </p:txBody>
      </p:sp>
      <p:sp>
        <p:nvSpPr>
          <p:cNvPr id="18" name="Campo Período 142"/>
          <p:cNvSpPr/>
          <p:nvPr/>
        </p:nvSpPr>
        <p:spPr>
          <a:xfrm>
            <a:off x="8997696" y="1691640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9" name="Número 143"/>
          <p:cNvSpPr/>
          <p:nvPr/>
        </p:nvSpPr>
        <p:spPr>
          <a:xfrm>
            <a:off x="9180576" y="189280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Campo título 144"/>
          <p:cNvSpPr txBox="1"/>
          <p:nvPr/>
        </p:nvSpPr>
        <p:spPr>
          <a:xfrm>
            <a:off x="9729216" y="184708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Período</a:t>
            </a:r>
            <a:endParaRPr lang="en-US" sz="1400" dirty="0"/>
          </a:p>
        </p:txBody>
      </p:sp>
      <p:sp>
        <p:nvSpPr>
          <p:cNvPr id="21" name="Campo detalle 145"/>
          <p:cNvSpPr txBox="1"/>
          <p:nvPr/>
        </p:nvSpPr>
        <p:spPr>
          <a:xfrm>
            <a:off x="9180576" y="240487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Vigencia y fechas de la situación.</a:t>
            </a:r>
            <a:endParaRPr lang="en-US" sz="1200" dirty="0"/>
          </a:p>
        </p:txBody>
      </p:sp>
      <p:sp>
        <p:nvSpPr>
          <p:cNvPr id="22" name="Campo Análisis 146"/>
          <p:cNvSpPr/>
          <p:nvPr/>
        </p:nvSpPr>
        <p:spPr>
          <a:xfrm>
            <a:off x="548640" y="2990088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3" name="Número 147"/>
          <p:cNvSpPr/>
          <p:nvPr/>
        </p:nvSpPr>
        <p:spPr>
          <a:xfrm>
            <a:off x="731520" y="3191256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Campo título 148"/>
          <p:cNvSpPr txBox="1"/>
          <p:nvPr/>
        </p:nvSpPr>
        <p:spPr>
          <a:xfrm>
            <a:off x="1280160" y="3145536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Análisis</a:t>
            </a:r>
            <a:endParaRPr lang="en-US" sz="1400" dirty="0"/>
          </a:p>
        </p:txBody>
      </p:sp>
      <p:sp>
        <p:nvSpPr>
          <p:cNvPr id="25" name="Campo detalle 149"/>
          <p:cNvSpPr txBox="1"/>
          <p:nvPr/>
        </p:nvSpPr>
        <p:spPr>
          <a:xfrm>
            <a:off x="731520" y="3703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Evaluación técnica del hecho.</a:t>
            </a:r>
            <a:endParaRPr lang="en-US" sz="1200" dirty="0"/>
          </a:p>
        </p:txBody>
      </p:sp>
      <p:sp>
        <p:nvSpPr>
          <p:cNvPr id="26" name="Campo Cuantificación 150"/>
          <p:cNvSpPr/>
          <p:nvPr/>
        </p:nvSpPr>
        <p:spPr>
          <a:xfrm>
            <a:off x="3364992" y="2990088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Número 151"/>
          <p:cNvSpPr/>
          <p:nvPr/>
        </p:nvSpPr>
        <p:spPr>
          <a:xfrm>
            <a:off x="3547872" y="3191256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Campo título 152"/>
          <p:cNvSpPr txBox="1"/>
          <p:nvPr/>
        </p:nvSpPr>
        <p:spPr>
          <a:xfrm>
            <a:off x="4096512" y="3145536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Cuantificación</a:t>
            </a:r>
            <a:endParaRPr lang="en-US" sz="1400" dirty="0"/>
          </a:p>
        </p:txBody>
      </p:sp>
      <p:sp>
        <p:nvSpPr>
          <p:cNvPr id="29" name="Campo detalle 153"/>
          <p:cNvSpPr txBox="1"/>
          <p:nvPr/>
        </p:nvSpPr>
        <p:spPr>
          <a:xfrm>
            <a:off x="3547872" y="3703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Efecto económico, cuando proceda.</a:t>
            </a:r>
            <a:endParaRPr lang="en-US" sz="1200" dirty="0"/>
          </a:p>
        </p:txBody>
      </p:sp>
      <p:sp>
        <p:nvSpPr>
          <p:cNvPr id="30" name="Campo Riesgo 154"/>
          <p:cNvSpPr/>
          <p:nvPr/>
        </p:nvSpPr>
        <p:spPr>
          <a:xfrm>
            <a:off x="6181344" y="2990088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1" name="Número 155"/>
          <p:cNvSpPr/>
          <p:nvPr/>
        </p:nvSpPr>
        <p:spPr>
          <a:xfrm>
            <a:off x="6364224" y="3191256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2" name="Campo título 156"/>
          <p:cNvSpPr txBox="1"/>
          <p:nvPr/>
        </p:nvSpPr>
        <p:spPr>
          <a:xfrm>
            <a:off x="6912864" y="3145536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Riesgo</a:t>
            </a:r>
            <a:endParaRPr lang="en-US" sz="1400" dirty="0"/>
          </a:p>
        </p:txBody>
      </p:sp>
      <p:sp>
        <p:nvSpPr>
          <p:cNvPr id="33" name="Campo detalle 157"/>
          <p:cNvSpPr txBox="1"/>
          <p:nvPr/>
        </p:nvSpPr>
        <p:spPr>
          <a:xfrm>
            <a:off x="6364224" y="3703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Nivel de criticidad de la situación.</a:t>
            </a:r>
            <a:endParaRPr lang="en-US" sz="1200" dirty="0"/>
          </a:p>
        </p:txBody>
      </p:sp>
      <p:sp>
        <p:nvSpPr>
          <p:cNvPr id="34" name="Campo Incidencia 158"/>
          <p:cNvSpPr/>
          <p:nvPr/>
        </p:nvSpPr>
        <p:spPr>
          <a:xfrm>
            <a:off x="8997696" y="2990088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5" name="Número 159"/>
          <p:cNvSpPr/>
          <p:nvPr/>
        </p:nvSpPr>
        <p:spPr>
          <a:xfrm>
            <a:off x="9180576" y="3191256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6" name="Campo título 160"/>
          <p:cNvSpPr txBox="1"/>
          <p:nvPr/>
        </p:nvSpPr>
        <p:spPr>
          <a:xfrm>
            <a:off x="9729216" y="3145536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Incidencia</a:t>
            </a:r>
            <a:endParaRPr lang="en-US" sz="1400" dirty="0"/>
          </a:p>
        </p:txBody>
      </p:sp>
      <p:sp>
        <p:nvSpPr>
          <p:cNvPr id="37" name="Campo detalle 161"/>
          <p:cNvSpPr txBox="1"/>
          <p:nvPr/>
        </p:nvSpPr>
        <p:spPr>
          <a:xfrm>
            <a:off x="9180576" y="370332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Posible efecto sobre los recursos.</a:t>
            </a:r>
            <a:endParaRPr lang="en-US" sz="1200" dirty="0"/>
          </a:p>
        </p:txBody>
      </p:sp>
      <p:sp>
        <p:nvSpPr>
          <p:cNvPr id="38" name="Campo Respuesta del administrador 162"/>
          <p:cNvSpPr/>
          <p:nvPr/>
        </p:nvSpPr>
        <p:spPr>
          <a:xfrm>
            <a:off x="548640" y="4288536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9" name="Número 163"/>
          <p:cNvSpPr/>
          <p:nvPr/>
        </p:nvSpPr>
        <p:spPr>
          <a:xfrm>
            <a:off x="731520" y="4489704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40" name="Campo título 164"/>
          <p:cNvSpPr txBox="1"/>
          <p:nvPr/>
        </p:nvSpPr>
        <p:spPr>
          <a:xfrm>
            <a:off x="1280160" y="444398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Respuesta del administrador</a:t>
            </a:r>
            <a:endParaRPr lang="en-US" sz="1400" dirty="0"/>
          </a:p>
        </p:txBody>
      </p:sp>
      <p:sp>
        <p:nvSpPr>
          <p:cNvPr id="41" name="Campo detalle 165"/>
          <p:cNvSpPr txBox="1"/>
          <p:nvPr/>
        </p:nvSpPr>
        <p:spPr>
          <a:xfrm>
            <a:off x="731520" y="50017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Su derecho de contradicción.</a:t>
            </a:r>
            <a:endParaRPr lang="en-US" sz="1200" dirty="0"/>
          </a:p>
        </p:txBody>
      </p:sp>
      <p:sp>
        <p:nvSpPr>
          <p:cNvPr id="42" name="Campo Evaluación de la respuesta 166"/>
          <p:cNvSpPr/>
          <p:nvPr/>
        </p:nvSpPr>
        <p:spPr>
          <a:xfrm>
            <a:off x="3364992" y="4288536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43" name="Número 167"/>
          <p:cNvSpPr/>
          <p:nvPr/>
        </p:nvSpPr>
        <p:spPr>
          <a:xfrm>
            <a:off x="3547872" y="4489704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44" name="Campo título 168"/>
          <p:cNvSpPr txBox="1"/>
          <p:nvPr/>
        </p:nvSpPr>
        <p:spPr>
          <a:xfrm>
            <a:off x="4096512" y="444398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Evaluación de la respuesta</a:t>
            </a:r>
            <a:endParaRPr lang="en-US" sz="1400" dirty="0"/>
          </a:p>
        </p:txBody>
      </p:sp>
      <p:sp>
        <p:nvSpPr>
          <p:cNvPr id="45" name="Campo detalle 169"/>
          <p:cNvSpPr txBox="1"/>
          <p:nvPr/>
        </p:nvSpPr>
        <p:spPr>
          <a:xfrm>
            <a:off x="3547872" y="50017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Análisis de lo aportado.</a:t>
            </a:r>
            <a:endParaRPr lang="en-US" sz="1200" dirty="0"/>
          </a:p>
        </p:txBody>
      </p:sp>
      <p:sp>
        <p:nvSpPr>
          <p:cNvPr id="46" name="Campo Conclusión 170"/>
          <p:cNvSpPr/>
          <p:nvPr/>
        </p:nvSpPr>
        <p:spPr>
          <a:xfrm>
            <a:off x="6181344" y="4288536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47" name="Número 171"/>
          <p:cNvSpPr/>
          <p:nvPr/>
        </p:nvSpPr>
        <p:spPr>
          <a:xfrm>
            <a:off x="6364224" y="448970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48" name="Campo título 172"/>
          <p:cNvSpPr txBox="1"/>
          <p:nvPr/>
        </p:nvSpPr>
        <p:spPr>
          <a:xfrm>
            <a:off x="6912864" y="444398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Conclusión</a:t>
            </a:r>
            <a:endParaRPr lang="en-US" sz="1400" dirty="0"/>
          </a:p>
        </p:txBody>
      </p:sp>
      <p:sp>
        <p:nvSpPr>
          <p:cNvPr id="49" name="Campo detalle 173"/>
          <p:cNvSpPr txBox="1"/>
          <p:nvPr/>
        </p:nvSpPr>
        <p:spPr>
          <a:xfrm>
            <a:off x="6364224" y="50017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Situación comprobada o que requiere actuaciones adicionales.</a:t>
            </a:r>
            <a:endParaRPr lang="en-US" sz="1200" dirty="0"/>
          </a:p>
        </p:txBody>
      </p:sp>
      <p:sp>
        <p:nvSpPr>
          <p:cNvPr id="50" name="Control 174"/>
          <p:cNvSpPr/>
          <p:nvPr/>
        </p:nvSpPr>
        <p:spPr>
          <a:xfrm>
            <a:off x="8997696" y="4288536"/>
            <a:ext cx="2633472" cy="1161288"/>
          </a:xfrm>
          <a:prstGeom prst="roundRect">
            <a:avLst>
              <a:gd name="adj" fmla="val 944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Control texto 175"/>
          <p:cNvSpPr txBox="1"/>
          <p:nvPr/>
        </p:nvSpPr>
        <p:spPr>
          <a:xfrm>
            <a:off x="9180576" y="4288536"/>
            <a:ext cx="22860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Ningún hallazgo es definitivo sin evidencia, criterio, trazabilidad, cuantificación y análisis de la contradicción.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7DD1EB"/>
                </a:solidFill>
              </a:rPr>
              <a:t>05</a:t>
            </a:r>
            <a:endParaRPr lang="en-US" sz="9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Entregables y cronograma</a:t>
            </a:r>
            <a:endParaRPr lang="en-US" sz="5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Tres entregables base y un componente pericial condicional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05 · ENTREGABLES Y CRONOGRAMA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ENTREGABLES DE LA CONSULTORÍA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Cada entregable es acumulativo y trazable; el informe final es autocontenido.</a:t>
            </a:r>
            <a:endParaRPr lang="en-US" sz="1500" dirty="0"/>
          </a:p>
        </p:txBody>
      </p:sp>
      <p:sp>
        <p:nvSpPr>
          <p:cNvPr id="5" name="Píldora 176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graphicFrame>
        <p:nvGraphicFramePr>
          <p:cNvPr id="16" name="Tabla entregab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4782312"/>
                <a:gridCol w="178308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ENTREGABLE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CONTENIDO 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PLAZO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VALOR TOTAL (IVA INCL.)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Plan de Auditoría Detallado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Metodología, cronograma semanal, responsables, matriz de riesgos, procedimientos por componente, protocolo de custodia, plan de visitas y matriz de información requerida.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Hasta 8 días calendario tras el perfeccionamiento y ejecución del contrato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$65.450.000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Informe preliminar – alertas cuantificadas y casos priorizados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Resultados de análisis; cruces financieros, contables y contractuales; alertas y operaciones inusuales; cuantificaciones preliminares; matriz de criticidad y priorización de visitas.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Hasta 20 días calendario tras la aprobación del Entregable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$261.800.000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Informe final y expedientes de soporte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Informe ejecutivo, informe técnico por componente, matriz consolidada de hallazgos y expedientes de soporte con registro de custodia.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Según el cronograma de la consultoría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$327.250.000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Dictamen pericial (condicional)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 con orden escrita del MADR: estudio del caso, evaluación de la evidencia, metodología, cuantificación, dictamen suscrito y sustentación ante la autoridad.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572"/>
                          </a:solidFill>
                        </a:rPr>
                        <a:t>A solicitud del MADR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$101.150.000 por dictamen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  <p:sp>
        <p:nvSpPr>
          <p:cNvPr id="7" name="Mensaje clave 177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ensaje clave texto 178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Valor base de la consultoría: $654.500.000 IVA incluido. El dictamen pericial solo se factura si el MADR lo ordena por escrito.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05 · ENTREGABLES Y CRONOGRAMA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ENTREGABLE 3 · INFORME FINAL Y EXPEDIENTES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El producto principal de la consultoría: autocontenido y soportado en expedientes por situación.</a:t>
            </a:r>
            <a:endParaRPr lang="en-US" sz="1500" dirty="0"/>
          </a:p>
        </p:txBody>
      </p:sp>
      <p:sp>
        <p:nvSpPr>
          <p:cNvPr id="5" name="Píldora 179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INFORME EJECUTIVO 180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Bloque título 181"/>
          <p:cNvSpPr txBox="1"/>
          <p:nvPr/>
        </p:nvSpPr>
        <p:spPr>
          <a:xfrm>
            <a:off x="822960" y="1892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INFORME EJECUTIVO</a:t>
            </a:r>
            <a:endParaRPr lang="en-US" sz="1500" dirty="0"/>
          </a:p>
        </p:txBody>
      </p:sp>
      <p:sp>
        <p:nvSpPr>
          <p:cNvPr id="8" name="Bloque detalle 182"/>
          <p:cNvSpPr txBox="1"/>
          <p:nvPr/>
        </p:nvSpPr>
        <p:spPr>
          <a:xfrm>
            <a:off x="822960" y="231343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Resumen de resultados y principales situaciones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Cuantificaciones y riesgos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Conclusiones y recomendaciones</a:t>
            </a:r>
            <a:endParaRPr lang="en-US" sz="1300" dirty="0"/>
          </a:p>
        </p:txBody>
      </p:sp>
      <p:sp>
        <p:nvSpPr>
          <p:cNvPr id="9" name="EXPEDIENTES DE SOPORTE 183"/>
          <p:cNvSpPr/>
          <p:nvPr/>
        </p:nvSpPr>
        <p:spPr>
          <a:xfrm>
            <a:off x="548640" y="3611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0" name="Bloque título 184"/>
          <p:cNvSpPr txBox="1"/>
          <p:nvPr/>
        </p:nvSpPr>
        <p:spPr>
          <a:xfrm>
            <a:off x="822960" y="3813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EXPEDIENTES DE SOPORTE</a:t>
            </a:r>
            <a:endParaRPr lang="en-US" sz="1500" dirty="0"/>
          </a:p>
        </p:txBody>
      </p:sp>
      <p:sp>
        <p:nvSpPr>
          <p:cNvPr id="11" name="Bloque detalle 185"/>
          <p:cNvSpPr txBox="1"/>
          <p:nvPr/>
        </p:nvSpPr>
        <p:spPr>
          <a:xfrm>
            <a:off x="822960" y="423367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Identificación, fuente, fecha y descripción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Relación con el hallazgo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Registro de custodia y trazabilidad de acceso</a:t>
            </a:r>
            <a:endParaRPr lang="en-US" sz="1300" dirty="0"/>
          </a:p>
        </p:txBody>
      </p:sp>
      <p:sp>
        <p:nvSpPr>
          <p:cNvPr id="12" name="INFORME TÉCNICO 186"/>
          <p:cNvSpPr/>
          <p:nvPr/>
        </p:nvSpPr>
        <p:spPr>
          <a:xfrm>
            <a:off x="4311396" y="1691640"/>
            <a:ext cx="3566160" cy="37033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3" name="Bloque título 187"/>
          <p:cNvSpPr txBox="1"/>
          <p:nvPr/>
        </p:nvSpPr>
        <p:spPr>
          <a:xfrm>
            <a:off x="4585716" y="1892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INFORME TÉCNICO</a:t>
            </a:r>
            <a:endParaRPr lang="en-US" sz="1500" dirty="0"/>
          </a:p>
        </p:txBody>
      </p:sp>
      <p:sp>
        <p:nvSpPr>
          <p:cNvPr id="14" name="Bloque detalle 188"/>
          <p:cNvSpPr txBox="1"/>
          <p:nvPr/>
        </p:nvSpPr>
        <p:spPr>
          <a:xfrm>
            <a:off x="4585716" y="2313432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Hallazgos por componente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Hechos comprobados y criterio aplicable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Evidencia y período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Análisis y cuantificación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Riesgo y presunta incidencia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Respuesta a la contradicción y su evaluación</a:t>
            </a:r>
            <a:endParaRPr lang="en-US" sz="1300" dirty="0"/>
          </a:p>
        </p:txBody>
      </p:sp>
      <p:sp>
        <p:nvSpPr>
          <p:cNvPr id="15" name="Matriz de hallazgos 189"/>
          <p:cNvSpPr/>
          <p:nvPr/>
        </p:nvSpPr>
        <p:spPr>
          <a:xfrm>
            <a:off x="8074152" y="1691640"/>
            <a:ext cx="3566160" cy="370332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Matriz título 190"/>
          <p:cNvSpPr txBox="1"/>
          <p:nvPr/>
        </p:nvSpPr>
        <p:spPr>
          <a:xfrm>
            <a:off x="8348472" y="1892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D1EB"/>
                </a:solidFill>
              </a:rPr>
              <a:t>MATRIZ CONSOLIDADA DE HALLAZGOS</a:t>
            </a:r>
            <a:endParaRPr lang="en-US" sz="1400" dirty="0"/>
          </a:p>
        </p:txBody>
      </p:sp>
      <p:sp>
        <p:nvSpPr>
          <p:cNvPr id="17" name="Matriz campos 191"/>
          <p:cNvSpPr txBox="1"/>
          <p:nvPr/>
        </p:nvSpPr>
        <p:spPr>
          <a:xfrm>
            <a:off x="8348472" y="2377440"/>
            <a:ext cx="1600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1. Hallazgo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2. Componente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3. Fecha o período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4. Hecho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5. Criterio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6. Evidencia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7. Cuantificación</a:t>
            </a:r>
            <a:endParaRPr lang="en-US" sz="1100" dirty="0"/>
          </a:p>
        </p:txBody>
      </p:sp>
      <p:sp>
        <p:nvSpPr>
          <p:cNvPr id="18" name="Matriz campos 192"/>
          <p:cNvSpPr txBox="1"/>
          <p:nvPr/>
        </p:nvSpPr>
        <p:spPr>
          <a:xfrm>
            <a:off x="9948672" y="2377440"/>
            <a:ext cx="1600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8. Riesgo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9. Norma relacionada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10. Análisis de fraude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11. Incidencia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12. Respuesta del administrador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13. Evaluación de la respuesta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14. Recomendación</a:t>
            </a:r>
            <a:endParaRPr lang="en-US" sz="1100" dirty="0"/>
          </a:p>
        </p:txBody>
      </p:sp>
      <p:sp>
        <p:nvSpPr>
          <p:cNvPr id="19" name="Mensaje clave 193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Mensaje clave texto 194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Cada conclusión queda vinculada con la evidencia que la sustenta.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05 · ENTREGABLES Y CRONOGRAMA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CRONOGRAMA DE ALTO NIVEL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Catorce fases, del inicio a la sustentación; los entregables marcan los hitos de pago.</a:t>
            </a:r>
            <a:endParaRPr lang="en-US" sz="1500" dirty="0"/>
          </a:p>
        </p:txBody>
      </p:sp>
      <p:sp>
        <p:nvSpPr>
          <p:cNvPr id="5" name="Píldora 195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graphicFrame>
        <p:nvGraphicFramePr>
          <p:cNvPr id="18" name="Tabla cronogram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5439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216255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ACTIVIDAD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PRODUCTO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Inicio, diagnóstico y planeación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Entregable 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Recolección y estructuración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Bases depuradas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Análisis financiero y contable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Resultados analíticos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Revisión contractual y jurídica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Matriz contractual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Analítica forense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Alertas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Investigación y corroboración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Casos priorizados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Visitas de campo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Informes de visita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a cronogram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5916" y="1691640"/>
          <a:ext cx="545439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216255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ACTIVIDAD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PRODUCTO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Informe preliminar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Entregable 2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Contradicción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Matriz de respuestas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Profundización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Expedientes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Consolidación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Matriz definitiva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Informe final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Entregable 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Sustentación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Presentación al MADR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Dictamen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Entregable 4, si se ordena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  <p:sp>
        <p:nvSpPr>
          <p:cNvPr id="8" name="Mensaje clave 196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ensaje clave texto 197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Hitos de pago: Entregable 1 (10 %), Entregable 2 (40 %) y Entregable 3 (50 %).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7DD1EB"/>
                </a:solidFill>
              </a:rPr>
              <a:t>06</a:t>
            </a:r>
            <a:endParaRPr lang="en-US" sz="9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Equipo y aseguramiento de calidad</a:t>
            </a:r>
            <a:endParaRPr lang="en-US" sz="5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Un equipo multidisciplinario y tres niveles de revisión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06 · EQUIPO Y ASEGURAMIENTO DE CALIDAD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EQUIPO DE TRABAJO PROPUESTO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Un equipo multidisciplinario alineado con los perfiles mínimos solicitados.</a:t>
            </a:r>
            <a:endParaRPr lang="en-US" sz="1500" dirty="0"/>
          </a:p>
        </p:txBody>
      </p:sp>
      <p:sp>
        <p:nvSpPr>
          <p:cNvPr id="5" name="Píldora 198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Rol Director de Consultoría Forense / Coord. General 199"/>
          <p:cNvSpPr/>
          <p:nvPr/>
        </p:nvSpPr>
        <p:spPr>
          <a:xfrm>
            <a:off x="548640" y="1691640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Rol 200"/>
          <p:cNvSpPr txBox="1"/>
          <p:nvPr/>
        </p:nvSpPr>
        <p:spPr>
          <a:xfrm>
            <a:off x="749808" y="21945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Director de Consultoría Forense / Coord. General</a:t>
            </a:r>
            <a:endParaRPr lang="en-US" sz="1300" dirty="0"/>
          </a:p>
        </p:txBody>
      </p:sp>
      <p:sp>
        <p:nvSpPr>
          <p:cNvPr id="8" name="Dedicación 201"/>
          <p:cNvSpPr/>
          <p:nvPr/>
        </p:nvSpPr>
        <p:spPr>
          <a:xfrm>
            <a:off x="749808" y="1856232"/>
            <a:ext cx="640080" cy="274320"/>
          </a:xfrm>
          <a:prstGeom prst="roundRect">
            <a:avLst>
              <a:gd name="adj" fmla="val 4333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100 %</a:t>
            </a:r>
            <a:endParaRPr lang="en-US" sz="1200" dirty="0"/>
          </a:p>
        </p:txBody>
      </p:sp>
      <p:sp>
        <p:nvSpPr>
          <p:cNvPr id="9" name="Rol detalle 202"/>
          <p:cNvSpPr txBox="1"/>
          <p:nvPr/>
        </p:nvSpPr>
        <p:spPr>
          <a:xfrm>
            <a:off x="749808" y="2715768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Dirección integral y supervisión; aprobación de procedimientos, hallazgos e informes; interlocución con el MADR y control de calidad.</a:t>
            </a:r>
            <a:endParaRPr lang="en-US" sz="1100" dirty="0"/>
          </a:p>
        </p:txBody>
      </p:sp>
      <p:sp>
        <p:nvSpPr>
          <p:cNvPr id="10" name="Rol Coordinador de Analítica de Datos 203"/>
          <p:cNvSpPr/>
          <p:nvPr/>
        </p:nvSpPr>
        <p:spPr>
          <a:xfrm>
            <a:off x="3364992" y="1691640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Rol 204"/>
          <p:cNvSpPr txBox="1"/>
          <p:nvPr/>
        </p:nvSpPr>
        <p:spPr>
          <a:xfrm>
            <a:off x="3566160" y="21945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Coordinador de Analítica de Datos</a:t>
            </a:r>
            <a:endParaRPr lang="en-US" sz="1300" dirty="0"/>
          </a:p>
        </p:txBody>
      </p:sp>
      <p:sp>
        <p:nvSpPr>
          <p:cNvPr id="12" name="Dedicación 205"/>
          <p:cNvSpPr/>
          <p:nvPr/>
        </p:nvSpPr>
        <p:spPr>
          <a:xfrm>
            <a:off x="3566160" y="1856232"/>
            <a:ext cx="640080" cy="274320"/>
          </a:xfrm>
          <a:prstGeom prst="roundRect">
            <a:avLst>
              <a:gd name="adj" fmla="val 4333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100 %</a:t>
            </a:r>
            <a:endParaRPr lang="en-US" sz="1200" dirty="0"/>
          </a:p>
        </p:txBody>
      </p:sp>
      <p:sp>
        <p:nvSpPr>
          <p:cNvPr id="13" name="Rol detalle 206"/>
          <p:cNvSpPr txBox="1"/>
          <p:nvPr/>
        </p:nvSpPr>
        <p:spPr>
          <a:xfrm>
            <a:off x="3566160" y="2715768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Estructuración, integración y cruces de bases; identificación de anomalías; modelos de priorización y perfilamiento de riesgos.</a:t>
            </a:r>
            <a:endParaRPr lang="en-US" sz="1100" dirty="0"/>
          </a:p>
        </p:txBody>
      </p:sp>
      <p:sp>
        <p:nvSpPr>
          <p:cNvPr id="14" name="Rol Coordinador Jurídico y Contractual 207"/>
          <p:cNvSpPr/>
          <p:nvPr/>
        </p:nvSpPr>
        <p:spPr>
          <a:xfrm>
            <a:off x="6181344" y="1691640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Rol 208"/>
          <p:cNvSpPr txBox="1"/>
          <p:nvPr/>
        </p:nvSpPr>
        <p:spPr>
          <a:xfrm>
            <a:off x="6382512" y="21945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Coordinador Jurídico y Contractual</a:t>
            </a:r>
            <a:endParaRPr lang="en-US" sz="1300" dirty="0"/>
          </a:p>
        </p:txBody>
      </p:sp>
      <p:sp>
        <p:nvSpPr>
          <p:cNvPr id="16" name="Dedicación 209"/>
          <p:cNvSpPr/>
          <p:nvPr/>
        </p:nvSpPr>
        <p:spPr>
          <a:xfrm>
            <a:off x="6382512" y="1856232"/>
            <a:ext cx="640080" cy="274320"/>
          </a:xfrm>
          <a:prstGeom prst="roundRect">
            <a:avLst>
              <a:gd name="adj" fmla="val 4333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100 %</a:t>
            </a:r>
            <a:endParaRPr lang="en-US" sz="1200" dirty="0"/>
          </a:p>
        </p:txBody>
      </p:sp>
      <p:sp>
        <p:nvSpPr>
          <p:cNvPr id="17" name="Rol detalle 210"/>
          <p:cNvSpPr txBox="1"/>
          <p:nvPr/>
        </p:nvSpPr>
        <p:spPr>
          <a:xfrm>
            <a:off x="6382512" y="2715768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Revisión contractual y normativa; obligaciones e incumplimientos; partes relacionadas; conceptos jurídicos asociados a los hallazgos.</a:t>
            </a:r>
            <a:endParaRPr lang="en-US" sz="1100" dirty="0"/>
          </a:p>
        </p:txBody>
      </p:sp>
      <p:sp>
        <p:nvSpPr>
          <p:cNvPr id="18" name="Rol Investigadores (2 profesionales) 211"/>
          <p:cNvSpPr/>
          <p:nvPr/>
        </p:nvSpPr>
        <p:spPr>
          <a:xfrm>
            <a:off x="8997696" y="1691640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9" name="Rol 212"/>
          <p:cNvSpPr txBox="1"/>
          <p:nvPr/>
        </p:nvSpPr>
        <p:spPr>
          <a:xfrm>
            <a:off x="9198864" y="21945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Investigadores (2 profesionales)</a:t>
            </a:r>
            <a:endParaRPr lang="en-US" sz="1300" dirty="0"/>
          </a:p>
        </p:txBody>
      </p:sp>
      <p:sp>
        <p:nvSpPr>
          <p:cNvPr id="20" name="Dedicación 213"/>
          <p:cNvSpPr/>
          <p:nvPr/>
        </p:nvSpPr>
        <p:spPr>
          <a:xfrm>
            <a:off x="9198864" y="1856232"/>
            <a:ext cx="640080" cy="274320"/>
          </a:xfrm>
          <a:prstGeom prst="roundRect">
            <a:avLst>
              <a:gd name="adj" fmla="val 4333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100 %</a:t>
            </a:r>
            <a:endParaRPr lang="en-US" sz="1200" dirty="0"/>
          </a:p>
        </p:txBody>
      </p:sp>
      <p:sp>
        <p:nvSpPr>
          <p:cNvPr id="21" name="Rol detalle 214"/>
          <p:cNvSpPr txBox="1"/>
          <p:nvPr/>
        </p:nvSpPr>
        <p:spPr>
          <a:xfrm>
            <a:off x="9198864" y="2715768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Investigación documental, verificaciones, visitas y entrevistas; recolección de evidencia; análisis de terceros; apoyo en expedientes.</a:t>
            </a:r>
            <a:endParaRPr lang="en-US" sz="1100" dirty="0"/>
          </a:p>
        </p:txBody>
      </p:sp>
      <p:sp>
        <p:nvSpPr>
          <p:cNvPr id="22" name="Rol Auditor Financiero y Contable 215"/>
          <p:cNvSpPr/>
          <p:nvPr/>
        </p:nvSpPr>
        <p:spPr>
          <a:xfrm>
            <a:off x="548640" y="3630168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3" name="Rol 216"/>
          <p:cNvSpPr txBox="1"/>
          <p:nvPr/>
        </p:nvSpPr>
        <p:spPr>
          <a:xfrm>
            <a:off x="749808" y="413308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Auditor Financiero y Contable</a:t>
            </a:r>
            <a:endParaRPr lang="en-US" sz="1300" dirty="0"/>
          </a:p>
        </p:txBody>
      </p:sp>
      <p:sp>
        <p:nvSpPr>
          <p:cNvPr id="24" name="Dedicación 217"/>
          <p:cNvSpPr/>
          <p:nvPr/>
        </p:nvSpPr>
        <p:spPr>
          <a:xfrm>
            <a:off x="749808" y="3794760"/>
            <a:ext cx="640080" cy="274320"/>
          </a:xfrm>
          <a:prstGeom prst="roundRect">
            <a:avLst>
              <a:gd name="adj" fmla="val 43333"/>
            </a:avLst>
          </a:prstGeom>
          <a:solidFill>
            <a:srgbClr val="E3F6F7"/>
          </a:solidFill>
          <a:ln>
            <a:solidFill>
              <a:srgbClr val="E3F6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50 %</a:t>
            </a:r>
            <a:endParaRPr lang="en-US" sz="1200" dirty="0"/>
          </a:p>
        </p:txBody>
      </p:sp>
      <p:sp>
        <p:nvSpPr>
          <p:cNvPr id="25" name="Rol detalle 218"/>
          <p:cNvSpPr txBox="1"/>
          <p:nvPr/>
        </p:nvSpPr>
        <p:spPr>
          <a:xfrm>
            <a:off x="749808" y="4654296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Revisión contable, bancos, pagos, ingresos y gastos; conciliaciones y cuantificaciones.</a:t>
            </a:r>
            <a:endParaRPr lang="en-US" sz="1100" dirty="0"/>
          </a:p>
        </p:txBody>
      </p:sp>
      <p:sp>
        <p:nvSpPr>
          <p:cNvPr id="26" name="Rol Especialista Informático contable-forense 219"/>
          <p:cNvSpPr/>
          <p:nvPr/>
        </p:nvSpPr>
        <p:spPr>
          <a:xfrm>
            <a:off x="3364992" y="3630168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Rol 220"/>
          <p:cNvSpPr txBox="1"/>
          <p:nvPr/>
        </p:nvSpPr>
        <p:spPr>
          <a:xfrm>
            <a:off x="3566160" y="413308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Especialista Informático contable-forense</a:t>
            </a:r>
            <a:endParaRPr lang="en-US" sz="1300" dirty="0"/>
          </a:p>
        </p:txBody>
      </p:sp>
      <p:sp>
        <p:nvSpPr>
          <p:cNvPr id="28" name="Dedicación 221"/>
          <p:cNvSpPr/>
          <p:nvPr/>
        </p:nvSpPr>
        <p:spPr>
          <a:xfrm>
            <a:off x="3566160" y="3794760"/>
            <a:ext cx="640080" cy="274320"/>
          </a:xfrm>
          <a:prstGeom prst="roundRect">
            <a:avLst>
              <a:gd name="adj" fmla="val 43333"/>
            </a:avLst>
          </a:prstGeom>
          <a:solidFill>
            <a:srgbClr val="E3F6F7"/>
          </a:solidFill>
          <a:ln>
            <a:solidFill>
              <a:srgbClr val="E3F6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50 %</a:t>
            </a:r>
            <a:endParaRPr lang="en-US" sz="1200" dirty="0"/>
          </a:p>
        </p:txBody>
      </p:sp>
      <p:sp>
        <p:nvSpPr>
          <p:cNvPr id="29" name="Rol detalle 222"/>
          <p:cNvSpPr txBox="1"/>
          <p:nvPr/>
        </p:nvSpPr>
        <p:spPr>
          <a:xfrm>
            <a:off x="3566160" y="4654296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Información digital, integridad de datos, trazabilidad, custodia y evidencia digital; soporte tecnológico.</a:t>
            </a:r>
            <a:endParaRPr lang="en-US" sz="1100" dirty="0"/>
          </a:p>
        </p:txBody>
      </p:sp>
      <p:sp>
        <p:nvSpPr>
          <p:cNvPr id="30" name="Rol Especialista Legal 223"/>
          <p:cNvSpPr/>
          <p:nvPr/>
        </p:nvSpPr>
        <p:spPr>
          <a:xfrm>
            <a:off x="6181344" y="3630168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1" name="Rol 224"/>
          <p:cNvSpPr txBox="1"/>
          <p:nvPr/>
        </p:nvSpPr>
        <p:spPr>
          <a:xfrm>
            <a:off x="6382512" y="413308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Especialista Legal</a:t>
            </a:r>
            <a:endParaRPr lang="en-US" sz="1300" dirty="0"/>
          </a:p>
        </p:txBody>
      </p:sp>
      <p:sp>
        <p:nvSpPr>
          <p:cNvPr id="32" name="Dedicación 225"/>
          <p:cNvSpPr/>
          <p:nvPr/>
        </p:nvSpPr>
        <p:spPr>
          <a:xfrm>
            <a:off x="6382512" y="3794760"/>
            <a:ext cx="640080" cy="274320"/>
          </a:xfrm>
          <a:prstGeom prst="roundRect">
            <a:avLst>
              <a:gd name="adj" fmla="val 43333"/>
            </a:avLst>
          </a:prstGeom>
          <a:solidFill>
            <a:srgbClr val="E3F6F7"/>
          </a:solidFill>
          <a:ln>
            <a:solidFill>
              <a:srgbClr val="E3F6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50 %</a:t>
            </a:r>
            <a:endParaRPr lang="en-US" sz="1200" dirty="0"/>
          </a:p>
        </p:txBody>
      </p:sp>
      <p:sp>
        <p:nvSpPr>
          <p:cNvPr id="33" name="Rol detalle 226"/>
          <p:cNvSpPr txBox="1"/>
          <p:nvPr/>
        </p:nvSpPr>
        <p:spPr>
          <a:xfrm>
            <a:off x="6382512" y="4654296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Análisis jurídico de la evidencia, la contratación y las actuaciones; apoyo en expedientes.</a:t>
            </a:r>
            <a:endParaRPr lang="en-US" sz="1100" dirty="0"/>
          </a:p>
        </p:txBody>
      </p:sp>
      <p:sp>
        <p:nvSpPr>
          <p:cNvPr id="34" name="Resumen equipo 227"/>
          <p:cNvSpPr/>
          <p:nvPr/>
        </p:nvSpPr>
        <p:spPr>
          <a:xfrm>
            <a:off x="8997696" y="3630168"/>
            <a:ext cx="2633472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Equipo número 228"/>
          <p:cNvSpPr txBox="1"/>
          <p:nvPr/>
        </p:nvSpPr>
        <p:spPr>
          <a:xfrm>
            <a:off x="9198864" y="37673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DD1EB"/>
                </a:solidFill>
              </a:rPr>
              <a:t>8</a:t>
            </a:r>
            <a:endParaRPr lang="en-US" sz="4800" dirty="0"/>
          </a:p>
        </p:txBody>
      </p:sp>
      <p:sp>
        <p:nvSpPr>
          <p:cNvPr id="36" name="Equipo texto 229"/>
          <p:cNvSpPr txBox="1"/>
          <p:nvPr/>
        </p:nvSpPr>
        <p:spPr>
          <a:xfrm>
            <a:off x="9198864" y="45445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profesionales: 5 con dedicación del 100 % y 3 con dedicación del 50 %.</a:t>
            </a:r>
            <a:endParaRPr lang="en-US" sz="1200" dirty="0"/>
          </a:p>
        </p:txBody>
      </p:sp>
      <p:sp>
        <p:nvSpPr>
          <p:cNvPr id="37" name="Perfil director 230"/>
          <p:cNvSpPr txBox="1"/>
          <p:nvPr/>
        </p:nvSpPr>
        <p:spPr>
          <a:xfrm>
            <a:off x="548640" y="5577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</a:rPr>
              <a:t>Perfil del director: Contaduría Pública, Ingeniería de Sistemas, Estadística, Economía o afines, con posgrado y experiencia en auditoría, control, investigación forense y fraude.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06 · EQUIPO Y ASEGURAMIENTO DE CALIDAD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CONTROL DE CALIDAD Y CADENA DE CUSTODIA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Tres niveles de revisión y una evidencia identificada y trazable de principio a fin.</a:t>
            </a:r>
            <a:endParaRPr lang="en-US" sz="1500" dirty="0"/>
          </a:p>
        </p:txBody>
      </p:sp>
      <p:sp>
        <p:nvSpPr>
          <p:cNvPr id="5" name="Píldora 231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Calidad título 232"/>
          <p:cNvSpPr txBox="1"/>
          <p:nvPr/>
        </p:nvSpPr>
        <p:spPr>
          <a:xfrm>
            <a:off x="54864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SISTEMA DE CONTROL DE CALIDAD</a:t>
            </a:r>
            <a:endParaRPr lang="en-US" sz="1500" dirty="0"/>
          </a:p>
        </p:txBody>
      </p:sp>
      <p:sp>
        <p:nvSpPr>
          <p:cNvPr id="7" name="Nivel 1 · Equipo ejecutor 233"/>
          <p:cNvSpPr/>
          <p:nvPr/>
        </p:nvSpPr>
        <p:spPr>
          <a:xfrm>
            <a:off x="548640" y="2103120"/>
            <a:ext cx="5943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8" name="Número 234"/>
          <p:cNvSpPr/>
          <p:nvPr/>
        </p:nvSpPr>
        <p:spPr>
          <a:xfrm>
            <a:off x="731520" y="224028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Nivel título 235"/>
          <p:cNvSpPr txBox="1"/>
          <p:nvPr/>
        </p:nvSpPr>
        <p:spPr>
          <a:xfrm>
            <a:off x="1371600" y="2194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Nivel 1 · Equipo ejecutor</a:t>
            </a:r>
            <a:endParaRPr lang="en-US" sz="1400" dirty="0"/>
          </a:p>
        </p:txBody>
      </p:sp>
      <p:sp>
        <p:nvSpPr>
          <p:cNvPr id="10" name="Nivel detalle 236"/>
          <p:cNvSpPr txBox="1"/>
          <p:nvPr/>
        </p:nvSpPr>
        <p:spPr>
          <a:xfrm>
            <a:off x="1371600" y="2505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Validación de papeles de trabajo y evidencia.</a:t>
            </a:r>
            <a:endParaRPr lang="en-US" sz="1200" dirty="0"/>
          </a:p>
        </p:txBody>
      </p:sp>
      <p:sp>
        <p:nvSpPr>
          <p:cNvPr id="11" name="Nivel 2 · Líder de componente 237"/>
          <p:cNvSpPr/>
          <p:nvPr/>
        </p:nvSpPr>
        <p:spPr>
          <a:xfrm>
            <a:off x="548640" y="2971800"/>
            <a:ext cx="5943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Número 238"/>
          <p:cNvSpPr/>
          <p:nvPr/>
        </p:nvSpPr>
        <p:spPr>
          <a:xfrm>
            <a:off x="731520" y="310896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Nivel título 239"/>
          <p:cNvSpPr txBox="1"/>
          <p:nvPr/>
        </p:nvSpPr>
        <p:spPr>
          <a:xfrm>
            <a:off x="1371600" y="3063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Nivel 2 · Líder de componente</a:t>
            </a:r>
            <a:endParaRPr lang="en-US" sz="1400" dirty="0"/>
          </a:p>
        </p:txBody>
      </p:sp>
      <p:sp>
        <p:nvSpPr>
          <p:cNvPr id="14" name="Nivel detalle 240"/>
          <p:cNvSpPr txBox="1"/>
          <p:nvPr/>
        </p:nvSpPr>
        <p:spPr>
          <a:xfrm>
            <a:off x="1371600" y="3374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Revisión técnica de resultados.</a:t>
            </a:r>
            <a:endParaRPr lang="en-US" sz="1200" dirty="0"/>
          </a:p>
        </p:txBody>
      </p:sp>
      <p:sp>
        <p:nvSpPr>
          <p:cNvPr id="15" name="Nivel 3 · Dirección de consultoría 241"/>
          <p:cNvSpPr/>
          <p:nvPr/>
        </p:nvSpPr>
        <p:spPr>
          <a:xfrm>
            <a:off x="548640" y="3840480"/>
            <a:ext cx="5943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6" name="Número 242"/>
          <p:cNvSpPr/>
          <p:nvPr/>
        </p:nvSpPr>
        <p:spPr>
          <a:xfrm>
            <a:off x="731520" y="3977640"/>
            <a:ext cx="475488" cy="4754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Nivel título 243"/>
          <p:cNvSpPr txBox="1"/>
          <p:nvPr/>
        </p:nvSpPr>
        <p:spPr>
          <a:xfrm>
            <a:off x="1371600" y="3931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Nivel 3 · Dirección de consultoría</a:t>
            </a:r>
            <a:endParaRPr lang="en-US" sz="1400" dirty="0"/>
          </a:p>
        </p:txBody>
      </p:sp>
      <p:sp>
        <p:nvSpPr>
          <p:cNvPr id="18" name="Nivel detalle 244"/>
          <p:cNvSpPr txBox="1"/>
          <p:nvPr/>
        </p:nvSpPr>
        <p:spPr>
          <a:xfrm>
            <a:off x="1371600" y="4242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Revisión integral antes de comunicar resultados al MADR.</a:t>
            </a:r>
            <a:endParaRPr lang="en-US" sz="1200" dirty="0"/>
          </a:p>
        </p:txBody>
      </p:sp>
      <p:sp>
        <p:nvSpPr>
          <p:cNvPr id="19" name="Regla de calidad 245"/>
          <p:cNvSpPr/>
          <p:nvPr/>
        </p:nvSpPr>
        <p:spPr>
          <a:xfrm>
            <a:off x="548640" y="4754880"/>
            <a:ext cx="5943600" cy="658368"/>
          </a:xfrm>
          <a:prstGeom prst="roundRect">
            <a:avLst>
              <a:gd name="adj" fmla="val 16667"/>
            </a:avLst>
          </a:prstGeom>
          <a:solidFill>
            <a:srgbClr val="E3F6F7"/>
          </a:solidFill>
          <a:ln w="12700">
            <a:solidFill>
              <a:srgbClr val="E3F6F7"/>
            </a:solidFill>
            <a:prstDash val="solid"/>
          </a:ln>
        </p:spPr>
      </p:sp>
      <p:sp>
        <p:nvSpPr>
          <p:cNvPr id="20" name="Regla de calidad texto 246"/>
          <p:cNvSpPr txBox="1"/>
          <p:nvPr/>
        </p:nvSpPr>
        <p:spPr>
          <a:xfrm>
            <a:off x="777240" y="475488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Ningún hallazgo es definitivo sin verificar evidencia, criterio, trazabilidad, cuantificación, respuesta del administrador y análisis de contradicción.</a:t>
            </a:r>
            <a:endParaRPr lang="en-US" sz="1200" dirty="0"/>
          </a:p>
        </p:txBody>
      </p:sp>
      <p:sp>
        <p:nvSpPr>
          <p:cNvPr id="21" name="Cadena de custodia 247"/>
          <p:cNvSpPr/>
          <p:nvPr/>
        </p:nvSpPr>
        <p:spPr>
          <a:xfrm>
            <a:off x="6812280" y="1691640"/>
            <a:ext cx="4828032" cy="3721608"/>
          </a:xfrm>
          <a:prstGeom prst="roundRect">
            <a:avLst>
              <a:gd name="adj" fmla="val 29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Custodia título 248"/>
          <p:cNvSpPr txBox="1"/>
          <p:nvPr/>
        </p:nvSpPr>
        <p:spPr>
          <a:xfrm>
            <a:off x="7132320" y="1874520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DD1EB"/>
                </a:solidFill>
              </a:rPr>
              <a:t>CADENA DE CUSTODIA</a:t>
            </a:r>
            <a:endParaRPr lang="en-US" sz="1500" dirty="0"/>
          </a:p>
        </p:txBody>
      </p:sp>
      <p:sp>
        <p:nvSpPr>
          <p:cNvPr id="23" name="Custodia intro 249"/>
          <p:cNvSpPr txBox="1"/>
          <p:nvPr/>
        </p:nvSpPr>
        <p:spPr>
          <a:xfrm>
            <a:off x="7132320" y="22402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Cada evidencia relevante contará con:</a:t>
            </a:r>
            <a:endParaRPr lang="en-US" sz="1200" dirty="0"/>
          </a:p>
        </p:txBody>
      </p:sp>
      <p:sp>
        <p:nvSpPr>
          <p:cNvPr id="24" name="Custodia atributos 250"/>
          <p:cNvSpPr txBox="1"/>
          <p:nvPr/>
        </p:nvSpPr>
        <p:spPr>
          <a:xfrm>
            <a:off x="7132320" y="26974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Identificación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Fuente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Fecha de recepción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Responsable</a:t>
            </a:r>
            <a:endParaRPr lang="en-US" sz="1300" dirty="0"/>
          </a:p>
        </p:txBody>
      </p:sp>
      <p:sp>
        <p:nvSpPr>
          <p:cNvPr id="25" name="Custodia atributos 251"/>
          <p:cNvSpPr txBox="1"/>
          <p:nvPr/>
        </p:nvSpPr>
        <p:spPr>
          <a:xfrm>
            <a:off x="9372600" y="26974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Ubicación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Relación con el hallazgo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Registro de acceso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✓  Control de versiones</a:t>
            </a:r>
            <a:endParaRPr lang="en-US" sz="1300" dirty="0"/>
          </a:p>
        </p:txBody>
      </p:sp>
      <p:sp>
        <p:nvSpPr>
          <p:cNvPr id="26" name="Custodia nota 252"/>
          <p:cNvSpPr txBox="1"/>
          <p:nvPr/>
        </p:nvSpPr>
        <p:spPr>
          <a:xfrm>
            <a:off x="7132320" y="4572000"/>
            <a:ext cx="4279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La evidencia se organiza para asociarla directamente con el hallazgo o la situación que soporta.</a:t>
            </a:r>
            <a:endParaRPr lang="en-US" sz="1200" dirty="0"/>
          </a:p>
        </p:txBody>
      </p:sp>
      <p:sp>
        <p:nvSpPr>
          <p:cNvPr id="27" name="Mensaje clave 253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Mensaje clave texto 254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Resultados estructurados, trazables y técnicamente sustentados.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06 · EQUIPO Y ASEGURAMIENTO DE CALIDAD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VALOR AGREGADO DE LA PROPUESTA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Elementos que diferencian el servicio de una revisión financiera tradicional.</a:t>
            </a:r>
            <a:endParaRPr lang="en-US" sz="1500" dirty="0"/>
          </a:p>
        </p:txBody>
      </p:sp>
      <p:sp>
        <p:nvSpPr>
          <p:cNvPr id="5" name="Píldora 255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Valor Cobertura integral 256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úmero 257"/>
          <p:cNvSpPr/>
          <p:nvPr/>
        </p:nvSpPr>
        <p:spPr>
          <a:xfrm>
            <a:off x="777240" y="1920240"/>
            <a:ext cx="475488" cy="4754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Valor título 258"/>
          <p:cNvSpPr txBox="1"/>
          <p:nvPr/>
        </p:nvSpPr>
        <p:spPr>
          <a:xfrm>
            <a:off x="1417320" y="18928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Cobertura integral</a:t>
            </a:r>
            <a:endParaRPr lang="en-US" sz="1600" dirty="0"/>
          </a:p>
        </p:txBody>
      </p:sp>
      <p:sp>
        <p:nvSpPr>
          <p:cNvPr id="9" name="Valor detalle 259"/>
          <p:cNvSpPr txBox="1"/>
          <p:nvPr/>
        </p:nvSpPr>
        <p:spPr>
          <a:xfrm>
            <a:off x="777240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Finanzas + contabilidad + contratación + jurídica + analítica + investigación + evidencia.</a:t>
            </a:r>
            <a:endParaRPr lang="en-US" sz="1300" dirty="0"/>
          </a:p>
        </p:txBody>
      </p:sp>
      <p:sp>
        <p:nvSpPr>
          <p:cNvPr id="10" name="Valor Enfoque 100 % orientado a datos 260"/>
          <p:cNvSpPr/>
          <p:nvPr/>
        </p:nvSpPr>
        <p:spPr>
          <a:xfrm>
            <a:off x="4311396" y="16916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Número 261"/>
          <p:cNvSpPr/>
          <p:nvPr/>
        </p:nvSpPr>
        <p:spPr>
          <a:xfrm>
            <a:off x="4539996" y="192024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Valor título 262"/>
          <p:cNvSpPr txBox="1"/>
          <p:nvPr/>
        </p:nvSpPr>
        <p:spPr>
          <a:xfrm>
            <a:off x="5180076" y="18928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Enfoque 100 % orientado a datos</a:t>
            </a:r>
            <a:endParaRPr lang="en-US" sz="1600" dirty="0"/>
          </a:p>
        </p:txBody>
      </p:sp>
      <p:sp>
        <p:nvSpPr>
          <p:cNvPr id="13" name="Valor detalle 263"/>
          <p:cNvSpPr txBox="1"/>
          <p:nvPr/>
        </p:nvSpPr>
        <p:spPr>
          <a:xfrm>
            <a:off x="4539996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analítica procesa grandes volúmenes y detecta patrones que una revisión documental no mostraría.</a:t>
            </a:r>
            <a:endParaRPr lang="en-US" sz="1300" dirty="0"/>
          </a:p>
        </p:txBody>
      </p:sp>
      <p:sp>
        <p:nvSpPr>
          <p:cNvPr id="14" name="Valor Trazabilidad de hallazgos 264"/>
          <p:cNvSpPr/>
          <p:nvPr/>
        </p:nvSpPr>
        <p:spPr>
          <a:xfrm>
            <a:off x="8074152" y="16916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Número 265"/>
          <p:cNvSpPr/>
          <p:nvPr/>
        </p:nvSpPr>
        <p:spPr>
          <a:xfrm>
            <a:off x="8302752" y="192024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Valor título 266"/>
          <p:cNvSpPr txBox="1"/>
          <p:nvPr/>
        </p:nvSpPr>
        <p:spPr>
          <a:xfrm>
            <a:off x="8942832" y="18928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Trazabilidad de hallazgos</a:t>
            </a:r>
            <a:endParaRPr lang="en-US" sz="1600" dirty="0"/>
          </a:p>
        </p:txBody>
      </p:sp>
      <p:sp>
        <p:nvSpPr>
          <p:cNvPr id="17" name="Valor detalle 267"/>
          <p:cNvSpPr txBox="1"/>
          <p:nvPr/>
        </p:nvSpPr>
        <p:spPr>
          <a:xfrm>
            <a:off x="8302752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conclusión queda vinculada con la evidencia que la sustenta.</a:t>
            </a:r>
            <a:endParaRPr lang="en-US" sz="1300" dirty="0"/>
          </a:p>
        </p:txBody>
      </p:sp>
      <p:sp>
        <p:nvSpPr>
          <p:cNvPr id="18" name="Valor Cuantificación 268"/>
          <p:cNvSpPr/>
          <p:nvPr/>
        </p:nvSpPr>
        <p:spPr>
          <a:xfrm>
            <a:off x="548640" y="3611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9" name="Número 269"/>
          <p:cNvSpPr/>
          <p:nvPr/>
        </p:nvSpPr>
        <p:spPr>
          <a:xfrm>
            <a:off x="777240" y="384048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Valor título 270"/>
          <p:cNvSpPr txBox="1"/>
          <p:nvPr/>
        </p:nvSpPr>
        <p:spPr>
          <a:xfrm>
            <a:off x="1417320" y="3813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Cuantificación</a:t>
            </a:r>
            <a:endParaRPr lang="en-US" sz="1600" dirty="0"/>
          </a:p>
        </p:txBody>
      </p:sp>
      <p:sp>
        <p:nvSpPr>
          <p:cNvPr id="21" name="Valor detalle 271"/>
          <p:cNvSpPr txBox="1"/>
          <p:nvPr/>
        </p:nvSpPr>
        <p:spPr>
          <a:xfrm>
            <a:off x="777240" y="44805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Cuando la información lo permite, se cuantifica económicamente cada diferencia o desviación.</a:t>
            </a:r>
            <a:endParaRPr lang="en-US" sz="1300" dirty="0"/>
          </a:p>
        </p:txBody>
      </p:sp>
      <p:sp>
        <p:nvSpPr>
          <p:cNvPr id="22" name="Valor Visión preventiva y correctiva 272"/>
          <p:cNvSpPr/>
          <p:nvPr/>
        </p:nvSpPr>
        <p:spPr>
          <a:xfrm>
            <a:off x="4311396" y="3611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3" name="Número 273"/>
          <p:cNvSpPr/>
          <p:nvPr/>
        </p:nvSpPr>
        <p:spPr>
          <a:xfrm>
            <a:off x="4539996" y="384048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Valor título 274"/>
          <p:cNvSpPr txBox="1"/>
          <p:nvPr/>
        </p:nvSpPr>
        <p:spPr>
          <a:xfrm>
            <a:off x="5180076" y="3813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Visión preventiva y correctiva</a:t>
            </a:r>
            <a:endParaRPr lang="en-US" sz="1600" dirty="0"/>
          </a:p>
        </p:txBody>
      </p:sp>
      <p:sp>
        <p:nvSpPr>
          <p:cNvPr id="25" name="Valor detalle 275"/>
          <p:cNvSpPr txBox="1"/>
          <p:nvPr/>
        </p:nvSpPr>
        <p:spPr>
          <a:xfrm>
            <a:off x="4539996" y="44805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Recomendaciones para fortalecer los mecanismos de vigilancia administrativa.</a:t>
            </a:r>
            <a:endParaRPr lang="en-US" sz="1300" dirty="0"/>
          </a:p>
        </p:txBody>
      </p:sp>
      <p:sp>
        <p:nvSpPr>
          <p:cNvPr id="26" name="Valor Preparación para actuaciones 276"/>
          <p:cNvSpPr/>
          <p:nvPr/>
        </p:nvSpPr>
        <p:spPr>
          <a:xfrm>
            <a:off x="8074152" y="3611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Número 277"/>
          <p:cNvSpPr/>
          <p:nvPr/>
        </p:nvSpPr>
        <p:spPr>
          <a:xfrm>
            <a:off x="8302752" y="384048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Valor título 278"/>
          <p:cNvSpPr txBox="1"/>
          <p:nvPr/>
        </p:nvSpPr>
        <p:spPr>
          <a:xfrm>
            <a:off x="8942832" y="3813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Preparación para actuaciones</a:t>
            </a:r>
            <a:endParaRPr lang="en-US" sz="1600" dirty="0"/>
          </a:p>
        </p:txBody>
      </p:sp>
      <p:sp>
        <p:nvSpPr>
          <p:cNvPr id="29" name="Valor detalle 279"/>
          <p:cNvSpPr txBox="1"/>
          <p:nvPr/>
        </p:nvSpPr>
        <p:spPr>
          <a:xfrm>
            <a:off x="8302752" y="44805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Expedientes organizados que facilitan al MADR las actuaciones que considere procedentes.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7DD1EB"/>
                </a:solidFill>
              </a:rPr>
              <a:t>07</a:t>
            </a:r>
            <a:endParaRPr lang="en-US" sz="9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Valor de la propuesta</a:t>
            </a:r>
            <a:endParaRPr lang="en-US" sz="5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Valores en pesos colombianos · IVA del 19 %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07 · VALOR DE LA PROPUESTA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VALOR DE LA PROPUESTA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Incluye todos los recursos profesionales, técnicos, tecnológicos, logísticos y de campo necesarios.</a:t>
            </a:r>
            <a:endParaRPr lang="en-US" sz="1500" dirty="0"/>
          </a:p>
        </p:txBody>
      </p:sp>
      <p:sp>
        <p:nvSpPr>
          <p:cNvPr id="5" name="Píldora 280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graphicFrame>
        <p:nvGraphicFramePr>
          <p:cNvPr id="24" name="Tabla val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873752"/>
                <a:gridCol w="1920240"/>
                <a:gridCol w="173736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ENTREGABLE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VALOR ANTES DE IVA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IVA 19 %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VALOR TOTAL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Plan de Auditoría Detallado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$55.000.000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$10.450.000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$65.450.000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Informe preliminar – alertas cuantificadas y casos priorizados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$220.000.000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$41.800.000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$261.800.000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Informe final y expedientes de soporte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$275.000.000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$52.250.000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$327.250.000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TOTAL CONSULTORÍA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$550.000.000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$104.500.000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$654.500.000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Dictamen pericial – condicional (por dictamen)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$85.000.000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$16.150.000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$101.150.000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  <p:sp>
        <p:nvSpPr>
          <p:cNvPr id="7" name="VALOR BASE DE LA CONSULTORÍA 281"/>
          <p:cNvSpPr/>
          <p:nvPr/>
        </p:nvSpPr>
        <p:spPr>
          <a:xfrm>
            <a:off x="548640" y="4206240"/>
            <a:ext cx="3566160" cy="1481328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Valor etiqueta 282"/>
          <p:cNvSpPr txBox="1"/>
          <p:nvPr/>
        </p:nvSpPr>
        <p:spPr>
          <a:xfrm>
            <a:off x="77724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D1EB"/>
                </a:solidFill>
              </a:rPr>
              <a:t>VALOR BASE DE LA CONSULTORÍA</a:t>
            </a:r>
            <a:endParaRPr lang="en-US" sz="1200" dirty="0"/>
          </a:p>
        </p:txBody>
      </p:sp>
      <p:sp>
        <p:nvSpPr>
          <p:cNvPr id="9" name="Valor cifra 283"/>
          <p:cNvSpPr txBox="1"/>
          <p:nvPr/>
        </p:nvSpPr>
        <p:spPr>
          <a:xfrm>
            <a:off x="77724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$654.500.000</a:t>
            </a:r>
            <a:endParaRPr lang="en-US" sz="3000" dirty="0"/>
          </a:p>
        </p:txBody>
      </p:sp>
      <p:sp>
        <p:nvSpPr>
          <p:cNvPr id="10" name="Valor detalle 284"/>
          <p:cNvSpPr txBox="1"/>
          <p:nvPr/>
        </p:nvSpPr>
        <p:spPr>
          <a:xfrm>
            <a:off x="77724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IVA incluido · $550.000.000 antes de IVA</a:t>
            </a:r>
            <a:endParaRPr lang="en-US" sz="1100" dirty="0"/>
          </a:p>
        </p:txBody>
      </p:sp>
      <p:sp>
        <p:nvSpPr>
          <p:cNvPr id="11" name="DICTAMEN PERICIAL (CONDICIONAL) 285"/>
          <p:cNvSpPr/>
          <p:nvPr/>
        </p:nvSpPr>
        <p:spPr>
          <a:xfrm>
            <a:off x="4311396" y="4206240"/>
            <a:ext cx="3566160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Valor etiqueta 286"/>
          <p:cNvSpPr txBox="1"/>
          <p:nvPr/>
        </p:nvSpPr>
        <p:spPr>
          <a:xfrm>
            <a:off x="4539996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DICTAMEN PERICIAL (CONDICIONAL)</a:t>
            </a:r>
            <a:endParaRPr lang="en-US" sz="1200" dirty="0"/>
          </a:p>
        </p:txBody>
      </p:sp>
      <p:sp>
        <p:nvSpPr>
          <p:cNvPr id="13" name="Valor cifra 287"/>
          <p:cNvSpPr txBox="1"/>
          <p:nvPr/>
        </p:nvSpPr>
        <p:spPr>
          <a:xfrm>
            <a:off x="4539996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$101.150.000</a:t>
            </a:r>
            <a:endParaRPr lang="en-US" sz="3000" dirty="0"/>
          </a:p>
        </p:txBody>
      </p:sp>
      <p:sp>
        <p:nvSpPr>
          <p:cNvPr id="14" name="Valor detalle 288"/>
          <p:cNvSpPr txBox="1"/>
          <p:nvPr/>
        </p:nvSpPr>
        <p:spPr>
          <a:xfrm>
            <a:off x="4539996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</a:rPr>
              <a:t>Por dictamen, IVA incluido · solo con orden escrita del MADR</a:t>
            </a:r>
            <a:endParaRPr lang="en-US" sz="1100" dirty="0"/>
          </a:p>
        </p:txBody>
      </p:sp>
      <p:sp>
        <p:nvSpPr>
          <p:cNvPr id="15" name="VALOR MÁXIMO EVENTUAL 289"/>
          <p:cNvSpPr/>
          <p:nvPr/>
        </p:nvSpPr>
        <p:spPr>
          <a:xfrm>
            <a:off x="8074152" y="4206240"/>
            <a:ext cx="3566160" cy="1481328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6" name="Valor etiqueta 290"/>
          <p:cNvSpPr txBox="1"/>
          <p:nvPr/>
        </p:nvSpPr>
        <p:spPr>
          <a:xfrm>
            <a:off x="8302752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VALOR MÁXIMO EVENTUAL</a:t>
            </a:r>
            <a:endParaRPr lang="en-US" sz="1200" dirty="0"/>
          </a:p>
        </p:txBody>
      </p:sp>
      <p:sp>
        <p:nvSpPr>
          <p:cNvPr id="17" name="Valor cifra 291"/>
          <p:cNvSpPr txBox="1"/>
          <p:nvPr/>
        </p:nvSpPr>
        <p:spPr>
          <a:xfrm>
            <a:off x="8302752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$755.650.000</a:t>
            </a:r>
            <a:endParaRPr lang="en-US" sz="3000" dirty="0"/>
          </a:p>
        </p:txBody>
      </p:sp>
      <p:sp>
        <p:nvSpPr>
          <p:cNvPr id="18" name="Valor detalle 292"/>
          <p:cNvSpPr txBox="1"/>
          <p:nvPr/>
        </p:nvSpPr>
        <p:spPr>
          <a:xfrm>
            <a:off x="8302752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</a:rPr>
              <a:t>IVA incluido · consultoría más un dictamen pericial</a:t>
            </a:r>
            <a:endParaRPr lang="en-US" sz="1100" dirty="0"/>
          </a:p>
        </p:txBody>
      </p:sp>
      <p:sp>
        <p:nvSpPr>
          <p:cNvPr id="19" name="Nota formulario 293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</a:rPr>
              <a:t>Si el formulario solicita el valor total de la consultoría sin el componente condicional, el valor a registrar es $654.500.000 IVA incluido.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07 · VALOR DE LA PROPUESTA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FORMA DE PAGO Y CONDICIONES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2"/>
                </a:solidFill>
              </a:rPr>
              <a:t>El esquema económico base mantiene la lógica de pago definida por el MADR.</a:t>
            </a:r>
            <a:endParaRPr lang="en-US" sz="1500" dirty="0"/>
          </a:p>
        </p:txBody>
      </p:sp>
      <p:sp>
        <p:nvSpPr>
          <p:cNvPr id="5" name="Píldora 294"/>
          <p:cNvSpPr/>
          <p:nvPr/>
        </p:nvSpPr>
        <p:spPr>
          <a:xfrm>
            <a:off x="9692640" y="411480"/>
            <a:ext cx="1938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Propuesta · octubre 2026</a:t>
            </a:r>
            <a:endParaRPr lang="en-US" sz="1200" dirty="0"/>
          </a:p>
        </p:txBody>
      </p:sp>
      <p:sp>
        <p:nvSpPr>
          <p:cNvPr id="6" name="Pago 1 295"/>
          <p:cNvSpPr/>
          <p:nvPr/>
        </p:nvSpPr>
        <p:spPr>
          <a:xfrm>
            <a:off x="548640" y="169164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Pago porcentaje 296"/>
          <p:cNvSpPr txBox="1"/>
          <p:nvPr/>
        </p:nvSpPr>
        <p:spPr>
          <a:xfrm>
            <a:off x="777240" y="169164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10 %</a:t>
            </a:r>
            <a:endParaRPr lang="en-US" sz="3400" dirty="0"/>
          </a:p>
        </p:txBody>
      </p:sp>
      <p:sp>
        <p:nvSpPr>
          <p:cNvPr id="8" name="Pago detalle 297"/>
          <p:cNvSpPr txBox="1"/>
          <p:nvPr/>
        </p:nvSpPr>
        <p:spPr>
          <a:xfrm>
            <a:off x="2011680" y="16916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Primer pago · Entregable 1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$65.450.000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</a:rPr>
              <a:t>IVA incluido</a:t>
            </a:r>
            <a:endParaRPr lang="en-US" sz="1300" dirty="0"/>
          </a:p>
        </p:txBody>
      </p:sp>
      <p:sp>
        <p:nvSpPr>
          <p:cNvPr id="9" name="Pago 2 298"/>
          <p:cNvSpPr/>
          <p:nvPr/>
        </p:nvSpPr>
        <p:spPr>
          <a:xfrm>
            <a:off x="4311396" y="169164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0" name="Pago porcentaje 299"/>
          <p:cNvSpPr txBox="1"/>
          <p:nvPr/>
        </p:nvSpPr>
        <p:spPr>
          <a:xfrm>
            <a:off x="4539996" y="169164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40 %</a:t>
            </a:r>
            <a:endParaRPr lang="en-US" sz="3400" dirty="0"/>
          </a:p>
        </p:txBody>
      </p:sp>
      <p:sp>
        <p:nvSpPr>
          <p:cNvPr id="11" name="Pago detalle 300"/>
          <p:cNvSpPr txBox="1"/>
          <p:nvPr/>
        </p:nvSpPr>
        <p:spPr>
          <a:xfrm>
            <a:off x="5774436" y="16916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Segundo pago · Entregable 2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$261.800.000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572"/>
                </a:solidFill>
              </a:rPr>
              <a:t>IVA incluido</a:t>
            </a:r>
            <a:endParaRPr lang="en-US" sz="1300" dirty="0"/>
          </a:p>
        </p:txBody>
      </p:sp>
      <p:sp>
        <p:nvSpPr>
          <p:cNvPr id="12" name="Pago 3 301"/>
          <p:cNvSpPr/>
          <p:nvPr/>
        </p:nvSpPr>
        <p:spPr>
          <a:xfrm>
            <a:off x="8074152" y="169164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ago porcentaje 302"/>
          <p:cNvSpPr txBox="1"/>
          <p:nvPr/>
        </p:nvSpPr>
        <p:spPr>
          <a:xfrm>
            <a:off x="8302752" y="169164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DD1EB"/>
                </a:solidFill>
              </a:rPr>
              <a:t>50 %</a:t>
            </a:r>
            <a:endParaRPr lang="en-US" sz="3400" dirty="0"/>
          </a:p>
        </p:txBody>
      </p:sp>
      <p:sp>
        <p:nvSpPr>
          <p:cNvPr id="14" name="Pago detalle 303"/>
          <p:cNvSpPr txBox="1"/>
          <p:nvPr/>
        </p:nvSpPr>
        <p:spPr>
          <a:xfrm>
            <a:off x="9537192" y="16916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Tercer pago · Entregable 3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$327.250.000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IVA incluido</a:t>
            </a:r>
            <a:endParaRPr lang="en-US" sz="1300" dirty="0"/>
          </a:p>
        </p:txBody>
      </p:sp>
      <p:sp>
        <p:nvSpPr>
          <p:cNvPr id="15" name="GASTOS INCLUIDOS 304"/>
          <p:cNvSpPr/>
          <p:nvPr/>
        </p:nvSpPr>
        <p:spPr>
          <a:xfrm>
            <a:off x="548640" y="3017520"/>
            <a:ext cx="35661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6" name="Condición título 305"/>
          <p:cNvSpPr txBox="1"/>
          <p:nvPr/>
        </p:nvSpPr>
        <p:spPr>
          <a:xfrm>
            <a:off x="77724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GASTOS INCLUIDOS</a:t>
            </a:r>
            <a:endParaRPr lang="en-US" sz="1400" dirty="0"/>
          </a:p>
        </p:txBody>
      </p:sp>
      <p:sp>
        <p:nvSpPr>
          <p:cNvPr id="17" name="Condición detalle 306"/>
          <p:cNvSpPr txBox="1"/>
          <p:nvPr/>
        </p:nvSpPr>
        <p:spPr>
          <a:xfrm>
            <a:off x="777240" y="356616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Honorarios, personal técnico y analítica de datos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Herramientas tecnológicas, insumos y papeles de trabajo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Desplazamientos, viáticos y las 4 visitas regionales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Informes, presentación de resultados y custodia documental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Costos administrativos, impuestos, tasas y contribuciones</a:t>
            </a:r>
            <a:endParaRPr lang="en-US" sz="1100" dirty="0"/>
          </a:p>
        </p:txBody>
      </p:sp>
      <p:sp>
        <p:nvSpPr>
          <p:cNvPr id="18" name="SUPUESTOS PARA LA EJECUCIÓN 307"/>
          <p:cNvSpPr/>
          <p:nvPr/>
        </p:nvSpPr>
        <p:spPr>
          <a:xfrm>
            <a:off x="4311396" y="3017520"/>
            <a:ext cx="35661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9" name="Condición título 308"/>
          <p:cNvSpPr txBox="1"/>
          <p:nvPr/>
        </p:nvSpPr>
        <p:spPr>
          <a:xfrm>
            <a:off x="4539996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SUPUESTOS PARA LA EJECUCIÓN</a:t>
            </a:r>
            <a:endParaRPr lang="en-US" sz="1400" dirty="0"/>
          </a:p>
        </p:txBody>
      </p:sp>
      <p:sp>
        <p:nvSpPr>
          <p:cNvPr id="20" name="Condición detalle 309"/>
          <p:cNvSpPr txBox="1"/>
          <p:nvPr/>
        </p:nvSpPr>
        <p:spPr>
          <a:xfrm>
            <a:off x="4539996" y="356616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Entrega oportuna de la información por el MADR y el administrador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Formatos procesables y acceso a los documentos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Facilidades para las verificaciones requeridas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Visitas coordinadas con la supervisión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Pericial solo con orden escrita del MADR</a:t>
            </a:r>
            <a:endParaRPr lang="en-US" sz="1100" dirty="0"/>
          </a:p>
        </p:txBody>
      </p:sp>
      <p:sp>
        <p:nvSpPr>
          <p:cNvPr id="21" name="LIMITACIONES DEL SERVICIO 310"/>
          <p:cNvSpPr/>
          <p:nvPr/>
        </p:nvSpPr>
        <p:spPr>
          <a:xfrm>
            <a:off x="8074152" y="3017520"/>
            <a:ext cx="35661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Condición título 311"/>
          <p:cNvSpPr txBox="1"/>
          <p:nvPr/>
        </p:nvSpPr>
        <p:spPr>
          <a:xfrm>
            <a:off x="8302752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LIMITACIONES DEL SERVICIO</a:t>
            </a:r>
            <a:endParaRPr lang="en-US" sz="1400" dirty="0"/>
          </a:p>
        </p:txBody>
      </p:sp>
      <p:sp>
        <p:nvSpPr>
          <p:cNvPr id="23" name="Condición detalle 312"/>
          <p:cNvSpPr txBox="1"/>
          <p:nvPr/>
        </p:nvSpPr>
        <p:spPr>
          <a:xfrm>
            <a:off x="8302752" y="356616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Actuación dentro de las competencias del contratista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asume funciones de la Contraloría ni de autoridades disciplinarias o penales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La determinación de responsabilidades corresponde a las autoridades competentes</a:t>
            </a:r>
            <a:endParaRPr lang="en-US" sz="1100" dirty="0"/>
          </a:p>
        </p:txBody>
      </p:sp>
      <p:sp>
        <p:nvSpPr>
          <p:cNvPr id="24" name="Mensaje clave 313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Mensaje clave texto 314"/>
          <p:cNvSpPr txBox="1"/>
          <p:nvPr/>
        </p:nvSpPr>
        <p:spPr>
          <a:xfrm>
            <a:off x="82296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Vigencia de la propuesta: noventa (90) días calendario desde su presentación, salvo que el proceso establezca otro término.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erre título 315"/>
          <p:cNvSpPr txBox="1"/>
          <p:nvPr/>
        </p:nvSpPr>
        <p:spPr>
          <a:xfrm>
            <a:off x="822960" y="12801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¡Gracias!</a:t>
            </a:r>
            <a:endParaRPr lang="en-US" sz="8000" dirty="0"/>
          </a:p>
        </p:txBody>
      </p:sp>
      <p:sp>
        <p:nvSpPr>
          <p:cNvPr id="3" name="Cierre subtítulo 316"/>
          <p:cNvSpPr txBox="1"/>
          <p:nvPr/>
        </p:nvSpPr>
        <p:spPr>
          <a:xfrm>
            <a:off x="82296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D1EB"/>
                </a:solidFill>
              </a:rPr>
              <a:t>Un instrumento técnico, no solo un informe de auditoría</a:t>
            </a:r>
            <a:endParaRPr lang="en-US" sz="2600" dirty="0"/>
          </a:p>
        </p:txBody>
      </p:sp>
      <p:sp>
        <p:nvSpPr>
          <p:cNvPr id="4" name="Cierre texto 317"/>
          <p:cNvSpPr txBox="1"/>
          <p:nvPr/>
        </p:nvSpPr>
        <p:spPr>
          <a:xfrm>
            <a:off x="822960" y="31546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ACONTIS pone a disposición del Ministerio de Agricultura y Desarrollo Rural un equipo multidisciplinario para desarrollar una revisión integral, independiente y orientada a evidencia: comprender el comportamiento de los recursos, identificar situaciones relevantes, cuantificar sus efectos y fortalecer los mecanismos de vigilancia administrativa.</a:t>
            </a:r>
            <a:endParaRPr lang="en-US" sz="1700" dirty="0"/>
          </a:p>
        </p:txBody>
      </p:sp>
      <p:sp>
        <p:nvSpPr>
          <p:cNvPr id="5" name="Cierre firma 318"/>
          <p:cNvSpPr txBox="1"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1EB"/>
                </a:solidFill>
              </a:rPr>
              <a:t>ASESORÍAS CONTABLES DEL CARIBE S.A.S. – ACONTIS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ONTIS">
      <a:dk1>
        <a:srgbClr val="1A2233"/>
      </a:dk1>
      <a:lt1>
        <a:srgbClr val="FFFFFF"/>
      </a:lt1>
      <a:dk2>
        <a:srgbClr val="011E66"/>
      </a:dk2>
      <a:lt2>
        <a:srgbClr val="F3F7FB"/>
      </a:lt2>
      <a:accent1>
        <a:srgbClr val="011E66"/>
      </a:accent1>
      <a:accent2>
        <a:srgbClr val="00AFBC"/>
      </a:accent2>
      <a:accent3>
        <a:srgbClr val="50C1E4"/>
      </a:accent3>
      <a:accent4>
        <a:srgbClr val="056875"/>
      </a:accent4>
      <a:accent5>
        <a:srgbClr val="E8A13D"/>
      </a:accent5>
      <a:accent6>
        <a:srgbClr val="C4453B"/>
      </a:accent6>
      <a:hlink>
        <a:srgbClr val="00AFBC"/>
      </a:hlink>
      <a:folHlink>
        <a:srgbClr val="056875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Asesorías Contables del Caribe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comercial y económica · MADR · Fondo Nacional del Arroz</dc:title>
  <dc:subject>PptxGenJS Presentation</dc:subject>
  <dc:creator>ACONTIS</dc:creator>
  <cp:lastModifiedBy>ACONTIS</cp:lastModifiedBy>
  <cp:revision>1</cp:revision>
  <dcterms:created xsi:type="dcterms:W3CDTF">2026-10-07T18:42:19Z</dcterms:created>
  <dcterms:modified xsi:type="dcterms:W3CDTF">2026-10-07T18:42:19Z</dcterms:modified>
</cp:coreProperties>
</file>